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khitab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Reading: Khitab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القراءة: مسيرة وطن وحكمة قائد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الحصة الأولى — الجزء الأول من الخطاب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من خطاب صاحب السمو أمير البلاد في افتتاح دور الانعقاد السنوي 53 لمجلس الشورى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يتعرّفَ محطاتٍ من سيرة سمو الأمير ومناسبةَ هذا الخطاب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2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25" b="0">
                <a:solidFill>
                  <a:srgbClr val="333333"/>
                </a:solidFill>
                <a:latin typeface="Cairo"/>
                <a:cs typeface="Cairo"/>
              </a:rPr>
              <a:t> يقرأَ الجزءَ الأول من الخطاب قراءةً جهريةً صحيحةً ويضبطَ مفرداتِه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يحدّدَ المعنى العام والفكرةَ الرئيسة لكل فقرة من فقرتَي الجزء الأول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النصّ الذي يُلقيه قائدٌ أمام جمعٍ من الناس في مناسبة رسمية؟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سمتين تتوقّعهما في خطابٍ يلقيه أميرُ البلاد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الذي تتوقّع أن يتناوله خطابُ افتتاحِ دورِ انعقاد مجلس الشورى؟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25" b="1">
                <a:solidFill>
                  <a:srgbClr val="FFFFFF"/>
                </a:solidFill>
                <a:latin typeface="Cairo"/>
                <a:cs typeface="Cairo"/>
              </a:rPr>
              <a:t>من سيرة سمو الأمير (ص36)</a:t>
            </a:r>
          </a:p>
        </p:txBody>
      </p:sp>
      <p:pic>
        <p:nvPicPr>
          <p:cNvPr id="5" name="Picture 4" descr="si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186" y="628650"/>
            <a:ext cx="4807628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اقرأ السيرة قراءةً صامتةً خلال 3 دقائق، واستعدّ لبطاقة التعريف في الشريحة التالية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نشاط مستقل — بطاقة تعريف سمو الأمير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12" b="1">
                <a:solidFill>
                  <a:srgbClr val="335693"/>
                </a:solidFill>
                <a:latin typeface="Cairo"/>
                <a:cs typeface="Cairo"/>
              </a:rPr>
              <a:t>املأ البطاقة في دفترك (دقيقتان)، ثم قارن إجابتك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19750" y="1104900"/>
            <a:ext cx="2952750" cy="7429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0" y="1162050"/>
            <a:ext cx="27622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الميلاد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04900"/>
            <a:ext cx="49530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11620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81" b="0">
                <a:solidFill>
                  <a:srgbClr val="C00000"/>
                </a:solidFill>
                <a:latin typeface="Cairo"/>
                <a:cs typeface="Cairo"/>
              </a:rPr>
              <a:t>3 يونيو 1980م — مدينة الدوحة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19750" y="1962150"/>
            <a:ext cx="2952750" cy="7429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2019300"/>
            <a:ext cx="27622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التعليم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1962150"/>
            <a:ext cx="49530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6750" y="201930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481" b="0">
                <a:solidFill>
                  <a:srgbClr val="C00000"/>
                </a:solidFill>
                <a:latin typeface="Cairo"/>
                <a:cs typeface="Cairo"/>
              </a:rPr>
              <a:t>الثانوية عام 1997م، ثم تخرّج في أكاديمية ساند هيرست العسكرية الملكية عام 1998م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9750" y="2819400"/>
            <a:ext cx="2952750" cy="7429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876550"/>
            <a:ext cx="27622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أبرز المناصب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2819400"/>
            <a:ext cx="49530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287655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81" b="0">
                <a:solidFill>
                  <a:srgbClr val="C00000"/>
                </a:solidFill>
                <a:latin typeface="Cairo"/>
                <a:cs typeface="Cairo"/>
              </a:rPr>
              <a:t>نائب القائد العام للقوات المسلحة القطرية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9750" y="3676650"/>
            <a:ext cx="2952750" cy="7429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733800"/>
            <a:ext cx="276225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تولي الحكم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3676650"/>
            <a:ext cx="4953000" cy="7429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" y="3733800"/>
            <a:ext cx="47625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781" b="0">
                <a:solidFill>
                  <a:srgbClr val="C00000"/>
                </a:solidFill>
                <a:latin typeface="Cairo"/>
                <a:cs typeface="Cairo"/>
              </a:rPr>
              <a:t>25 يونيو 2013م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552950"/>
            <a:ext cx="8001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  <p:bldP spid="21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75" b="1">
                <a:solidFill>
                  <a:srgbClr val="FFFFFF"/>
                </a:solidFill>
                <a:latin typeface="Cairo"/>
                <a:cs typeface="Cairo"/>
              </a:rPr>
              <a:t>غلق الهدف (1) — من كتابك: الاستكشاف (ص39)</a:t>
            </a:r>
          </a:p>
        </p:txBody>
      </p:sp>
      <p:pic>
        <p:nvPicPr>
          <p:cNvPr id="5" name="Picture 4" descr="istish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615" y="666750"/>
            <a:ext cx="7502769" cy="381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2286000"/>
            <a:ext cx="33432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06" b="0">
                <a:solidFill>
                  <a:srgbClr val="335693"/>
                </a:solidFill>
                <a:latin typeface="Cairo"/>
                <a:cs typeface="Cairo"/>
              </a:rPr>
              <a:t>«مسيرة وطن وحكمة قائد» — حضرة صاحب السمو أمير البلاد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7775" y="2914650"/>
            <a:ext cx="30003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0">
                <a:solidFill>
                  <a:srgbClr val="335693"/>
                </a:solidFill>
                <a:latin typeface="Cairo"/>
                <a:cs typeface="Cairo"/>
              </a:rPr>
              <a:t>نصّ أدبيّ (خطاب رسمي)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533775"/>
            <a:ext cx="3000375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312" b="0">
                <a:solidFill>
                  <a:srgbClr val="335693"/>
                </a:solidFill>
                <a:latin typeface="Cairo"/>
                <a:cs typeface="Cairo"/>
              </a:rPr>
              <a:t>ولادة سموه 1980م — توليه الحكم 2013م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(دقيقتان)، ثم 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75" b="1">
                <a:solidFill>
                  <a:srgbClr val="FFFFFF"/>
                </a:solidFill>
                <a:latin typeface="Cairo"/>
                <a:cs typeface="Cairo"/>
              </a:rPr>
              <a:t>القراءة الجهرية — الجزء الأول (ص37)</a:t>
            </a:r>
          </a:p>
        </p:txBody>
      </p:sp>
      <p:pic>
        <p:nvPicPr>
          <p:cNvPr id="5" name="Picture 4" descr="juz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66" y="628650"/>
            <a:ext cx="5008367" cy="43053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10300" y="628650"/>
            <a:ext cx="2743200" cy="43053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24600" y="742950"/>
            <a:ext cx="2514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75" b="1">
                <a:solidFill>
                  <a:srgbClr val="335693"/>
                </a:solidFill>
                <a:latin typeface="Cairo"/>
                <a:cs typeface="Cairo"/>
              </a:rPr>
              <a:t>أقرأ الجزء الأول بنفسي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1181100"/>
            <a:ext cx="25146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أُنصت إلى نمذجة معلّمي لبداية النص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الأولى جهرًا مراعيًا الضبط والوقفات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أقرأ الفقرة الثانية بالطريقة نفسها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أستعين بهوامش الكتاب وحواشيه عند الكلمات الجديدة</a:t>
            </a:r>
          </a:p>
          <a:p>
            <a:pPr algn="r" rtl="1">
              <a:lnSpc>
                <a:spcPct val="150000"/>
              </a:lnSpc>
            </a:pPr>
            <a:r>
              <a:rPr sz="1281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281" b="0">
                <a:solidFill>
                  <a:srgbClr val="333333"/>
                </a:solidFill>
                <a:latin typeface="Cairo"/>
                <a:cs typeface="Cairo"/>
              </a:rPr>
              <a:t> إن صعُبت عليّ كلمة أهجّئها مقطعًا مقطعًا ثم أقرؤها كاملة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4095750"/>
            <a:ext cx="25146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7" b="1">
                <a:solidFill>
                  <a:srgbClr val="C00000"/>
                </a:solidFill>
                <a:latin typeface="Cairo"/>
                <a:cs typeface="Cairo"/>
              </a:rPr>
              <a:t>قاعدة الجماعة: الإنصات أولًا، ثم الكلّ يقرأ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نشاط مستقل (1) — المفردات الجديدة: صِلْ الكلمة بمعناها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325" b="1">
                <a:solidFill>
                  <a:srgbClr val="335693"/>
                </a:solidFill>
                <a:latin typeface="Cairo"/>
                <a:cs typeface="Cairo"/>
              </a:rPr>
              <a:t>اكتب في دفترك رقمَ الكلمة وحرفَ معناها الصحيح (3 دقائق)، مستعينًا بهامش الكتاب وحاشيته (ص37)، ثم صحّح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11049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1430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1- أُشيدُ بـ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1650" y="11049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0700" y="1143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11049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1430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43" b="1">
                <a:solidFill>
                  <a:srgbClr val="333333"/>
                </a:solidFill>
                <a:latin typeface="Cairo"/>
                <a:cs typeface="Cairo"/>
              </a:rPr>
              <a:t>أ-</a:t>
            </a:r>
            <a:r>
              <a:rPr sz="1343" b="0">
                <a:solidFill>
                  <a:srgbClr val="333333"/>
                </a:solidFill>
                <a:latin typeface="Cairo"/>
                <a:cs typeface="Cairo"/>
              </a:rPr>
              <a:t> استخدام أحدث التقنيات لتحويل المهام والخدمات إلى صورة رقمية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0" y="16954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7335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2- معايير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650" y="16954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00700" y="17335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16954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750" y="17335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ب-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مفردها معيار: مقاييسُ يُقاسُ بها للحكم والتقييم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22860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23241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3- التحوّل الرقمي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1650" y="22860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00700" y="23241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22860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6750" y="23241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ج-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الوضوح التامّ بلا إخفاءٍ ولا تستّر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0" y="28765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29146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4- مُماثِل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0" y="28765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00700" y="29146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8765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29146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د-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أُثني على الشيء وأمدَحُه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6000" y="346710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50520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5- التَّوطين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1650" y="346710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0700" y="35052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هـ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" y="346710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350520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هـ-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جعلُ الشيء محليًّا وطنيًّا في البلد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6000" y="4057650"/>
            <a:ext cx="247650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095750"/>
            <a:ext cx="2324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5693"/>
                </a:solidFill>
                <a:latin typeface="Cairo"/>
                <a:cs typeface="Cairo"/>
              </a:rPr>
              <a:t>6- الشَّفافية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1650" y="4057650"/>
            <a:ext cx="4572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3356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0700" y="40957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C00000"/>
                </a:solidFill>
                <a:latin typeface="Cairo"/>
                <a:cs typeface="Cairo"/>
              </a:rPr>
              <a:t>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" y="4057650"/>
            <a:ext cx="47625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4095750"/>
            <a:ext cx="45910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93" b="1">
                <a:solidFill>
                  <a:srgbClr val="333333"/>
                </a:solidFill>
                <a:latin typeface="Cairo"/>
                <a:cs typeface="Cairo"/>
              </a:rPr>
              <a:t>و-</a:t>
            </a:r>
            <a:r>
              <a:rPr sz="1593" b="0">
                <a:solidFill>
                  <a:srgbClr val="333333"/>
                </a:solidFill>
                <a:latin typeface="Cairo"/>
                <a:cs typeface="Cairo"/>
              </a:rPr>
              <a:t> مُشابِه — مُشاكِل — شبيه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" y="472440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1">
                <a:solidFill>
                  <a:srgbClr val="C00000"/>
                </a:solidFill>
                <a:latin typeface="Cairo"/>
                <a:cs typeface="Cairo"/>
              </a:rPr>
              <a:t>اضغط لإظهار الحرف الصحيح — وكافئ نفسك نقطةً عن كل توصيلة صحيحة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21" grpId="0"/>
      <p:bldP spid="27" grpId="0"/>
      <p:bldP spid="33" grpId="0"/>
      <p:bldP spid="39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نشاط مستقل (2) — كلمة وجمعها / كلمة ومضادها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أكمل الجدول في دفترك (3 دقائق) — كل الكلمات من نصّ الجزء الأول — ثم قارن إجابتك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62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0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وجمعها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53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خِبرة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2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9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خِبرات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53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مُبادرة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2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9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مُبادرات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3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مُخرَج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62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9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مُخرَجات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1047750"/>
            <a:ext cx="3810000" cy="41910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125" y="1066800"/>
            <a:ext cx="371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FFFFFF"/>
                </a:solidFill>
                <a:latin typeface="Cairo"/>
                <a:cs typeface="Cairo"/>
              </a:rPr>
              <a:t>كلمة ومضادّها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2250" y="1504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9875" y="1543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مُماثِل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1504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650" y="1543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مُخالِف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62250" y="20764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9875" y="21145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تَحسين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20764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650" y="21145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تَدْنٍ — تدهور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62250" y="2647950"/>
            <a:ext cx="1619250" cy="495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09875" y="2686050"/>
            <a:ext cx="1524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335693"/>
                </a:solidFill>
                <a:latin typeface="Cairo"/>
                <a:cs typeface="Cairo"/>
              </a:rPr>
              <a:t>الوضوح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" y="2647950"/>
            <a:ext cx="21336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650" y="2686050"/>
            <a:ext cx="20193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87" b="1">
                <a:solidFill>
                  <a:srgbClr val="C00000"/>
                </a:solidFill>
                <a:latin typeface="Cairo"/>
                <a:cs typeface="Cairo"/>
              </a:rPr>
              <a:t>الغموض — التستّر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33528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31" b="1">
                <a:solidFill>
                  <a:srgbClr val="333333"/>
                </a:solidFill>
                <a:latin typeface="Cairo"/>
                <a:cs typeface="Cairo"/>
              </a:rPr>
              <a:t>لتثبيت المفردة:</a:t>
            </a:r>
            <a:r>
              <a:rPr sz="1631" b="0">
                <a:solidFill>
                  <a:srgbClr val="333333"/>
                </a:solidFill>
                <a:latin typeface="Cairo"/>
                <a:cs typeface="Cairo"/>
              </a:rPr>
              <a:t> اختر كلمتين مما تعلّمتَه واكتب كلًّا منهما في جملةٍ من إنشائك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37719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5" grpId="0"/>
      <p:bldP spid="29" grpId="0"/>
      <p:bldP spid="33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يقرأَ الجزءَ الأول قراءةً جهريةً صحيحةً ويضبطَ مفرداتِه الجديدة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6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أكمل الجمل الآتية بالمفردة المناسبة (</a:t>
            </a:r>
            <a:r>
              <a:rPr sz="1368" b="0">
                <a:solidFill>
                  <a:srgbClr val="335693"/>
                </a:solidFill>
                <a:latin typeface="Cairo"/>
                <a:cs typeface="Cairo"/>
              </a:rPr>
              <a:t>أُشيدُ بـ / معايير / التحوّل الرقمي / مُماثِل / التوطين / الشفافية</a:t>
            </a: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):</a:t>
            </a:r>
          </a:p>
          <a:p>
            <a:pPr algn="r" rtl="1">
              <a:lnSpc>
                <a:spcPct val="145000"/>
              </a:lnSpc>
            </a:pP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١- ………………… جهودَ زميلي الذي حصد المركز الأول.</a:t>
            </a:r>
          </a:p>
          <a:p>
            <a:pPr algn="r" rtl="1">
              <a:lnSpc>
                <a:spcPct val="145000"/>
              </a:lnSpc>
            </a:pP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٢- نجاحُ العمل الجماعيّ يقوم على ………………… واضحةٍ ومحدَّدة.</a:t>
            </a:r>
          </a:p>
          <a:p>
            <a:pPr algn="r" rtl="1">
              <a:lnSpc>
                <a:spcPct val="145000"/>
              </a:lnSpc>
            </a:pP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٣- غيّر ………………… طريقةَ تعاملِنا مع البيانات والخدمات.</a:t>
            </a:r>
          </a:p>
          <a:p>
            <a:pPr algn="r" rtl="1">
              <a:lnSpc>
                <a:spcPct val="145000"/>
              </a:lnSpc>
            </a:pPr>
            <a:r>
              <a:rPr sz="1368" b="0">
                <a:solidFill>
                  <a:srgbClr val="333333"/>
                </a:solidFill>
                <a:latin typeface="Cairo"/>
                <a:cs typeface="Cairo"/>
              </a:rPr>
              <a:t>٤- لا يُقبَلُ في العمل الجادّ إلا أداءٌ ………………… للمعايير المعتمَدة.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75" b="1">
                <a:solidFill>
                  <a:srgbClr val="FFFFFF"/>
                </a:solidFill>
                <a:latin typeface="Cairo"/>
                <a:cs typeface="Cairo"/>
              </a:rPr>
              <a:t>سُلّم الصعود إلى الفكرة — الفقرة الأولى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أعد قراءة الفقرة الأولى، وأجب عن الدرجات الثلاث في دفترك (4 دقائق)، ثم اصعد إلى القمة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525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1: بمَ بدأ سمو الأمير خطابه؟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573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بالتهنئة بدور الانعقاد الجديد والإشادة بجهود المجلس السابقة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336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1812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2: لمن وُجّهت التهنئة والإشادة؟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479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26860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لأعضاء مجلس الشورى الموقَّر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1623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32099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3: في ماذا يعمل المجلس كما ورد؟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6766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7147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في كافة المجالات (تشريعية للدولة)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229100"/>
            <a:ext cx="7429500" cy="5905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125" y="42862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قمة السلّم: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اجمع إجاباتك الثلاث في جملة واحدة مرتّبة — </a:t>
            </a: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هذه هي فكرة الفقرة!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الموجّهة بعد محاولتك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سُلّم الصعود إلى الفكرة — الفقرة الثانية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أعد قراءة الفقرة الثانية، وأجب عن الدرجات الثلاث في دفترك (4 دقائق)، ثم اصعد إلى القمة بنفسك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049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375" y="11525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1: بأيّ جانب من جوانب عمل الدولة بدأت الفقرة؟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6192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6573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بالجانب الاقتصادي (الموازنة — دعم النموّ والتنمية الوطنية)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1336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" y="21812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2: اذكر ثلاثة ميادين للتنمية وردت في الفقرة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26479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26860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التحوّل الرقمي — تنمية رأس المال البشري — دعم القطاع الخاص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162300"/>
            <a:ext cx="8001000" cy="4762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" y="3209925"/>
            <a:ext cx="7715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الدرجة 3: بمَ خُتمت الفقرة؟ وما دلالة ذلك؟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3676650"/>
            <a:ext cx="8001000" cy="4381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4375" y="3714750"/>
            <a:ext cx="77152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37" b="0">
                <a:solidFill>
                  <a:srgbClr val="C00000"/>
                </a:solidFill>
                <a:latin typeface="Cairo"/>
                <a:cs typeface="Cairo"/>
              </a:rPr>
              <a:t>بالحِرص على الشأن العامّ — دلالته: الإنسان والمصلحة العامة غاية التنمية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229100"/>
            <a:ext cx="7429500" cy="59055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254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125" y="4286250"/>
            <a:ext cx="714375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قمة السلّم: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اجمع إجاباتك الثلاث في جملة واحدة مرتّبة — </a:t>
            </a: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هذه هي فكرة الفقرة!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الموجّهة بعد محاولتك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7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925" b="1">
                <a:solidFill>
                  <a:srgbClr val="FFFFFF"/>
                </a:solidFill>
                <a:latin typeface="Cairo"/>
                <a:cs typeface="Cairo"/>
              </a:rPr>
              <a:t>المعنى العام والفكرة الرئيسة — قارن إجابتك بالنموذج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25" b="1">
                <a:solidFill>
                  <a:srgbClr val="335693"/>
                </a:solidFill>
                <a:latin typeface="Cairo"/>
                <a:cs typeface="Cairo"/>
              </a:rPr>
              <a:t>اكتب في دفترك جملةَ الفكرة التي توصّلتَ إليها من السُّلّم، ثم قارنها بالنموذج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14300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الأولى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485900"/>
            <a:ext cx="8001000" cy="12573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4375" y="1543050"/>
            <a:ext cx="7715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المعنى العام: تهنئة سمو الأمير أعضاءَ المجلس بدور الانعقاد الجديد وإشادتُه بجهودهم.</a:t>
            </a:r>
          </a:p>
          <a:p>
            <a:pPr algn="r" rtl="1">
              <a:lnSpc>
                <a:spcPct val="140000"/>
              </a:lnSpc>
            </a:pPr>
            <a:r>
              <a:rPr sz="1775" b="0">
                <a:solidFill>
                  <a:srgbClr val="C00000"/>
                </a:solidFill>
                <a:latin typeface="Cairo"/>
                <a:cs typeface="Cairo"/>
              </a:rPr>
              <a:t>الفكرة الرئيسة: تقدير دور العمل التشريعي في خدمة الدولة في المجالات كافة.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857500"/>
            <a:ext cx="8001000" cy="323850"/>
          </a:xfrm>
          <a:prstGeom prst="roundRect">
            <a:avLst>
              <a:gd name="adj" fmla="val 8000"/>
            </a:avLst>
          </a:prstGeom>
          <a:solidFill>
            <a:srgbClr val="335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2876550"/>
            <a:ext cx="7810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25" b="1">
                <a:solidFill>
                  <a:srgbClr val="FFFFFF"/>
                </a:solidFill>
                <a:latin typeface="Cairo"/>
                <a:cs typeface="Cairo"/>
              </a:rPr>
              <a:t>الفقرة الثانية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3219450"/>
            <a:ext cx="8001000" cy="12573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270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4375" y="3276600"/>
            <a:ext cx="77152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25" b="0">
                <a:solidFill>
                  <a:srgbClr val="C00000"/>
                </a:solidFill>
                <a:latin typeface="Cairo"/>
                <a:cs typeface="Cairo"/>
              </a:rPr>
              <a:t>المعنى العام: حرص الدولة على التنمية الاقتصادية والبشرية ودعم القطاع الخاص.</a:t>
            </a:r>
          </a:p>
          <a:p>
            <a:pPr algn="r" rtl="1">
              <a:lnSpc>
                <a:spcPct val="140000"/>
              </a:lnSpc>
            </a:pPr>
            <a:r>
              <a:rPr sz="1825" b="0">
                <a:solidFill>
                  <a:srgbClr val="C00000"/>
                </a:solidFill>
                <a:latin typeface="Cairo"/>
                <a:cs typeface="Cairo"/>
              </a:rPr>
              <a:t>الفكرة الرئيسة: التنمية الشاملة (الاقتصاد — التحول الرقمي — الإنسان) أولويةُ الدولة.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24400"/>
            <a:ext cx="800100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50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25" b="1">
                <a:solidFill>
                  <a:srgbClr val="FFFFFF"/>
                </a:solidFill>
                <a:latin typeface="Cairo"/>
                <a:cs typeface="Cairo"/>
              </a:rPr>
              <a:t>غلق الهدف (3) — تدريب الكتاب: القراءة والاستيعاب (ص39)</a:t>
            </a:r>
          </a:p>
        </p:txBody>
      </p:sp>
      <p:pic>
        <p:nvPicPr>
          <p:cNvPr id="5" name="Picture 4" descr="kitab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170033"/>
            <a:ext cx="8191500" cy="28034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266950"/>
            <a:ext cx="30003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6" b="0">
                <a:solidFill>
                  <a:srgbClr val="335693"/>
                </a:solidFill>
                <a:latin typeface="Cairo"/>
                <a:cs typeface="Cairo"/>
              </a:rPr>
              <a:t>افتتاح دور الانعقاد السنوي الثالث والخمسين لمجلس الشورى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2628900"/>
            <a:ext cx="30003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06" b="0">
                <a:solidFill>
                  <a:srgbClr val="335693"/>
                </a:solidFill>
                <a:latin typeface="Cairo"/>
                <a:cs typeface="Cairo"/>
              </a:rPr>
              <a:t>إلى أعضاء مجلس الشورى، ومن خلالهم إلى الشعب القطري عامة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2981325"/>
            <a:ext cx="300037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906" b="0">
                <a:solidFill>
                  <a:srgbClr val="335693"/>
                </a:solidFill>
                <a:latin typeface="Cairo"/>
                <a:cs typeface="Cairo"/>
              </a:rPr>
              <a:t>بدأ بالتهنئة بدور الانعقاد الجديد والإشادة بجهود المجلس السابقة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أجب في دفترك أولًا (4 دقائق)، ثم اضغط لإظهار الإجابة النموذجية — يُناقش جماعيًّا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https://uw3vlhc2of5wm.kimi.pro/banks/g12-khitab-1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