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khitab-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Reading: Khitab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القراءة: مسيرة وطن وحكمة قائد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الثانية — الجزء الثاني من الخطاب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العلاقات الخارجية ومبادئ السياسة القطرية — الفقرتان (3، 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2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25" b="0">
                <a:solidFill>
                  <a:srgbClr val="333333"/>
                </a:solidFill>
                <a:latin typeface="Cairo"/>
                <a:cs typeface="Cairo"/>
              </a:rPr>
              <a:t> يقرأَ الجزءَ الثاني من الخطاب قراءةً جهريةً صحيحةً ويضبطَ مفرداتِه الجديدة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يحدّدَ المعنى العام والفكرةَ الرئيسة لكل فقرة من فقرتَي الجزء الثاني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يستخرجَ مبادئَ السياسة القطرية وثوابتَها كما وردت في الجزء الثاني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بمَ بدأ سمو الأمير خطابه في الجزء الأول؟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ميدانين من ميادين التنمية وردا في الجزء الأول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الغاية التي خُتمت بها الفقرة الثانية؟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75" b="1">
                <a:solidFill>
                  <a:srgbClr val="FFFFFF"/>
                </a:solidFill>
                <a:latin typeface="Cairo"/>
                <a:cs typeface="Cairo"/>
              </a:rPr>
              <a:t>القراءة الجهرية — الجزء الثاني (ص38)</a:t>
            </a:r>
          </a:p>
        </p:txBody>
      </p:sp>
      <p:pic>
        <p:nvPicPr>
          <p:cNvPr id="5" name="Picture 4" descr="juz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406" y="628650"/>
            <a:ext cx="3713687" cy="4305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0300" y="628650"/>
            <a:ext cx="2743200" cy="43053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254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600" y="742950"/>
            <a:ext cx="2514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75" b="1">
                <a:solidFill>
                  <a:srgbClr val="335693"/>
                </a:solidFill>
                <a:latin typeface="Cairo"/>
                <a:cs typeface="Cairo"/>
              </a:rPr>
              <a:t>أقرأ الجزء الثاني بنفسي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1181100"/>
            <a:ext cx="25146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أُنصت إلى نمذجة معلّمي لبداية الجزء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أقرأ الفقرة (3) جهرًا مراعيًا الضبط والوقفات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أقرأ الفقرة (4) بالطريقة نفسها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أستعين بهوامش الكتاب عند الكلمات الجديدة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٥-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إن صعُبت عليّ كلمة أهجّئها مقطعًا مقطعًا ثم أقرؤها كاملة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4095750"/>
            <a:ext cx="2514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37" b="1">
                <a:solidFill>
                  <a:srgbClr val="C00000"/>
                </a:solidFill>
                <a:latin typeface="Cairo"/>
                <a:cs typeface="Cairo"/>
              </a:rPr>
              <a:t>قاعدة الجماعة: الإنصات أولًا، ثم الكلّ يقرأ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نشاط مستقل (1) — المفردات الجديدة: صِلْ الكلمة بمعناها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75" b="1">
                <a:solidFill>
                  <a:srgbClr val="335693"/>
                </a:solidFill>
                <a:latin typeface="Cairo"/>
                <a:cs typeface="Cairo"/>
              </a:rPr>
              <a:t>اكتب في دفترك رقمَ الكلمة وحرفَ معناها الصحيح (3 دقائق)، مستعينًا بهامش الكتاب (ص38)، ثم صحّح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1049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1- تَفي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1650" y="11049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00700" y="1143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1049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1430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أ-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نقوم ونهض بها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0" y="169545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73355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2- نَضطلِع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1650" y="169545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0700" y="17335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69545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50" y="173355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ب-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جمع سَلَف، وهم الآباء والأجداد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0" y="22860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3241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3- أسْلاف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1650" y="22860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0700" y="23241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22860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50" y="23241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ج-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تؤدّي وتنجز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0" y="287655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91465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4- المُسوَدّة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81650" y="287655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0700" y="29146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287655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291465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د-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المسودّة: أول ما يُكتب قبل التنقيح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34671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5052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5- الدُّستور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81650" y="34671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00700" y="35052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هـ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34671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750" y="35052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هـ-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القانون الأساس الأعلى للدولة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0" y="405765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09575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6- تَرى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81650" y="405765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0700" y="40957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405765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50" y="409575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و-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تظنّ وتعتقد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47244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00" b="1">
                <a:solidFill>
                  <a:srgbClr val="C00000"/>
                </a:solidFill>
                <a:latin typeface="Cairo"/>
                <a:cs typeface="Cairo"/>
              </a:rPr>
              <a:t>اضغط لإظهار الحرف الصحيح — وكافئ نفسك نقطةً عن كل توصيلة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  <p:bldP spid="27" grpId="0"/>
      <p:bldP spid="33" grpId="0"/>
      <p:bldP spid="39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نشاط مستقل (2) — كلمة وجمعها / كلمة ومضادها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335693"/>
                </a:solidFill>
                <a:latin typeface="Cairo"/>
                <a:cs typeface="Cairo"/>
              </a:rPr>
              <a:t>أكمل الجدول في دفترك (3 دقائق) — كل الكلمات من الجزء الثاني — ثم قارن إجابتك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62500" y="1047750"/>
            <a:ext cx="3810000" cy="41910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0125" y="1066800"/>
            <a:ext cx="371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FFFFFF"/>
                </a:solidFill>
                <a:latin typeface="Cairo"/>
                <a:cs typeface="Cairo"/>
              </a:rPr>
              <a:t>كلمة وجمعها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0" y="1504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875" y="1543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علاقة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2500" y="1504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9650" y="1543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علاقات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53250" y="20764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875" y="21145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دولة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2500" y="20764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9650" y="21145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دُوَل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53250" y="2647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875" y="2686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تحدٍّ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2500" y="2647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9650" y="2686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تحدّيات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1047750"/>
            <a:ext cx="3810000" cy="41910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" y="1066800"/>
            <a:ext cx="371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FFFFFF"/>
                </a:solidFill>
                <a:latin typeface="Cairo"/>
                <a:cs typeface="Cairo"/>
              </a:rPr>
              <a:t>كلمة ومضادّها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62250" y="1504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9875" y="1543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التعاون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1504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50" y="1543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87" b="1">
                <a:solidFill>
                  <a:srgbClr val="C00000"/>
                </a:solidFill>
                <a:latin typeface="Cairo"/>
                <a:cs typeface="Cairo"/>
              </a:rPr>
              <a:t>العداء — التقاطع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62250" y="20764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09875" y="21145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الوحدة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20764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650" y="21145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87" b="1">
                <a:solidFill>
                  <a:srgbClr val="C00000"/>
                </a:solidFill>
                <a:latin typeface="Cairo"/>
                <a:cs typeface="Cairo"/>
              </a:rPr>
              <a:t>الفرقة — التمزّق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62250" y="2647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09875" y="2686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البناء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" y="2647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650" y="2686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87" b="1">
                <a:solidFill>
                  <a:srgbClr val="C00000"/>
                </a:solidFill>
                <a:latin typeface="Cairo"/>
                <a:cs typeface="Cairo"/>
              </a:rPr>
              <a:t>الهدم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33528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31" b="1">
                <a:solidFill>
                  <a:srgbClr val="333333"/>
                </a:solidFill>
                <a:latin typeface="Cairo"/>
                <a:cs typeface="Cairo"/>
              </a:rPr>
              <a:t>لتثبيت المفردة:</a:t>
            </a:r>
            <a:r>
              <a:rPr sz="1631" b="0">
                <a:solidFill>
                  <a:srgbClr val="333333"/>
                </a:solidFill>
                <a:latin typeface="Cairo"/>
                <a:cs typeface="Cairo"/>
              </a:rPr>
              <a:t> اختر كلمتين مما تعلّمتَه واكتب كلًّا منهما في جملةٍ من إنشائك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37719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5" grpId="0"/>
      <p:bldP spid="29" grpId="0"/>
      <p:bldP spid="33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يقرأَ الجزءَ الثاني قراءةً جهريةً صحيحةً ويضبطَ مفرداتِه الجديدة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1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أكمل الجمل الآتية بالمفردة المناسبة (</a:t>
            </a:r>
            <a:r>
              <a:rPr sz="1518" b="0">
                <a:solidFill>
                  <a:srgbClr val="335693"/>
                </a:solidFill>
                <a:latin typeface="Cairo"/>
                <a:cs typeface="Cairo"/>
              </a:rPr>
              <a:t>تَفي / يَضطلِع / أسْلاف / المسوَّدة / الدستور / ترى</a:t>
            </a: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):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١- ………………… الدولةُ بدورها في خدمة مواطنيها.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٢- نعتزّ بما بناه ………………… من مجدٍ وحضارة.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٣- ………………… هو القانون الأسمى الذي تُقاس عليه التشريعات.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٤- ………………… أنّ الحوارَ خيرُ سبيلٍ لحلّ الخلافات؟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غلق الهدف (1) — تدريب الكتاب: لغة النص (2) المعجم ص40</a:t>
            </a:r>
          </a:p>
        </p:txBody>
      </p:sp>
      <p:pic>
        <p:nvPicPr>
          <p:cNvPr id="5" name="Picture 4" descr="lugh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793962"/>
            <a:ext cx="8191500" cy="3555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6825" y="3086100"/>
            <a:ext cx="40290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6" b="0">
                <a:solidFill>
                  <a:srgbClr val="335693"/>
                </a:solidFill>
                <a:latin typeface="Cairo"/>
                <a:cs typeface="Cairo"/>
              </a:rPr>
              <a:t>الوضوح والجلاء وعدم الغموض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6825" y="3476625"/>
            <a:ext cx="40290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6" b="0">
                <a:solidFill>
                  <a:srgbClr val="335693"/>
                </a:solidFill>
                <a:latin typeface="Cairo"/>
                <a:cs typeface="Cairo"/>
              </a:rPr>
              <a:t>الطريق الواضح والمنهج والأسلوب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6825" y="3857625"/>
            <a:ext cx="40290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6" b="0">
                <a:solidFill>
                  <a:srgbClr val="335693"/>
                </a:solidFill>
                <a:latin typeface="Cairo"/>
                <a:cs typeface="Cairo"/>
              </a:rPr>
              <a:t>الدفاع عن الشيء ومنعه (الذَّوْد)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(3 دقائق) مستعينًا بالمعجم، ثم 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غلق الهدف (1) — تدريب الكتاب: لغة النص (3) السياق ص40</a:t>
            </a:r>
          </a:p>
        </p:txBody>
      </p:sp>
      <p:pic>
        <p:nvPicPr>
          <p:cNvPr id="5" name="Picture 4" descr="lugh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570423"/>
            <a:ext cx="8191500" cy="2002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14475" y="2381250"/>
            <a:ext cx="180022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62" b="0">
                <a:solidFill>
                  <a:srgbClr val="335693"/>
                </a:solidFill>
                <a:latin typeface="Cairo"/>
                <a:cs typeface="Cairo"/>
              </a:rPr>
              <a:t>يحقّق ويأتي بها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4475" y="2743200"/>
            <a:ext cx="180022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62" b="0">
                <a:solidFill>
                  <a:srgbClr val="335693"/>
                </a:solidFill>
                <a:latin typeface="Cairo"/>
                <a:cs typeface="Cairo"/>
              </a:rPr>
              <a:t>مساندته وتقويته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4475" y="3105150"/>
            <a:ext cx="180022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62" b="0">
                <a:solidFill>
                  <a:srgbClr val="335693"/>
                </a:solidFill>
                <a:latin typeface="Cairo"/>
                <a:cs typeface="Cairo"/>
              </a:rPr>
              <a:t>الرشاد والتوفيق والصواب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(3 دقائق)، ثم 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75" b="1">
                <a:solidFill>
                  <a:srgbClr val="FFFFFF"/>
                </a:solidFill>
                <a:latin typeface="Cairo"/>
                <a:cs typeface="Cairo"/>
              </a:rPr>
              <a:t>سُلّم الصعود إلى الفكرة — الفقرة 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75" b="1">
                <a:solidFill>
                  <a:srgbClr val="335693"/>
                </a:solidFill>
                <a:latin typeface="Cairo"/>
                <a:cs typeface="Cairo"/>
              </a:rPr>
              <a:t>أعد قراءة الفقرة (3)، وأجب عن الدرجات الثلاث في دفترك (4 دقائق)، ثم اصعد إلى القمة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049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4375" y="11525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1: بمَ اهتمّت قطر في علاقاتها كما بدأت الفقرة؟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6192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6573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بالعلاقات مع الأشقّاء في الخليج ودفع مسيرة التعاون الخليجي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1336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" y="21812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2: على ماذا قامت السياسة الخارجية؟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6479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" y="26860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على ثوابت أساسية ومبادئ مستقرّة (الانتماء الإسلامي والعربي والخليجي)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1623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375" y="32099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3: ما موقف قطر من المنازعات الدولية؟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6766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375" y="37147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تدعم الحلول السياسية التوافقية وتسويتها بالطرق السلمية والوساطة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229100"/>
            <a:ext cx="7429500" cy="59055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254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125" y="4286250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3333"/>
                </a:solidFill>
                <a:latin typeface="Cairo"/>
                <a:cs typeface="Cairo"/>
              </a:rPr>
              <a:t>قمة السلّم:</a:t>
            </a:r>
            <a:r>
              <a:rPr sz="1775" b="0">
                <a:solidFill>
                  <a:srgbClr val="333333"/>
                </a:solidFill>
                <a:latin typeface="Cairo"/>
                <a:cs typeface="Cairo"/>
              </a:rPr>
              <a:t> اجمع إجاباتك الثلاث في جملة واحدة مرتّبة — </a:t>
            </a:r>
            <a:r>
              <a:rPr sz="1775" b="0">
                <a:solidFill>
                  <a:srgbClr val="C00000"/>
                </a:solidFill>
                <a:latin typeface="Cairo"/>
                <a:cs typeface="Cairo"/>
              </a:rPr>
              <a:t>هذه هي فكرة الفقرة!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الموجّهة بعد محاولتك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75" b="1">
                <a:solidFill>
                  <a:srgbClr val="FFFFFF"/>
                </a:solidFill>
                <a:latin typeface="Cairo"/>
                <a:cs typeface="Cairo"/>
              </a:rPr>
              <a:t>سُلّم الصعود إلى الفكرة — الفقرة (4)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75" b="1">
                <a:solidFill>
                  <a:srgbClr val="335693"/>
                </a:solidFill>
                <a:latin typeface="Cairo"/>
                <a:cs typeface="Cairo"/>
              </a:rPr>
              <a:t>أعد قراءة الفقرة (4)، وأجب عن الدرجات الثلاث في دفترك (4 دقائق)، ثم اصعد إلى القمة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049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4375" y="11525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1: ما السبيل إلى التطوّر وتحقيق مصالح الشعوب؟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6192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6573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التغيير المدروس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1336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" y="21812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2: ما أساس الدولة الحديثة كما ورد؟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6479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" y="26860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الدستور الدائم والقانون — المساواة أمام القانون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1623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375" y="32099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3: ما مصدر قوّة الوطن كما خُتمت الفقرة؟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6766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375" y="37147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الوحدة والتماسك في مواجهة التحديات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229100"/>
            <a:ext cx="7429500" cy="59055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254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125" y="4286250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3333"/>
                </a:solidFill>
                <a:latin typeface="Cairo"/>
                <a:cs typeface="Cairo"/>
              </a:rPr>
              <a:t>قمة السلّم:</a:t>
            </a:r>
            <a:r>
              <a:rPr sz="1775" b="0">
                <a:solidFill>
                  <a:srgbClr val="333333"/>
                </a:solidFill>
                <a:latin typeface="Cairo"/>
                <a:cs typeface="Cairo"/>
              </a:rPr>
              <a:t> اجمع إجاباتك الثلاث في جملة واحدة مرتّبة — </a:t>
            </a:r>
            <a:r>
              <a:rPr sz="1775" b="0">
                <a:solidFill>
                  <a:srgbClr val="C00000"/>
                </a:solidFill>
                <a:latin typeface="Cairo"/>
                <a:cs typeface="Cairo"/>
              </a:rPr>
              <a:t>هذه هي فكرة الفقرة!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الموجّهة بعد محاولتك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غلق الهدف (2) — المعنى العام والفكرة الرئيسة: قارن إجابتك بالنموذج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335693"/>
                </a:solidFill>
                <a:latin typeface="Cairo"/>
                <a:cs typeface="Cairo"/>
              </a:rPr>
              <a:t>اكتب في دفترك جملةَ الفكرة التي توصّلتَ إليها من السُّلّم، ثم قارنها بالنموذج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32385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114300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الفقرة (3)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485900"/>
            <a:ext cx="8001000" cy="12573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543050"/>
            <a:ext cx="77152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75" b="0">
                <a:solidFill>
                  <a:srgbClr val="C00000"/>
                </a:solidFill>
                <a:latin typeface="Cairo"/>
                <a:cs typeface="Cairo"/>
              </a:rPr>
              <a:t>المعنى العام: حرص قطر على العلاقات الخليجية والعربية وثوابت سياستها الخارجية.</a:t>
            </a:r>
          </a:p>
          <a:p>
            <a:pPr algn="r" rtl="1">
              <a:lnSpc>
                <a:spcPct val="140000"/>
              </a:lnSpc>
            </a:pPr>
            <a:r>
              <a:rPr sz="1875" b="0">
                <a:solidFill>
                  <a:srgbClr val="C00000"/>
                </a:solidFill>
                <a:latin typeface="Cairo"/>
                <a:cs typeface="Cairo"/>
              </a:rPr>
              <a:t>الفكرة الرئيسة: السياسة القطرية تقوم على مبادئ ثابتة وتسوية المنازعات سلميًّا.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857500"/>
            <a:ext cx="8001000" cy="32385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287655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الفقرة (4)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219450"/>
            <a:ext cx="8001000" cy="12573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" y="3276600"/>
            <a:ext cx="77152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75" b="0">
                <a:solidFill>
                  <a:srgbClr val="C00000"/>
                </a:solidFill>
                <a:latin typeface="Cairo"/>
                <a:cs typeface="Cairo"/>
              </a:rPr>
              <a:t>المعنى العام: التغيير المدروس وسيادة الدستور والقانون أساس الدولة الحديثة.</a:t>
            </a:r>
          </a:p>
          <a:p>
            <a:pPr algn="r" rtl="1">
              <a:lnSpc>
                <a:spcPct val="140000"/>
              </a:lnSpc>
            </a:pPr>
            <a:r>
              <a:rPr sz="1875" b="0">
                <a:solidFill>
                  <a:srgbClr val="C00000"/>
                </a:solidFill>
                <a:latin typeface="Cairo"/>
                <a:cs typeface="Cairo"/>
              </a:rPr>
              <a:t>الفكرة الرئيسة: الوحدة والتماسك مصدر قوّة الوطن في مواجهة التحديات.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244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غلق الهدف (3) — تدريب الكتاب: مبادئ السياسة الخارجية (ص42)</a:t>
            </a:r>
          </a:p>
        </p:txBody>
      </p:sp>
      <p:pic>
        <p:nvPicPr>
          <p:cNvPr id="5" name="Picture 4" descr="mabad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70688"/>
            <a:ext cx="8191500" cy="16021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8725" y="2219325"/>
            <a:ext cx="59340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6" b="0">
                <a:solidFill>
                  <a:srgbClr val="335693"/>
                </a:solidFill>
                <a:latin typeface="Cairo"/>
                <a:cs typeface="Cairo"/>
              </a:rPr>
              <a:t>الانتماء الإسلامي والعربي والخليجي، والتضامن مع قضايا الأمتين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8725" y="2743200"/>
            <a:ext cx="59340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6" b="0">
                <a:solidFill>
                  <a:srgbClr val="335693"/>
                </a:solidFill>
                <a:latin typeface="Cairo"/>
                <a:cs typeface="Cairo"/>
              </a:rPr>
              <a:t>تسوية المنازعات بالطرق السلمية والحلول السياسية التوافقية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725" y="3200400"/>
            <a:ext cx="5934075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56" b="0">
                <a:solidFill>
                  <a:srgbClr val="335693"/>
                </a:solidFill>
                <a:latin typeface="Cairo"/>
                <a:cs typeface="Cairo"/>
              </a:rPr>
              <a:t>الموازنة بين القيم والمبادئ والمصالح (الواقعية السياسية)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أولًا، ثم اضغط لإظهار الإجابة النموذجية — يُناقش جماعيًّا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https://uw3vlhc2of5wm.kimi.pro/banks/g12-khitab-2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