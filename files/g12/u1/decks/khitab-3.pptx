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khitab-3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Reading: Khitab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القراءة: مسيرة وطن وحكمة قائد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الثالثة — الجزء الثالث من الخطاب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خاتمة الخطاب (الفقرة 5) + الفهم والتحليل والتذوق — ص38، 41-43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يقرأَ الجزءَ الثالث من الخطاب قراءةً جهريةً معبِّرةً ويضبطَ مفرداتِه الجديدة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يحدّدَ المعنى العام والفكرةَ الرئيسة للفقرة الخامسة ومحاورَ الخطاب كاملةً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625" b="0">
                <a:solidFill>
                  <a:srgbClr val="333333"/>
                </a:solidFill>
                <a:latin typeface="Cairo"/>
                <a:cs typeface="Cairo"/>
              </a:rPr>
              <a:t> يحلّلَ الخطابَ مستخرجًا دلالاتِه وسماتِ الشخصية القيادية وخصائصَه البنائية والأسلوبية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على ماذا قامت السياسة الخارجية القطرية كما في الفقرة (3)؟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أساس الدولة الحديثة كما ورد في الفقرة (4)؟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مبدأين من مبادئ السياسة الخارجية لدولة قطر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القراءة الجهرية المعبِّرة — الجزء الثالث (ص38)</a:t>
            </a:r>
          </a:p>
        </p:txBody>
      </p:sp>
      <p:pic>
        <p:nvPicPr>
          <p:cNvPr id="5" name="Picture 4" descr="juz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" y="1209450"/>
            <a:ext cx="5905500" cy="314370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0300" y="628650"/>
            <a:ext cx="2743200" cy="43053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742950"/>
            <a:ext cx="2514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أقرأ الجزء الثالث بنفسي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181100"/>
            <a:ext cx="25146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081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081" b="0">
                <a:solidFill>
                  <a:srgbClr val="333333"/>
                </a:solidFill>
                <a:latin typeface="Cairo"/>
                <a:cs typeface="Cairo"/>
              </a:rPr>
              <a:t> أُنصت إلى نمذجة معلّمي لبداية الفقرة الخامسة</a:t>
            </a:r>
          </a:p>
          <a:p>
            <a:pPr algn="r" rtl="1">
              <a:lnSpc>
                <a:spcPct val="150000"/>
              </a:lnSpc>
            </a:pPr>
            <a:r>
              <a:rPr sz="1081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081" b="0">
                <a:solidFill>
                  <a:srgbClr val="333333"/>
                </a:solidFill>
                <a:latin typeface="Cairo"/>
                <a:cs typeface="Cairo"/>
              </a:rPr>
              <a:t> أقرأ الفقرة (5) جهرًا بصوت معبِّر عن معانيها</a:t>
            </a:r>
          </a:p>
          <a:p>
            <a:pPr algn="r" rtl="1">
              <a:lnSpc>
                <a:spcPct val="150000"/>
              </a:lnSpc>
            </a:pPr>
            <a:r>
              <a:rPr sz="1081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081" b="0">
                <a:solidFill>
                  <a:srgbClr val="333333"/>
                </a:solidFill>
                <a:latin typeface="Cairo"/>
                <a:cs typeface="Cairo"/>
              </a:rPr>
              <a:t> أراعي الضبط والوقفات ونبرة الاعتزاز في الخاتمة</a:t>
            </a:r>
          </a:p>
          <a:p>
            <a:pPr algn="r" rtl="1">
              <a:lnSpc>
                <a:spcPct val="150000"/>
              </a:lnSpc>
            </a:pPr>
            <a:r>
              <a:rPr sz="1081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081" b="0">
                <a:solidFill>
                  <a:srgbClr val="333333"/>
                </a:solidFill>
                <a:latin typeface="Cairo"/>
                <a:cs typeface="Cairo"/>
              </a:rPr>
              <a:t> أستعين بهوامش الكتاب عند الكلمات الجديدة</a:t>
            </a:r>
          </a:p>
          <a:p>
            <a:pPr algn="r" rtl="1">
              <a:lnSpc>
                <a:spcPct val="150000"/>
              </a:lnSpc>
            </a:pPr>
            <a:r>
              <a:rPr sz="1081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081" b="0">
                <a:solidFill>
                  <a:srgbClr val="333333"/>
                </a:solidFill>
                <a:latin typeface="Cairo"/>
                <a:cs typeface="Cairo"/>
              </a:rPr>
              <a:t> إن صعُبت عليّ كلمة أهجّئها مقطعًا مقطعًا ثم أقرؤها 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095750"/>
            <a:ext cx="2514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7" b="1">
                <a:solidFill>
                  <a:srgbClr val="C00000"/>
                </a:solidFill>
                <a:latin typeface="Cairo"/>
                <a:cs typeface="Cairo"/>
              </a:rPr>
              <a:t>قاعدة الجماعة: الإنصات أولًا، ثم الكلّ يقرأ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نشاط مستقل (1) — المفردات الجديدة: صِلْ الكلمة بمعناها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75" b="1">
                <a:solidFill>
                  <a:srgbClr val="335693"/>
                </a:solidFill>
                <a:latin typeface="Cairo"/>
                <a:cs typeface="Cairo"/>
              </a:rPr>
              <a:t>اكتب في دفترك رقمَ الكلمة وحرفَ معناها الصحيح (3 دقائق)، مستعينًا بهامش الكتاب (ص38)، ثم صحّح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1049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1- أَسْلاف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1650" y="11049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0700" y="1143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1049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1430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أ-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الشدائد والابتلاءات القاسية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0" y="16954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7335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2- الذُّود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1650" y="16954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700" y="17335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6954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17335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ب-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الدفاع عن الشيء ومنعه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22860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3241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3- أَحْلَك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1650" y="22860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0700" y="23241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هـ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2860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23241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ج-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جمع سَلَف: الآباء والأجداد الذين سبقونا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0" y="28765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9146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4- الْمِحَن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1650" y="28765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0700" y="29146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8765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29146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د-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الرشاد والتوفيق والصواب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34671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5052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5- تَوَاضُع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1650" y="34671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0700" y="35052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34671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35052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هـ-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أشدّ ظلامًا وقسوة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40576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0957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6- السَّداد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1650" y="40576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0700" y="40957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0576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" y="40957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و-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عدم التكبّر على الناس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47244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1">
                <a:solidFill>
                  <a:srgbClr val="C00000"/>
                </a:solidFill>
                <a:latin typeface="Cairo"/>
                <a:cs typeface="Cairo"/>
              </a:rPr>
              <a:t>اضغط لإظهار الحرف الصحيح — وكافئ نفسك نقطةً عن كل توصيلة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  <p:bldP spid="27" grpId="0"/>
      <p:bldP spid="33" grpId="0"/>
      <p:bldP spid="39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نشاط مستقل (2) — كلمة وجمعها / كلمة ومضادها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أكمل الجدول في دفترك (3 دقائق) — كل الكلمات من الجزء الثالث — ثم قارن إجابتك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62500" y="1047750"/>
            <a:ext cx="3810000" cy="41910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0125" y="1066800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كلمة وجمعها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0" y="1504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875" y="1543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تضحية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2500" y="1504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9650" y="1543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تضحيات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3250" y="20764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875" y="21145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قيمة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500" y="20764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9650" y="21145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قِيَم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250" y="2647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875" y="2686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مصدر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2500" y="2647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9650" y="2686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مصادر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1047750"/>
            <a:ext cx="3810000" cy="41910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" y="1066800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كلمة ومضادّها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2250" y="1504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9875" y="1543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البقاء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1504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50" y="1543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الفناء — الزوال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62250" y="20764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09875" y="21145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الختام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0764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650" y="21145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البداية — الافتتاح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62250" y="2647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09875" y="2686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الفرح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" y="2647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650" y="2686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الحزن — الأسى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33528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1" b="1">
                <a:solidFill>
                  <a:srgbClr val="333333"/>
                </a:solidFill>
                <a:latin typeface="Cairo"/>
                <a:cs typeface="Cairo"/>
              </a:rPr>
              <a:t>لتثبيت المفردة:</a:t>
            </a:r>
            <a:r>
              <a:rPr sz="1631" b="0">
                <a:solidFill>
                  <a:srgbClr val="333333"/>
                </a:solidFill>
                <a:latin typeface="Cairo"/>
                <a:cs typeface="Cairo"/>
              </a:rPr>
              <a:t> اختر كلمتين مما تعلّمتَه واكتب كلًّا منهما في جملةٍ من إنشائك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37719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5" grpId="0"/>
      <p:bldP spid="29" grpId="0"/>
      <p:bldP spid="33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يقرأَ الجزءَ الثالث قراءةً جهريةً معبِّرةً ويضبطَ مفرداتِه الجديدة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1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أكمل الجمل الآتية بالمفردة المناسبة (</a:t>
            </a:r>
            <a:r>
              <a:rPr sz="1518" b="0">
                <a:solidFill>
                  <a:srgbClr val="335693"/>
                </a:solidFill>
                <a:latin typeface="Cairo"/>
                <a:cs typeface="Cairo"/>
              </a:rPr>
              <a:t>أسلاف / الذود / أحلك / المحن / تواضع / السداد</a:t>
            </a: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):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١- نعتزّ بجهود ………………… الذين بنوا الكيان الوطني.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٢- ………………… عن الوطن واجبٌ على كل مواطن مخلص.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٣- عبَرَ الوطنُ ………………… العسيرة بفضل إيمان أبنائه وصمودهم.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٤- نسأل اللهَ لكم التوفيقَ و………………… في خدمة هذا الوطن.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غلق الهدف (1) — تدريب الكتاب: لغة النص (1) ص39</a:t>
            </a:r>
          </a:p>
        </p:txBody>
      </p:sp>
      <p:pic>
        <p:nvPicPr>
          <p:cNvPr id="5" name="Picture 4" descr="lugh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170923"/>
            <a:ext cx="8191500" cy="28016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4325" y="2133600"/>
            <a:ext cx="2124075" cy="257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6" b="1">
                <a:solidFill>
                  <a:srgbClr val="335693"/>
                </a:solidFill>
                <a:latin typeface="Cairo"/>
                <a:cs typeface="Cairo"/>
              </a:rPr>
              <a:t>الإجابة: ترادف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457575"/>
            <a:ext cx="22574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335693"/>
                </a:solidFill>
                <a:latin typeface="Cairo"/>
                <a:cs typeface="Cairo"/>
              </a:rPr>
              <a:t>الإجابة: مُخالِف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اختر في دفترك أولًا (دقيقتان)، ثم اضغط لإظهار الإجابة الصحيحة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سُلّم الصعود إلى الفكرة — الفقرة (5)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أعد قراءة الفقرة (5)، وأجب عن الدرجات الثلاث في دفترك (4 دقائق)، ثم اصعد إلى القمة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049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375" y="11525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31" b="1">
                <a:solidFill>
                  <a:srgbClr val="333333"/>
                </a:solidFill>
                <a:latin typeface="Cairo"/>
                <a:cs typeface="Cairo"/>
              </a:rPr>
              <a:t>الدرجة 1: بأي شعور تذكّر سموُّ الأمير الأسلاف، وماذا فعلوا؟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6192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6573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C00000"/>
                </a:solidFill>
                <a:latin typeface="Cairo"/>
                <a:cs typeface="Cairo"/>
              </a:rPr>
              <a:t>بفخر — تمسكوا بالأرض وكافحوا ولم يبخلوا بالتضحيات وبنوا الكيان الوطني في أحلك الظروف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1336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21812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31" b="1">
                <a:solidFill>
                  <a:srgbClr val="333333"/>
                </a:solidFill>
                <a:latin typeface="Cairo"/>
                <a:cs typeface="Cairo"/>
              </a:rPr>
              <a:t>الدرجة 2: ماذا نستعيد ونسترجع اليوم كما في الفقرة؟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6479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26860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C00000"/>
                </a:solidFill>
                <a:latin typeface="Cairo"/>
                <a:cs typeface="Cairo"/>
              </a:rPr>
              <a:t>نستعيد فرحنا بالإنجازات وابتسامات أبنائنا، ونسترجع المحن التي عبرناها بالإيمان والصمود ووحدة المصير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1623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" y="32099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31" b="1">
                <a:solidFill>
                  <a:srgbClr val="333333"/>
                </a:solidFill>
                <a:latin typeface="Cairo"/>
                <a:cs typeface="Cairo"/>
              </a:rPr>
              <a:t>الدرجة 3: بمَ ختم سمو الأمير كلمته؟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6766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375" y="37147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00" b="0">
                <a:solidFill>
                  <a:srgbClr val="C00000"/>
                </a:solidFill>
                <a:latin typeface="Cairo"/>
                <a:cs typeface="Cairo"/>
              </a:rPr>
              <a:t>بتوجيه خالص الشكر، والتمني بالتوفيق والسداد في خدمة الوطن، والسلام عليكم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229100"/>
            <a:ext cx="7429500" cy="5905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125" y="428625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قمة السلّم: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اجمع إجاباتك الثلاث في جملة واحدة مرتّبة — </a:t>
            </a:r>
            <a:r>
              <a:rPr sz="1775" b="0">
                <a:solidFill>
                  <a:srgbClr val="C00000"/>
                </a:solidFill>
                <a:latin typeface="Cairo"/>
                <a:cs typeface="Cairo"/>
              </a:rPr>
              <a:t>هذه هي فكرة الفقرة!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الموجّهة بعد محاولتك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غلق الهدف (2) — المعنى العام والفكرة الرئيسة: قارن إجابتك بالنموذج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اكتب في دفترك جملةَ الفكرة التي توصّلتَ إليها من السُّلّم، ثم قارنها بالنموذج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14300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(5) — خاتمة الخطاب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485900"/>
            <a:ext cx="8001000" cy="12573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543050"/>
            <a:ext cx="77152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75" b="0">
                <a:solidFill>
                  <a:srgbClr val="C00000"/>
                </a:solidFill>
                <a:latin typeface="Cairo"/>
                <a:cs typeface="Cairo"/>
              </a:rPr>
              <a:t>المعنى العام: اعتزاز سمو الأمير بجهود الأسلاف وتضحياتهم واستلهام قيمهم في مسيرة البناء.</a:t>
            </a:r>
          </a:p>
          <a:p>
            <a:pPr algn="r" rtl="1">
              <a:lnSpc>
                <a:spcPct val="140000"/>
              </a:lnSpc>
            </a:pPr>
            <a:r>
              <a:rPr sz="1575" b="0">
                <a:solidFill>
                  <a:srgbClr val="C00000"/>
                </a:solidFill>
                <a:latin typeface="Cairo"/>
                <a:cs typeface="Cairo"/>
              </a:rPr>
              <a:t>الفكرة الرئيسة: القيم والأخلاق والتواضع وحب الوطن مصادر قوتنا وثقتنا بالمستقبل، والشكر لأبناء الوطن.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952750"/>
            <a:ext cx="8001000" cy="14287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3009900"/>
            <a:ext cx="7715250" cy="1314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437" b="1">
                <a:solidFill>
                  <a:srgbClr val="335693"/>
                </a:solidFill>
                <a:latin typeface="Cairo"/>
                <a:cs typeface="Cairo"/>
              </a:rPr>
              <a:t>محاور الخطاب كاملةً (تذكّرها معي):</a:t>
            </a:r>
          </a:p>
          <a:p>
            <a:pPr algn="r" rtl="1">
              <a:lnSpc>
                <a:spcPct val="140000"/>
              </a:lnSpc>
            </a:pPr>
            <a:r>
              <a:rPr sz="1437" b="0">
                <a:solidFill>
                  <a:srgbClr val="335693"/>
                </a:solidFill>
                <a:latin typeface="Cairo"/>
                <a:cs typeface="Cairo"/>
              </a:rPr>
              <a:t>١- التهنئة بدور الانعقاد وتقدير دور المجلس — ٢- التنمية الداخلية الشاملة</a:t>
            </a:r>
          </a:p>
          <a:p>
            <a:pPr algn="r" rtl="1">
              <a:lnSpc>
                <a:spcPct val="140000"/>
              </a:lnSpc>
            </a:pPr>
            <a:r>
              <a:rPr sz="1437" b="0">
                <a:solidFill>
                  <a:srgbClr val="335693"/>
                </a:solidFill>
                <a:latin typeface="Cairo"/>
                <a:cs typeface="Cairo"/>
              </a:rPr>
              <a:t>٣- ثوابت السياسة الخارجية — ٤- التغيير المدروس وسيادة القانون والوحدة — ٥- الاعتزاز بالأسلاف والشكر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244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غلق الهدف (2) — من كتابك: الاستيعاب (4-5) ص39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أجب في دفترك عن السؤالين من كتابك (4 دقائق)، ثم اضغط لتقارن إجابتك بالنموذج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04900"/>
            <a:ext cx="8001000" cy="5143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375" y="1162050"/>
            <a:ext cx="7715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4- ما مصادر قوة أي شعب كما فهمت من النص؟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695450"/>
            <a:ext cx="8001000" cy="9144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752600"/>
            <a:ext cx="7715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87" b="0">
                <a:solidFill>
                  <a:srgbClr val="C00000"/>
                </a:solidFill>
                <a:latin typeface="Cairo"/>
                <a:cs typeface="Cairo"/>
              </a:rPr>
              <a:t>الإيمان والصمود والوعي لوحدة المصير، والقيم والأخلاق والتواضع وحب الوطن، والوحدة والتماسك في مواجهة التحديات.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743200"/>
            <a:ext cx="8001000" cy="5143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2800350"/>
            <a:ext cx="7715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5- ما المحاور الرئيسة لخطاب سمو الأمير؟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333750"/>
            <a:ext cx="8001000" cy="9144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3390900"/>
            <a:ext cx="7715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87" b="0">
                <a:solidFill>
                  <a:srgbClr val="C00000"/>
                </a:solidFill>
                <a:latin typeface="Cairo"/>
                <a:cs typeface="Cairo"/>
              </a:rPr>
              <a:t>المحور الداخلي: التنمية الاقتصادية والبشرية والتحول الرقمي — المحور الخارجي: العلاقات الخليجية وثوابت السياسة — محور القيم: الوحدة الوطنية والاعتزاز بالأسلاف.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244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 — يُناقش جماعيًّا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الفهم والتحليل (1-2) ص41</a:t>
            </a:r>
          </a:p>
        </p:txBody>
      </p:sp>
      <p:pic>
        <p:nvPicPr>
          <p:cNvPr id="5" name="Picture 4" descr="fahm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155" y="666750"/>
            <a:ext cx="658969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33525" y="1933575"/>
            <a:ext cx="885825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68" b="1">
                <a:solidFill>
                  <a:srgbClr val="C00000"/>
                </a:solidFill>
                <a:latin typeface="Cairo"/>
                <a:cs typeface="Cairo"/>
              </a:rPr>
              <a:t>الإجابة الصحيحة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1700" y="3362325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12" b="0">
                <a:solidFill>
                  <a:srgbClr val="335693"/>
                </a:solidFill>
                <a:latin typeface="Cairo"/>
                <a:cs typeface="Cairo"/>
              </a:rPr>
              <a:t>التهنئة بدور الانعقاد الجديد وتقدير دور المجلس في خدمة الوطن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1700" y="3733800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62" b="0">
                <a:solidFill>
                  <a:srgbClr val="335693"/>
                </a:solidFill>
                <a:latin typeface="Cairo"/>
                <a:cs typeface="Cairo"/>
              </a:rPr>
              <a:t>ثوابت السياسة الخارجية ودعم العلاقات الخليجية والتسوية السلمية للمنازعات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1700" y="4105275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0">
                <a:solidFill>
                  <a:srgbClr val="335693"/>
                </a:solidFill>
                <a:latin typeface="Cairo"/>
                <a:cs typeface="Cairo"/>
              </a:rPr>
              <a:t>الاعتزاز بجهود الأسلاف واستلهام قيمهم وشكر المواطنين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(4 دقائق)،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الفهم والتحليل (3-4) ص41</a:t>
            </a:r>
          </a:p>
        </p:txBody>
      </p:sp>
      <p:pic>
        <p:nvPicPr>
          <p:cNvPr id="5" name="Picture 4" descr="fahm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25" y="666750"/>
            <a:ext cx="584835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4050" y="1685925"/>
            <a:ext cx="5067300" cy="581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تحقيق التنمية الاقتصادية المستدامة وتنويع مصادر الدخل الوطني،</a:t>
            </a:r>
          </a:p>
          <a:p>
            <a:pPr algn="r" rtl="1">
              <a:lnSpc>
                <a:spcPct val="125000"/>
              </a:lnSpc>
            </a:pP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وترشيد الإنفاق الحكومي وتوجيه الموارد وفق الأولويات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4050" y="2676525"/>
            <a:ext cx="50673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0">
                <a:solidFill>
                  <a:srgbClr val="335693"/>
                </a:solidFill>
                <a:latin typeface="Cairo"/>
                <a:cs typeface="Cairo"/>
              </a:rPr>
              <a:t>القطاعات الاقتصادية المختلفة، بوضع خطط لتوطينها ورفع نسبة النمو في المحتوى المحلي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4050" y="3790950"/>
            <a:ext cx="50673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2" b="0">
                <a:solidFill>
                  <a:srgbClr val="335693"/>
                </a:solidFill>
                <a:latin typeface="Cairo"/>
                <a:cs typeface="Cairo"/>
              </a:rPr>
              <a:t>تولي اهتمامًا خاصًّا بالعلاقات مع الأشقاء في الخليج، وتذخر جهدًا مع قادتهم لدعم مسيرة التعاون والعمل المشترك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(5 دقائق)،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الفهم والتحليل (5) ص42</a:t>
            </a:r>
          </a:p>
        </p:txBody>
      </p:sp>
      <p:pic>
        <p:nvPicPr>
          <p:cNvPr id="5" name="Picture 4" descr="fahm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085910"/>
            <a:ext cx="8191500" cy="297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86425" y="2495550"/>
            <a:ext cx="127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18" b="0">
                <a:solidFill>
                  <a:srgbClr val="335693"/>
                </a:solidFill>
                <a:latin typeface="Cairo"/>
                <a:cs typeface="Cairo"/>
              </a:rPr>
              <a:t>الحكمة والتدرّج في التغيير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4975" y="2495550"/>
            <a:ext cx="3771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«إنَّ التَّغييرَ المَدروسَ هُوَ السَّبيلُ المُوثوقُ لِلتَّطوُّر»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6425" y="3009900"/>
            <a:ext cx="127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68" b="0">
                <a:solidFill>
                  <a:srgbClr val="335693"/>
                </a:solidFill>
                <a:latin typeface="Cairo"/>
                <a:cs typeface="Cairo"/>
              </a:rPr>
              <a:t>العدل وسيادة القانون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4975" y="3009900"/>
            <a:ext cx="3771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8" b="0">
                <a:solidFill>
                  <a:srgbClr val="335693"/>
                </a:solidFill>
                <a:latin typeface="Cairo"/>
                <a:cs typeface="Cairo"/>
              </a:rPr>
              <a:t>«الدستور الدائم هو السياج القانوني، والمساواة أمام القانون أساس الدولة الحديثة»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6425" y="3524250"/>
            <a:ext cx="127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68" b="0">
                <a:solidFill>
                  <a:srgbClr val="335693"/>
                </a:solidFill>
                <a:latin typeface="Cairo"/>
                <a:cs typeface="Cairo"/>
              </a:rPr>
              <a:t>التمسك بالوحدة الوطنية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4975" y="3524250"/>
            <a:ext cx="3771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8" b="0">
                <a:solidFill>
                  <a:srgbClr val="335693"/>
                </a:solidFill>
                <a:latin typeface="Cairo"/>
                <a:cs typeface="Cairo"/>
              </a:rPr>
              <a:t>«فقد كانت وحدتنا الوطنية مصدر قوتنا ومبرز ثقتنا بالمستقبل»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استنتج ثلاث سمات في دفترك أولًا (4 دقائق)، ثم اضغط لإظهار النموذج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الفهم والتحليل (6-7) ص42</a:t>
            </a:r>
          </a:p>
        </p:txBody>
      </p:sp>
      <p:pic>
        <p:nvPicPr>
          <p:cNvPr id="5" name="Picture 4" descr="fahm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357" y="666750"/>
            <a:ext cx="5751286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3125" y="1466850"/>
            <a:ext cx="481965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0">
                <a:solidFill>
                  <a:srgbClr val="335693"/>
                </a:solidFill>
                <a:latin typeface="Cairo"/>
                <a:cs typeface="Cairo"/>
              </a:rPr>
              <a:t>اعتزازه بجهود الأجداد وتقدير تضحياتهم، وربط نهضة الحاضر بأساسها الذي وضعه الأجداد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3125" y="2238375"/>
            <a:ext cx="48196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تمسكوا بالأرض وكافحوا من أجل البقاء عليها، ولم يبخلوا بالتضحيات،</a:t>
            </a:r>
          </a:p>
          <a:p>
            <a:pPr algn="r" rtl="1">
              <a:lnSpc>
                <a:spcPct val="125000"/>
              </a:lnSpc>
            </a:pP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وذادوا عنها، وبنوا كيانًا وطنيًّا في أحلك الظروف البيئية والاقتصادية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3125" y="3495675"/>
            <a:ext cx="481965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0" b="0">
                <a:solidFill>
                  <a:srgbClr val="335693"/>
                </a:solidFill>
                <a:latin typeface="Cairo"/>
                <a:cs typeface="Cairo"/>
              </a:rPr>
              <a:t>يعتمد التخطيط المدروس المتأني البعيد المدى، لا الارتجال ولا العشوائية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3125" y="4010025"/>
            <a:ext cx="4819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الغاية: التطوّر وتلبية طموحات الشعوب وتحقيق مصالحها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(5 دقائق)،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الفهم والتحليل (8) ص43</a:t>
            </a:r>
          </a:p>
        </p:txBody>
      </p:sp>
      <p:pic>
        <p:nvPicPr>
          <p:cNvPr id="5" name="Picture 4" descr="fahm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7825" y="666750"/>
            <a:ext cx="5848350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95425" y="1362075"/>
            <a:ext cx="1114425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800" b="1">
                <a:solidFill>
                  <a:srgbClr val="C00000"/>
                </a:solidFill>
                <a:latin typeface="Cairo"/>
                <a:cs typeface="Cairo"/>
              </a:rPr>
              <a:t>الإجابة: خطاب سياسي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4050" y="2009775"/>
            <a:ext cx="506730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62" b="0">
                <a:solidFill>
                  <a:srgbClr val="335693"/>
                </a:solidFill>
                <a:latin typeface="Cairo"/>
                <a:cs typeface="Cairo"/>
              </a:rPr>
              <a:t>المقدمة: التهنئة بدور الانعقاد الجديد — العرض: قضايا الداخل والخارج وثوابت السياسة —</a:t>
            </a:r>
          </a:p>
          <a:p>
            <a:pPr algn="r" rtl="1">
              <a:lnSpc>
                <a:spcPct val="125000"/>
              </a:lnSpc>
            </a:pPr>
            <a:r>
              <a:rPr sz="1162" b="0">
                <a:solidFill>
                  <a:srgbClr val="335693"/>
                </a:solidFill>
                <a:latin typeface="Cairo"/>
                <a:cs typeface="Cairo"/>
              </a:rPr>
              <a:t>الخاتمة: الشكر والتمني بالتوفيق والسداد والسلام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7300" y="3600450"/>
            <a:ext cx="1304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8" b="0">
                <a:solidFill>
                  <a:srgbClr val="335693"/>
                </a:solidFill>
                <a:latin typeface="Cairo"/>
                <a:cs typeface="Cairo"/>
              </a:rPr>
              <a:t>التوكيد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425" y="3600450"/>
            <a:ext cx="26384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8" b="0">
                <a:solidFill>
                  <a:srgbClr val="335693"/>
                </a:solidFill>
                <a:latin typeface="Cairo"/>
                <a:cs typeface="Cairo"/>
              </a:rPr>
              <a:t>«إنَّ التَّغييرَ المَدروسَ هُوَ السَّبيلُ المُوثوقُ» — «لا رَيْبَ»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7300" y="3867150"/>
            <a:ext cx="1304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8" b="0">
                <a:solidFill>
                  <a:srgbClr val="335693"/>
                </a:solidFill>
                <a:latin typeface="Cairo"/>
                <a:cs typeface="Cairo"/>
              </a:rPr>
              <a:t>الترادف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7425" y="3867150"/>
            <a:ext cx="26384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8" b="0">
                <a:solidFill>
                  <a:srgbClr val="335693"/>
                </a:solidFill>
                <a:latin typeface="Cairo"/>
                <a:cs typeface="Cairo"/>
              </a:rPr>
              <a:t>«ثَوابِتَ أساسيَّة ومَبادِئَ مُسْتَقِرَّة»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7300" y="4133850"/>
            <a:ext cx="13049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8" b="0">
                <a:solidFill>
                  <a:srgbClr val="335693"/>
                </a:solidFill>
                <a:latin typeface="Cairo"/>
                <a:cs typeface="Cairo"/>
              </a:rPr>
              <a:t>الرسمية والوضوح والدقة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425" y="4133850"/>
            <a:ext cx="263842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18" b="0">
                <a:solidFill>
                  <a:srgbClr val="335693"/>
                </a:solidFill>
                <a:latin typeface="Cairo"/>
                <a:cs typeface="Cairo"/>
              </a:rPr>
              <a:t>لغة جادة واضحة تناسب افتتاح دور الانعقاد الرسمي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(5 دقائق)، ثم اضغط لإظهار الإجابة النموذجية — يُناقش جماعيًّا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https://uw3vlhc2of5wm.kimi.pro/banks/g12-khitab-3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