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itaba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Writing: Investment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12" b="1">
                <a:solidFill>
                  <a:srgbClr val="C00000"/>
                </a:solidFill>
                <a:latin typeface="Cairo"/>
                <a:cs typeface="Cairo"/>
              </a:rPr>
              <a:t>الكتابات: الاستثمار للأجيال القادمة بين الداخل والخارج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الأولى: الشرح والتخطيط (ص61-63)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يكتبَ تغريدةً وظيفية مركّزة وفق خطوات كتابتها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خصائص المقال النقاشي البنائية والأسلوبية وما يُراعى فيه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يعدّدَ خطوات الكتابة الثلاث: قبلها وأثناءها وبعدها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يضعَ مخطّطًا كاملًا لمقاله النقاشي استعدادًا لكتابته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تعريف المقال؟ (من القضية)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نوعين من أنواع المقال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الذي يميّز المقال النقاشي؟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أولًا — ص61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37" b="1">
                <a:solidFill>
                  <a:srgbClr val="335693"/>
                </a:solidFill>
                <a:latin typeface="Cairo"/>
                <a:cs typeface="Cairo"/>
              </a:rPr>
              <a:t>مهمة: اكتب تغريدة تردّ فيها على من لا يرى للعرب ولا للمسلمين دورًا ولا مكانًا في النظام العالمي الجديد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التغريدة: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نوع من الكتابة الحديثة المختصرة المركّزة حول فكرة محددة — ويُشترط توظيف حجّة عقلية أو نقلية مناسبة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خطواتها (إضاءة 1):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١- تحديد الفكرة العامة للتغريدة ٢- التعليق في صُلب الموضوع ٣- مراعاة توظيف الأدلة حسب الموقف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٤- الردّ على التعليقات الأخرى ردًّا مباشرًا ٥- الالتزام بعدد الحروف والكلمات التي يُسمح بها للتغريدة الواحدة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C00000"/>
                </a:solidFill>
                <a:latin typeface="Cairo"/>
                <a:cs typeface="Cairo"/>
              </a:rPr>
              <a:t>اكتب تغريدتك في دفترك الآن (5 دقائق)، ثم يقرأ كلٌّ تغريدته لزميله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ثانيًا — ص61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موقف النقاش: استثمارنا للأجيال القادمة... داخلي أم خارجي؟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رأي الفريق الأول: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يجب أن يكون استثمارنا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داخليًّا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نستفيد منه في عدّة مجالات، ويعود علينا بالنفع المباشر — وهو استثمار آمن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رأي الفريق الثاني: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لا بد أن يكون الاستثمار للأجيال القادمة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خارجيًّا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؛ لأن الاستثمار في الخارج يربطنا بالعالم — فنحن جزء من العالم والاقتصاد العالمي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25" b="1">
                <a:solidFill>
                  <a:srgbClr val="C00000"/>
                </a:solidFill>
                <a:latin typeface="Cairo"/>
                <a:cs typeface="Cairo"/>
              </a:rPr>
              <a:t>المهمة:</a:t>
            </a:r>
            <a:r>
              <a:rPr sz="1225" b="0">
                <a:solidFill>
                  <a:srgbClr val="C00000"/>
                </a:solidFill>
                <a:latin typeface="Cairo"/>
                <a:cs typeface="Cairo"/>
              </a:rPr>
              <a:t> اكتب مقالًا نقاشيًّا بعنوان «الاستثمار للأجيال القادمة بين الداخل والخارج» تناقش فيه رأي الفريقين، ملتزمًا الموضوعية في الرد والنقاش، معتمدًا على الحجج والأدلة المتنوعة، وملتزمًا الخصائص البنائية والفنية للمقال النقاشي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إضاءة (2) — ص62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ما المقال النقاشي؟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مقالٌ يهدف الكاتبُ فيه إلى </a:t>
            </a: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عرض النقاط الأساسية للموضوع محلّ النقاش وتحليلها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ويتطلّب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التأكيد على الرأي، أو ردّ رأيٍ آخر بالأدلة المناسبة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ويتميّز </a:t>
            </a: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باستخدام ألفاظ وأساليب تدلّ على الجوّ النقاشي والحواري، والردّ والتعليق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خصائص المقال النقاشي البنائية — ص62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أربعة أجزاء لا غنى عنها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 العنوان: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تُستعمل فيه ألفاظ تعبّر عن النقاش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 المقدمة: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تتضمّن افتتاحية وتمهيدًا للموضوع المراد مناقشته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٣- العرض: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يتمّ فيه طرح وجهات النظر المختلفة في القضية المعروضة للنقاش، ومناقشة الآراء، والردّ على ما يحتاج إلى ردّ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٤- الخاتمة: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تتضمّن خلاصة رأي الكاتب في قضية النقاش، والموازنة بين الآراء أو ترجيح بعضها، معلِّلًا لرأيه بحجج وأدلة مقنعة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خصائص المقال النقاشي الأسلوبية — ص62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ستّ خصائص أسلوبية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استعمال الفعل المضارع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811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8383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استعمال الجمل الطويلة المركّبة لتفسير وجهات النظر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40030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45745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استعمال عبارات تعبّر عن التقابل بين الآراء المطروحة للنقاش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01942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07657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استخدام الأساليب المجازية والصور البيانية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6385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36957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استخدام الأساليب اللغوية المناسبة كالاستفهام والتأكيد وغيرها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42576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5375" y="43148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٦-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الاعتماد على الحجج النقلية والعقلية، والاستشهاد بالأدلة المناسبة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ما يُراعى في المقال النقاشي — ص62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أربع مراعاة أساسية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تنظيم الأفكار بصياغتها وشرحها، والترابط بينها بطرق مناسبة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مراعاة المتلقّي ومستواه الثقافي ومرحلته العمرية واهتماماته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عرض الأدلة المختلفة وتوظيفها في الموقف المناسب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عرض الرأي الشخصي القائم على الموضوعية والتجرّد، المبنيّ على الحجج والأدلة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خطوات كتابة الموضوع النقاشي (1) — ص63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أولًا: قبل الكتابة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اقرأ بعض المقالات النقاشية، بصفة عامة، أو حول الموضوع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اجمع المعلومات والأدلة والحجج حول موضوع المقال، مستعينًا بمصادر مناسبة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ضع مخطّطًا مناسبًا لموضوع المقال مكوَّنًا من: (العنوان – المقدمة – العرض – الخاتمة)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حدّد الأفكار الرئيسة لأجزاء المقال من المعلومات التي جمعتها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خطوات كتابة الموضوع النقاشي (2) — ص63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ثانيًا: أثناء الكتابة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اكتب المقال وفق الخطّة التي وضعتَها مستعينًا بالمسوَّدة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811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8383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وظّف الأدلة والحجج في مواضعها المناسبة لمناقشة الموضوع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40030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45745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طوِّر مقالك بأساليب لغوية وتعبيرات مناسبة، وردَّ على الآراء بالحجج العقلية والنقلية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01942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07657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استعمل الألفاظ المناسبة للموضوع، واحرص على السلامتين الإملائية والنحوية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6385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36957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استعن بعلامات الترقيم وأدوات الربط المناسبة لتوضيح أفكارك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42576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5375" y="43148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٦-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حرِّر المقال في صورته النهائية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خطوات كتابة الموضوع النقاشي (3) — ص63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ثالثًا: بعد الكتابة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اقرأ المقال لمراجعته وتدقيقه وتطويره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اعرض ما كتبتَه على معلّمك وزملائك، بصوت واضح، وقراءة معبِّرة عن الموضوع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دوِّن ملاحظات معلّمك وزملائك؛ للاستفادة منها في تطوير أسلوبك ومهاراتك لاحقًا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فعِّل صحيفة تقويم الكتابة من أجل التقويم الذاتي لكتابتك </a:t>
            </a:r>
            <a:r>
              <a:rPr sz="1675" b="0">
                <a:solidFill>
                  <a:srgbClr val="C00000"/>
                </a:solidFill>
                <a:latin typeface="Cairo"/>
                <a:cs typeface="Cairo"/>
              </a:rPr>
              <a:t>(موضوع الحصة الثالثة)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أخطط لمقالي الآن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خريطة التخطيط — انسخها في دفترك واملأها (10 دقائق)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العنوان: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عنوان يحمل ألفاظًا تعبّر عن النقاش — ……………………………………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المقدمة: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افتتاحية وتمهيد للقضية — ……………………………………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العرض: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رأي الفريق الأول وحججه …… / رأي الفريق الثاني وحججه …… / ردّي الموضوعي 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الخاتمة: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خلاصة رأيي وترجيحي معلَّلًا — ……………………………………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C00000"/>
                </a:solidFill>
                <a:latin typeface="Cairo"/>
                <a:cs typeface="Cairo"/>
              </a:rPr>
              <a:t>احتفظ بهذه الخريطة — ستكتب مسوَّدتك منها في الحصة القادمة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نشاط إثرائي للمتميز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تحدي المتميز — هل تستطيع؟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اكتب مقدمة مقالك بطريقة مشوّقة: ابدأ بسؤال (مثل: أين نضع ثقتنا لأجيالنا القادمة؟) أو بصورة بيانية مناسبة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اقترح عنوانًا بديلًا لمقالك يحمل روح النقاش، وقارنه بعنوان الكتاب — أيهما أجمل؟ ولماذا؟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يضع مخطّطًا كاملًا لمقاله النقاشي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818" b="1">
                <a:solidFill>
                  <a:srgbClr val="333333"/>
                </a:solidFill>
                <a:latin typeface="Cairo"/>
                <a:cs typeface="Cairo"/>
              </a:rPr>
              <a:t>قبل أن نودّع:</a:t>
            </a:r>
          </a:p>
          <a:p>
            <a:pPr algn="r" rtl="1">
              <a:lnSpc>
                <a:spcPct val="145000"/>
              </a:lnSpc>
            </a:pPr>
            <a:r>
              <a:rPr sz="1818" b="0">
                <a:solidFill>
                  <a:srgbClr val="333333"/>
                </a:solidFill>
                <a:latin typeface="Cairo"/>
                <a:cs typeface="Cairo"/>
              </a:rPr>
              <a:t>١- أنجز خريطة تخطيطك كاملة إن لم تُنجزها في الحصة</a:t>
            </a:r>
          </a:p>
          <a:p>
            <a:pPr algn="r" rtl="1">
              <a:lnSpc>
                <a:spcPct val="145000"/>
              </a:lnSpc>
            </a:pPr>
            <a:r>
              <a:rPr sz="1818" b="0">
                <a:solidFill>
                  <a:srgbClr val="333333"/>
                </a:solidFill>
                <a:latin typeface="Cairo"/>
                <a:cs typeface="Cairo"/>
              </a:rPr>
              <a:t>٢- اقرأ مقالًا نقاشيًّا واحدًا (صحيفة أو مجلة) ولاحظ كيف بُني</a:t>
            </a:r>
          </a:p>
          <a:p>
            <a:pPr algn="r" rtl="1">
              <a:lnSpc>
                <a:spcPct val="145000"/>
              </a:lnSpc>
            </a:pPr>
            <a:r>
              <a:rPr sz="1818" b="0">
                <a:solidFill>
                  <a:srgbClr val="333333"/>
                </a:solidFill>
                <a:latin typeface="Cairo"/>
                <a:cs typeface="Cairo"/>
              </a:rPr>
              <a:t>٣- أحضر خريطتك معك الحصة القادمة — ستكتب مسوَّدتك منها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https://uw3vlhc2of5wm.kimi.pro/banks/g12-kitaba-1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