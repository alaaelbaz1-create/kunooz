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kitaba-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Writing: Investment (2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012" b="1">
                <a:solidFill>
                  <a:srgbClr val="C00000"/>
                </a:solidFill>
                <a:latin typeface="Cairo"/>
                <a:cs typeface="Cairo"/>
              </a:rPr>
              <a:t>الكتابات: الاستثمار للأجيال القادمة بين الداخل والخارج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الثانية: أكتب مقالي — المسوَّدة (ص63)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الأولى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يراجعَ خريطة تخطيطه التي أعدّها في الحصة الماضية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يكتبَ مسوَّدة مقاله النقاشي كاملة: عنوانًا ومقدمةً وعرضًا وخاتمةً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يستعينَ بالبدايات الجاهزة والروابط اللغوية وقائمة التحقق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خاصية بنائية للمقال النقاشي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خاصيتين أسلوبيتين للمقال النقاشي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خطوات ما قبل الكتابة الثلاث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مساعدة للبداية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لا تعرف كيف تبدأ؟ اختر بداية جاهزة وأكملها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«يثار اليوم جدلٌ واسع حول وجهة استثمارنا لأجيالنا القادمة؛ أيكون داخليًّا آمنًا، أم خارجيًّا يربطنا بالعالم؟»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«بين فريقٍ يرى أن الاستثمار الداخلي أولى لما يعود به من نفع مباشر، وفريقٍ يرى أن الخارج هو الطريق إلى العالم...»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«الأمم لا تُقاس بما تملك اليوم، بل بما تغرس لأجيالها غدًا؛ فأين نغرس استثمارنا؟»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روابط لغوية مفيدة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عبارات تربط أفكار مقالك وتدلّ على جوّه النقاشي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لعرض رأي: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يرى الفريق الأول أن… / يذهب أنصار هذا الرأي إلى…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25" b="1">
                <a:solidFill>
                  <a:srgbClr val="333333"/>
                </a:solidFill>
                <a:latin typeface="Cairo"/>
                <a:cs typeface="Cairo"/>
              </a:rPr>
              <a:t>للتقابل بين الآراء:</a:t>
            </a:r>
            <a:r>
              <a:rPr sz="1825" b="0">
                <a:solidFill>
                  <a:srgbClr val="333333"/>
                </a:solidFill>
                <a:latin typeface="Cairo"/>
                <a:cs typeface="Cairo"/>
              </a:rPr>
              <a:t> في المقابل… / على النقيض من ذلك… / غير أنّ الفريق الآخر…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75" b="1">
                <a:solidFill>
                  <a:srgbClr val="333333"/>
                </a:solidFill>
                <a:latin typeface="Cairo"/>
                <a:cs typeface="Cairo"/>
              </a:rPr>
              <a:t>للردّ والمناقشة:</a:t>
            </a:r>
            <a:r>
              <a:rPr sz="1575" b="0">
                <a:solidFill>
                  <a:srgbClr val="333333"/>
                </a:solidFill>
                <a:latin typeface="Cairo"/>
                <a:cs typeface="Cairo"/>
              </a:rPr>
              <a:t> لكنّ هذا الرأي يغفل… / والردّ على ذلك أنّ… / ولا يستقيم هذا القول مع…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25" b="1">
                <a:solidFill>
                  <a:srgbClr val="333333"/>
                </a:solidFill>
                <a:latin typeface="Cairo"/>
                <a:cs typeface="Cairo"/>
              </a:rPr>
              <a:t>للترجيح والخلاصة:</a:t>
            </a:r>
            <a:r>
              <a:rPr sz="1825" b="0">
                <a:solidFill>
                  <a:srgbClr val="333333"/>
                </a:solidFill>
                <a:latin typeface="Cairo"/>
                <a:cs typeface="Cairo"/>
              </a:rPr>
              <a:t> ومما يرجّح هذا الرأي… / والخلاصة أنّ… / ومن هنا أرى أنّ…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قائمة التحقق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قبل أن تسلّم مسوَّدتك… تحقّق من كل بند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عنوان يحمل ألفاظًا تعبّر عن النقاش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78117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83832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مقدمة فيها افتتاحية وتمهيد للقضية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40030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45745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عرض متوازن لوجهتي النظر مع مناقشتهما والردّ الموضوعي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01942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07657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حجج وأدلة عقلية ونقلية في مواضعها المناسبة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638550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3695700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خاتمة بخلاصة وترجيح معلَّل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50" y="4257675"/>
            <a:ext cx="7429500" cy="504825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5375" y="4314825"/>
            <a:ext cx="69532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☐ فعل مضارع وجمل مركّبة وسلامة إملائية ونحوية وترقيم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المسار الأساسي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اكتب أربع فقرات… كل فقرة تجيب عن سؤال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الفقرة 1 (المقدمة):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القضية المثارة؟ ولماذا هي محلّ نقاش؟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الفقرة 2 (العرض):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رأي الفريق الأول؟ وما أقوى حججه وأدلّته؟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75" b="1">
                <a:solidFill>
                  <a:srgbClr val="333333"/>
                </a:solidFill>
                <a:latin typeface="Cairo"/>
                <a:cs typeface="Cairo"/>
              </a:rPr>
              <a:t>الفقرة 3 (العرض):</a:t>
            </a:r>
            <a:r>
              <a:rPr sz="1775" b="0">
                <a:solidFill>
                  <a:srgbClr val="333333"/>
                </a:solidFill>
                <a:latin typeface="Cairo"/>
                <a:cs typeface="Cairo"/>
              </a:rPr>
              <a:t> ما رأي الفريق الثاني؟ وما حججه؟ وما ردّك الموضوعي عليه؟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الفقرة 4 (الخاتمة):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خلاصة رأيك؟ وأيّ الرأيين ترجّح؟ وما تعليلك؟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مسار المتميز — كتابة حرة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لمن أنهى المسار الأساسي أو يريد تحديًا أكبر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اكتب مقالك بحرية كاملة دون الالتزام بالأسئلة الموجِّهة، مع الحفاظ على البناء الرباعي للمقال النقاشي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وظّف في كتابتك: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صورة بيانية (تشبيه أو استعارة) — أسلوب استفهام نقاشي — أسلوب تأكيد — حجّة نقلية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حان وقت الكتابة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✍️ 25 دقيقة كتابة مستقلة — أنا أكتب ومعلّمي يجول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قواعد وقت الكتابة: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١- أكتب وحدي وبصمت، وخريطة تخطيطي أمامي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٢- عند الحاجة أرفع يدي وأنتظر معلّمي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٣- من أنهى مبكرًا يراجع مسوَّدته على ضوء قائمة التحقق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يكتب مسوَّدة مقاله النقاشي كاملة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61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618" b="1">
                <a:solidFill>
                  <a:srgbClr val="333333"/>
                </a:solidFill>
                <a:latin typeface="Cairo"/>
                <a:cs typeface="Cairo"/>
              </a:rPr>
              <a:t>دقيقة مشاركة قبل أن نودّع:</a:t>
            </a:r>
          </a:p>
          <a:p>
            <a:pPr algn="r" rtl="1">
              <a:lnSpc>
                <a:spcPct val="145000"/>
              </a:lnSpc>
            </a:pPr>
            <a:r>
              <a:rPr sz="1618" b="0">
                <a:solidFill>
                  <a:srgbClr val="333333"/>
                </a:solidFill>
                <a:latin typeface="Cairo"/>
                <a:cs typeface="Cairo"/>
              </a:rPr>
              <a:t>شارك زميلك المجاور: اقرأ له أجمل جملة كتبتَها اليوم، واستمع إلى أجمل جملة كتبها هو</a:t>
            </a:r>
          </a:p>
          <a:p>
            <a:pPr algn="r" rtl="1">
              <a:lnSpc>
                <a:spcPct val="145000"/>
              </a:lnSpc>
            </a:pPr>
            <a:r>
              <a:rPr sz="1618" b="1">
                <a:solidFill>
                  <a:srgbClr val="333333"/>
                </a:solidFill>
                <a:latin typeface="Cairo"/>
                <a:cs typeface="Cairo"/>
              </a:rPr>
              <a:t>تذكير:</a:t>
            </a:r>
            <a:r>
              <a:rPr sz="1618" b="0">
                <a:solidFill>
                  <a:srgbClr val="333333"/>
                </a:solidFill>
                <a:latin typeface="Cairo"/>
                <a:cs typeface="Cairo"/>
              </a:rPr>
              <a:t> من لم يُنهِ مسوَّدته يُتمّها في البيت — أحضر مسوَّدتك معك الحصة القادمة؛ سنعرضها ونقوّمها ونحرّرها نهائيًّا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https://uw3vlhc2of5wm.kimi.pro/banks/g12-kitaba-2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