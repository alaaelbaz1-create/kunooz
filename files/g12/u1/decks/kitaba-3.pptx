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kitaba-3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Writing: Investment (3 of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012" b="1">
                <a:solidFill>
                  <a:srgbClr val="C00000"/>
                </a:solidFill>
                <a:latin typeface="Cairo"/>
                <a:cs typeface="Cairo"/>
              </a:rPr>
              <a:t>الكتابات: الاستثمار للأجيال القادمة بين الداخل والخارج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الثالثة: التغذية الراجعة والتحرير النهائي (ص63-64)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الأولى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يعرضَ مقاله على معلّمه وزملائه بصوت واضح وقراءة معبِّرة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يُفعّلَ صحيفة تقويم الكتابة مقوِّمًا كتابته تقويمًا ذاتيًّا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يتبادلَ مسوَّدته مع زميله ويقدّما ملاحظات مهذّبة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يحرّرَ مقاله في صورته النهائية مستفيدًا من التقويم والملاحظات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خطوة من خطوات ما بعد الكتابة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الغرض من صحيفة تقويم الكتابة؟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أجزاء المقال النقاشي الأربعة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أولًا: العرض والملاحظات — ص63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أخرج مسوَّدتك التي كتبتَها في الحصة الماضية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اقرأ مقالك أوّلًا لمراجعته وتدقيقه وتطويره قبل العرض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اعرض ما كتبتَه على معلّمك وزملائك </a:t>
            </a: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بصوت واضح، وقراءة معبِّرة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عن الموضوع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625" b="0">
                <a:solidFill>
                  <a:srgbClr val="333333"/>
                </a:solidFill>
                <a:latin typeface="Cairo"/>
                <a:cs typeface="Cairo"/>
              </a:rPr>
              <a:t> دوِّن ملاحظات معلّمك وزملائك؛ </a:t>
            </a: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للاستفادة منها</a:t>
            </a:r>
            <a:r>
              <a:rPr sz="1625" b="0">
                <a:solidFill>
                  <a:srgbClr val="333333"/>
                </a:solidFill>
                <a:latin typeface="Cairo"/>
                <a:cs typeface="Cairo"/>
              </a:rPr>
              <a:t> في تطوير أسلوبك ومهاراتك لاحقًا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C00000"/>
                </a:solidFill>
                <a:latin typeface="Cairo"/>
                <a:cs typeface="Cairo"/>
              </a:rPr>
              <a:t>النشاط (10 دقائق):</a:t>
            </a:r>
            <a:r>
              <a:rPr sz="1875" b="0">
                <a:solidFill>
                  <a:srgbClr val="C00000"/>
                </a:solidFill>
                <a:latin typeface="Cairo"/>
                <a:cs typeface="Cairo"/>
              </a:rPr>
              <a:t> يعرض كل طالب مقاله، وزملاؤه يدوِّنون ملاحظاتهم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صحيفة تقويم الكتابة (1) — ص64</a:t>
            </a:r>
          </a:p>
        </p:txBody>
      </p:sp>
      <p:pic>
        <p:nvPicPr>
          <p:cNvPr id="5" name="Picture 4" descr="rubric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513" y="628650"/>
            <a:ext cx="5938974" cy="390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العناصر 1-5 — ضع علامة (✓) أمام مستوى تحقّقك في كل عنصر بصدق وموضوعية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صحيفة تقويم الكتابة (2) — ص64</a:t>
            </a:r>
          </a:p>
        </p:txBody>
      </p:sp>
      <p:pic>
        <p:nvPicPr>
          <p:cNvPr id="5" name="Picture 4" descr="rubric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422" y="628650"/>
            <a:ext cx="6949155" cy="390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العناصر 6-10 — ما حصل على أقل من (3) أعد العمل عليه في مقالك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25" b="1">
                <a:solidFill>
                  <a:srgbClr val="FFFFFF"/>
                </a:solidFill>
                <a:latin typeface="Cairo"/>
                <a:cs typeface="Cairo"/>
              </a:rPr>
              <a:t>ثانيًا: التقويم الذاتي — ص64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كيف تفعّل صحيفة تقويم الكتابة؟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اقرأ كل عنصر من عناصر التقويم العشرة وتأمّله جيّدًا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قيّم مستوى تحقّقك فيه من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(1) إلى (5)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بصدق وموضوعية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العنصر الذي يقلّ مستواه عن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(3)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أعد العمل عليه في مقالك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استعن بملاحظات معلّمك وزملائك التي دوّنتَها أثناء العرض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أخطاء شائعة… وصوابها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تعلّم من خطأ غيرك قبل أن تقع فيه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✗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عرض رأي فريق واحد وإغفال الآخر ←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الصواب: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المقال النقاشي يعرض وجهتي النظر كلتيهما بموضوعية ثم يناقشهما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✗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خاتمة بلا رأي ولا تعليل ←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الصواب: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الخاتمة تتضمّن خلاصة رأي الكاتب وترجيحه معلَّلًا بالحجج والأدلة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✗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إهمال السلامة الإملائية والنحوية والترقيم ←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الصواب: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مراجعة المقال وتدقيقه خطوة أصيلة من خطوات الكتابة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نتبادل وننصح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تبادل مسوَّدتك مع زميلك، واملأ له بطاقة الملاحظات (8 دقائق)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🌟 أجمل جملة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في مقال زميلي هي: ……………………………………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🔍 خطأ واحد لاحظته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(إملاء/نحو/ترتيب أفكار): ……………………………………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💡 اقتراحي لتحسين المقال: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……………………………………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النسخة النهائية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✍️ 15 دقيقة: أحرّر مقالي النهائي بأجمل صورة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أقرأ نتائج تقويمي الذاتي وملاحظات معلّمي وزميلي، وأقبل منها ما يحسّن كتابتي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أعيد تحرير مقالي كاملًا بخط واضح، مصحّحًا الأخطاء، مراعيًا عناصر صحيفة التقويم العشرة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أتأكد أخيرًا من اكتمال البناء: عنوان نقاشي، مقدمة، عرض متوازن، خاتمة بترجيح معلَّل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يحرّر مقاله النقاشي في صورته النهائية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568" b="1">
                <a:solidFill>
                  <a:srgbClr val="333333"/>
                </a:solidFill>
                <a:latin typeface="Cairo"/>
                <a:cs typeface="Cairo"/>
              </a:rPr>
              <a:t>التسليم والاحتفال:</a:t>
            </a:r>
          </a:p>
          <a:p>
            <a:pPr algn="r" rtl="1">
              <a:lnSpc>
                <a:spcPct val="145000"/>
              </a:lnSpc>
            </a:pPr>
            <a:r>
              <a:rPr sz="1568" b="0">
                <a:solidFill>
                  <a:srgbClr val="333333"/>
                </a:solidFill>
                <a:latin typeface="Cairo"/>
                <a:cs typeface="Cairo"/>
              </a:rPr>
              <a:t>١- سلِّم النسخة النهائية من مقالك «الاستثمار للأجيال القادمة بين الداخل والخارج» لمعلّمك</a:t>
            </a:r>
          </a:p>
          <a:p>
            <a:pPr algn="r" rtl="1">
              <a:lnSpc>
                <a:spcPct val="145000"/>
              </a:lnSpc>
            </a:pPr>
            <a:r>
              <a:rPr sz="1568" b="0">
                <a:solidFill>
                  <a:srgbClr val="333333"/>
                </a:solidFill>
                <a:latin typeface="Cairo"/>
                <a:cs typeface="Cairo"/>
              </a:rPr>
              <a:t>٢- يقرأ ثلاثة من زملائكم أفضل المقالات أمام الصف — نستمع بإصغاء واحترام ونصفّق لكل كاتب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https://uw3vlhc2of5wm.kimi.pro/banks/g12-kitaba-3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