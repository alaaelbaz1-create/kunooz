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uw3vlhc2of5wm.kimi.pro/banks/g12-mustaqbal-1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34000" y="1428750"/>
            <a:ext cx="3429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00" b="1">
                <a:solidFill>
                  <a:srgbClr val="335693"/>
                </a:solidFill>
                <a:latin typeface="Cairo"/>
                <a:cs typeface="Cairo"/>
              </a:rPr>
              <a:t>Year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0" y="1857375"/>
            <a:ext cx="3429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00" b="1">
                <a:solidFill>
                  <a:srgbClr val="335693"/>
                </a:solidFill>
                <a:latin typeface="Cairo"/>
                <a:cs typeface="Cairo"/>
              </a:rPr>
              <a:t>Subject: Arabic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0" y="2286000"/>
            <a:ext cx="3429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62" b="1">
                <a:solidFill>
                  <a:srgbClr val="335693"/>
                </a:solidFill>
                <a:latin typeface="Cairo"/>
                <a:cs typeface="Cairo"/>
              </a:rPr>
              <a:t>Lesson: Reading: Mustaqbal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048000"/>
            <a:ext cx="762000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3562" b="1">
                <a:solidFill>
                  <a:srgbClr val="C00000"/>
                </a:solidFill>
                <a:latin typeface="Cairo"/>
                <a:cs typeface="Cairo"/>
              </a:rPr>
              <a:t>القراءة: مستقبل العالم ومكاننا فيه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952875"/>
            <a:ext cx="762000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737" b="1">
                <a:solidFill>
                  <a:srgbClr val="335693"/>
                </a:solidFill>
                <a:latin typeface="Cairo"/>
                <a:cs typeface="Cairo"/>
              </a:rPr>
              <a:t>الحصة الأولى — الفقرتان الأولى والثانية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429125"/>
            <a:ext cx="7620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562" b="0">
                <a:solidFill>
                  <a:srgbClr val="555555"/>
                </a:solidFill>
                <a:latin typeface="Cairo"/>
                <a:cs typeface="Cairo"/>
              </a:rPr>
              <a:t>للدكتور أحمد كمال أبو المجد (بتصرف) — النص الثاني، الوحدة الأولى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أهداف الحصة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في نهاية هذه الحصة سيكون الطالب قادرًا على أن: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200150"/>
            <a:ext cx="7429500" cy="876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57300"/>
            <a:ext cx="695325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1-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يتعرّفَ الكاتبَ أحمد كمال أبو المجد وأبرزَ محطاتِ سيرته وإنتاجِه الفكري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190750"/>
            <a:ext cx="7429500" cy="876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247900"/>
            <a:ext cx="695325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775" b="1">
                <a:solidFill>
                  <a:srgbClr val="333333"/>
                </a:solidFill>
                <a:latin typeface="Cairo"/>
                <a:cs typeface="Cairo"/>
              </a:rPr>
              <a:t>2-</a:t>
            </a:r>
            <a:r>
              <a:rPr sz="1775" b="0">
                <a:solidFill>
                  <a:srgbClr val="333333"/>
                </a:solidFill>
                <a:latin typeface="Cairo"/>
                <a:cs typeface="Cairo"/>
              </a:rPr>
              <a:t> يقرأَ الفقرتين الأولى والثانية قراءةً جهريةً صحيحةً ويضبطَ مفرداتِهما الجديدة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3181350"/>
            <a:ext cx="7429500" cy="876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3238500"/>
            <a:ext cx="695325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3-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يستخرجَ المعنى العام والفكرةَ الرئيسة لكل فقرة من الفقرتين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تدريب علاجي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800" b="1">
                <a:solidFill>
                  <a:srgbClr val="335693"/>
                </a:solidFill>
                <a:latin typeface="Cairo"/>
                <a:cs typeface="Cairo"/>
              </a:rPr>
              <a:t>أسئلة تُنعش ذاكرتك… أجب في دفترك خلال 3 دقائق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1123950"/>
            <a:ext cx="8001000" cy="1085850"/>
          </a:xfrm>
          <a:prstGeom prst="roundRect">
            <a:avLst>
              <a:gd name="adj" fmla="val 12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1500" y="1123950"/>
            <a:ext cx="1238250" cy="1085850"/>
          </a:xfrm>
          <a:prstGeom prst="roundRect">
            <a:avLst>
              <a:gd name="adj" fmla="val 12000"/>
            </a:avLst>
          </a:prstGeom>
          <a:solidFill>
            <a:srgbClr val="BF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0550" y="1200150"/>
            <a:ext cx="120015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FFFFFF"/>
                </a:solidFill>
                <a:latin typeface="Cairo"/>
                <a:cs typeface="Cairo"/>
              </a:rPr>
              <a:t>نقطة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52625" y="1200150"/>
            <a:ext cx="647700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968" b="1">
                <a:solidFill>
                  <a:srgbClr val="333333"/>
                </a:solidFill>
                <a:latin typeface="Cairo"/>
                <a:cs typeface="Cairo"/>
              </a:rPr>
              <a:t>ما الذي يشغل بالَ مفكّري العالم اليوم: الماضي أم المستقبل؟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" y="2343150"/>
            <a:ext cx="8001000" cy="1085850"/>
          </a:xfrm>
          <a:prstGeom prst="roundRect">
            <a:avLst>
              <a:gd name="adj" fmla="val 12000"/>
            </a:avLst>
          </a:prstGeom>
          <a:solidFill>
            <a:srgbClr val="FCE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71500" y="2343150"/>
            <a:ext cx="1238250" cy="1085850"/>
          </a:xfrm>
          <a:prstGeom prst="roundRect">
            <a:avLst>
              <a:gd name="adj" fmla="val 12000"/>
            </a:avLst>
          </a:prstGeom>
          <a:solidFill>
            <a:srgbClr val="BF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0550" y="2419350"/>
            <a:ext cx="120015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FFFFFF"/>
                </a:solidFill>
                <a:latin typeface="Cairo"/>
                <a:cs typeface="Cairo"/>
              </a:rPr>
              <a:t>نقطتان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52625" y="2419350"/>
            <a:ext cx="647700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968" b="1">
                <a:solidFill>
                  <a:srgbClr val="333333"/>
                </a:solidFill>
                <a:latin typeface="Cairo"/>
                <a:cs typeface="Cairo"/>
              </a:rPr>
              <a:t>توقّع: بمَ يتميّز عصرُنا عن العصور السابقة؟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" y="3562350"/>
            <a:ext cx="8001000" cy="1085850"/>
          </a:xfrm>
          <a:prstGeom prst="roundRect">
            <a:avLst>
              <a:gd name="adj" fmla="val 12000"/>
            </a:avLst>
          </a:prstGeom>
          <a:solidFill>
            <a:srgbClr val="F4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71500" y="3562350"/>
            <a:ext cx="1238250" cy="1085850"/>
          </a:xfrm>
          <a:prstGeom prst="roundRect">
            <a:avLst>
              <a:gd name="adj" fmla="val 12000"/>
            </a:avLst>
          </a:prstGeom>
          <a:solidFill>
            <a:srgbClr val="BF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0550" y="3638550"/>
            <a:ext cx="120015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FFFFFF"/>
                </a:solidFill>
                <a:latin typeface="Cairo"/>
                <a:cs typeface="Cairo"/>
              </a:rPr>
              <a:t>ثلاث نقاط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52625" y="3638550"/>
            <a:ext cx="647700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968" b="1">
                <a:solidFill>
                  <a:srgbClr val="333333"/>
                </a:solidFill>
                <a:latin typeface="Cairo"/>
                <a:cs typeface="Cairo"/>
              </a:rPr>
              <a:t>ما دور العرب في مستقبل العالم؟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025" b="1">
                <a:solidFill>
                  <a:srgbClr val="FFFFFF"/>
                </a:solidFill>
                <a:latin typeface="Cairo"/>
                <a:cs typeface="Cairo"/>
              </a:rPr>
              <a:t>التعريف بالكاتب: د. أحمد كمال أبو المجد (ص47)</a:t>
            </a:r>
          </a:p>
        </p:txBody>
      </p:sp>
      <p:pic>
        <p:nvPicPr>
          <p:cNvPr id="5" name="Picture 4" descr="kaati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0058" y="628650"/>
            <a:ext cx="5563884" cy="3905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1">
                <a:solidFill>
                  <a:srgbClr val="C00000"/>
                </a:solidFill>
                <a:latin typeface="Cairo"/>
                <a:cs typeface="Cairo"/>
              </a:rPr>
              <a:t>اقرأ التعريف قراءةً صامتةً خلال 3 دقائق، واستعدّ لبطاقة التعريف في الشريحة التالية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275" b="1">
                <a:solidFill>
                  <a:srgbClr val="FFFFFF"/>
                </a:solidFill>
                <a:latin typeface="Cairo"/>
                <a:cs typeface="Cairo"/>
              </a:rPr>
              <a:t>نشاط مستقل — بطاقة تعريف الكاتب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12" b="1">
                <a:solidFill>
                  <a:srgbClr val="335693"/>
                </a:solidFill>
                <a:latin typeface="Cairo"/>
                <a:cs typeface="Cairo"/>
              </a:rPr>
              <a:t>املأ البطاقة في دفترك (دقيقتان)، ثم قارن إجابتك بالنموذج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19750" y="1066800"/>
            <a:ext cx="2952750" cy="6858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15000" y="1104900"/>
            <a:ext cx="276225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335693"/>
                </a:solidFill>
                <a:latin typeface="Cairo"/>
                <a:cs typeface="Cairo"/>
              </a:rPr>
              <a:t>الميلاد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1066800"/>
            <a:ext cx="495300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6750" y="11049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93" b="0">
                <a:solidFill>
                  <a:srgbClr val="C00000"/>
                </a:solidFill>
                <a:latin typeface="Cairo"/>
                <a:cs typeface="Cairo"/>
              </a:rPr>
              <a:t>مصر — عام 1930م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19750" y="1847850"/>
            <a:ext cx="2952750" cy="6858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15000" y="1885950"/>
            <a:ext cx="276225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335693"/>
                </a:solidFill>
                <a:latin typeface="Cairo"/>
                <a:cs typeface="Cairo"/>
              </a:rPr>
              <a:t>المؤهل والعمل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1847850"/>
            <a:ext cx="495300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6750" y="188595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43" b="0">
                <a:solidFill>
                  <a:srgbClr val="C00000"/>
                </a:solidFill>
                <a:latin typeface="Cairo"/>
                <a:cs typeface="Cairo"/>
              </a:rPr>
              <a:t>دكتوراه القانون، جامعة القاهرة 1958م — أستاذ القانون العام بكلية الحقوق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19750" y="2628900"/>
            <a:ext cx="2952750" cy="6858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0" y="2667000"/>
            <a:ext cx="276225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335693"/>
                </a:solidFill>
                <a:latin typeface="Cairo"/>
                <a:cs typeface="Cairo"/>
              </a:rPr>
              <a:t>أبرز المناصب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2628900"/>
            <a:ext cx="495300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6750" y="26670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43" b="0">
                <a:solidFill>
                  <a:srgbClr val="C00000"/>
                </a:solidFill>
                <a:latin typeface="Cairo"/>
                <a:cs typeface="Cairo"/>
              </a:rPr>
              <a:t>عمادة كلية الحقوق — وزارة الشباب — وزارة الإعلام — نائب رئيس المجلس القومي لحقوق الإنسان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19750" y="3409950"/>
            <a:ext cx="2952750" cy="6858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15000" y="3448050"/>
            <a:ext cx="276225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335693"/>
                </a:solidFill>
                <a:latin typeface="Cairo"/>
                <a:cs typeface="Cairo"/>
              </a:rPr>
              <a:t>من مؤلفاته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" y="3409950"/>
            <a:ext cx="495300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6750" y="344805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43" b="0">
                <a:solidFill>
                  <a:srgbClr val="C00000"/>
                </a:solidFill>
                <a:latin typeface="Cairo"/>
                <a:cs typeface="Cairo"/>
              </a:rPr>
              <a:t>«حوار لا مواجهة» — «رؤية إسلامية معاصرة» — «المسلمون والعصر»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19750" y="4191000"/>
            <a:ext cx="2952750" cy="6858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5000" y="4229100"/>
            <a:ext cx="276225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335693"/>
                </a:solidFill>
                <a:latin typeface="Cairo"/>
                <a:cs typeface="Cairo"/>
              </a:rPr>
              <a:t>الوفاة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1500" y="4191000"/>
            <a:ext cx="495300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6750" y="42291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93" b="0">
                <a:solidFill>
                  <a:srgbClr val="C00000"/>
                </a:solidFill>
                <a:latin typeface="Cairo"/>
                <a:cs typeface="Cairo"/>
              </a:rPr>
              <a:t>القاهرة 2019م عن 89 عامًا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500" y="499110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93" b="1">
                <a:solidFill>
                  <a:srgbClr val="C00000"/>
                </a:solidFill>
                <a:latin typeface="Cairo"/>
                <a:cs typeface="Cairo"/>
              </a:rPr>
              <a:t>اضغط لإظهار الإجابة النموذجية — كل إجابة صحيحة بنقطة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17" grpId="0"/>
      <p:bldP spid="21" grpId="0"/>
      <p:bldP spid="25" grpId="0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825" b="1">
                <a:solidFill>
                  <a:srgbClr val="FFFFFF"/>
                </a:solidFill>
                <a:latin typeface="Cairo"/>
                <a:cs typeface="Cairo"/>
              </a:rPr>
              <a:t>غلق الهدف (1) — من كتابك: القراءة الاستكشافية (ص50)</a:t>
            </a:r>
          </a:p>
        </p:txBody>
      </p:sp>
      <p:pic>
        <p:nvPicPr>
          <p:cNvPr id="5" name="Picture 4" descr="istishka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877122"/>
            <a:ext cx="8191500" cy="338925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2324100"/>
            <a:ext cx="3552825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56" b="0">
                <a:solidFill>
                  <a:srgbClr val="335693"/>
                </a:solidFill>
                <a:latin typeface="Cairo"/>
                <a:cs typeface="Cairo"/>
              </a:rPr>
              <a:t>مقال يتأمل مستقبل العالم وموقع العرب والمسلمين فيه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809875"/>
            <a:ext cx="3552825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406" b="0">
                <a:solidFill>
                  <a:srgbClr val="335693"/>
                </a:solidFill>
                <a:latin typeface="Cairo"/>
                <a:cs typeface="Cairo"/>
              </a:rPr>
              <a:t>نصّ فكري (مقال)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3850" y="3286125"/>
            <a:ext cx="4600575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12" b="0">
                <a:solidFill>
                  <a:srgbClr val="335693"/>
                </a:solidFill>
                <a:latin typeface="Cairo"/>
                <a:cs typeface="Cairo"/>
              </a:rPr>
              <a:t>مفكّر إسلامي، دكتوراه في القانون، تولّى مناصب وزارية، مؤلفات فكرية كثيرة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743325"/>
            <a:ext cx="3552825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406" b="0">
                <a:solidFill>
                  <a:srgbClr val="335693"/>
                </a:solidFill>
                <a:latin typeface="Cairo"/>
                <a:cs typeface="Cairo"/>
              </a:rPr>
              <a:t>الاستشراف: النظر واستطلاع الأحوال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1">
                <a:solidFill>
                  <a:srgbClr val="C00000"/>
                </a:solidFill>
                <a:latin typeface="Cairo"/>
                <a:cs typeface="Cairo"/>
              </a:rPr>
              <a:t>أجب في دفترك أولًا (دقيقتان)، ثم اضغط لإظهار الإجابة النموذجية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975" b="1">
                <a:solidFill>
                  <a:srgbClr val="FFFFFF"/>
                </a:solidFill>
                <a:latin typeface="Cairo"/>
                <a:cs typeface="Cairo"/>
              </a:rPr>
              <a:t>القراءة الجهرية — الفقرتان الأولى والثانية (ص48)</a:t>
            </a:r>
          </a:p>
        </p:txBody>
      </p:sp>
      <p:pic>
        <p:nvPicPr>
          <p:cNvPr id="5" name="Picture 4" descr="juz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3688" y="628650"/>
            <a:ext cx="3739124" cy="43053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10300" y="628650"/>
            <a:ext cx="2743200" cy="43053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2540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24600" y="742950"/>
            <a:ext cx="25146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75" b="1">
                <a:solidFill>
                  <a:srgbClr val="335693"/>
                </a:solidFill>
                <a:latin typeface="Cairo"/>
                <a:cs typeface="Cairo"/>
              </a:rPr>
              <a:t>أقرأ الفقرتين بنفسي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600" y="1181100"/>
            <a:ext cx="2514600" cy="285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sz="1281" b="1">
                <a:solidFill>
                  <a:srgbClr val="333333"/>
                </a:solidFill>
                <a:latin typeface="Cairo"/>
                <a:cs typeface="Cairo"/>
              </a:rPr>
              <a:t>١-</a:t>
            </a:r>
            <a:r>
              <a:rPr sz="1281" b="0">
                <a:solidFill>
                  <a:srgbClr val="333333"/>
                </a:solidFill>
                <a:latin typeface="Cairo"/>
                <a:cs typeface="Cairo"/>
              </a:rPr>
              <a:t> أُنصت إلى نمذجة معلّمي لبداية النص</a:t>
            </a:r>
          </a:p>
          <a:p>
            <a:pPr algn="r" rtl="1">
              <a:lnSpc>
                <a:spcPct val="150000"/>
              </a:lnSpc>
            </a:pPr>
            <a:r>
              <a:rPr sz="1281" b="1">
                <a:solidFill>
                  <a:srgbClr val="333333"/>
                </a:solidFill>
                <a:latin typeface="Cairo"/>
                <a:cs typeface="Cairo"/>
              </a:rPr>
              <a:t>٢-</a:t>
            </a:r>
            <a:r>
              <a:rPr sz="1281" b="0">
                <a:solidFill>
                  <a:srgbClr val="333333"/>
                </a:solidFill>
                <a:latin typeface="Cairo"/>
                <a:cs typeface="Cairo"/>
              </a:rPr>
              <a:t> أقرأ الفقرة الأولى جهرًا مراعيًا الضبط والوقفات</a:t>
            </a:r>
          </a:p>
          <a:p>
            <a:pPr algn="r" rtl="1">
              <a:lnSpc>
                <a:spcPct val="150000"/>
              </a:lnSpc>
            </a:pPr>
            <a:r>
              <a:rPr sz="1281" b="1">
                <a:solidFill>
                  <a:srgbClr val="333333"/>
                </a:solidFill>
                <a:latin typeface="Cairo"/>
                <a:cs typeface="Cairo"/>
              </a:rPr>
              <a:t>٣-</a:t>
            </a:r>
            <a:r>
              <a:rPr sz="1281" b="0">
                <a:solidFill>
                  <a:srgbClr val="333333"/>
                </a:solidFill>
                <a:latin typeface="Cairo"/>
                <a:cs typeface="Cairo"/>
              </a:rPr>
              <a:t> أقرأ الفقرة الثانية بالطريقة نفسها</a:t>
            </a:r>
          </a:p>
          <a:p>
            <a:pPr algn="r" rtl="1">
              <a:lnSpc>
                <a:spcPct val="150000"/>
              </a:lnSpc>
            </a:pPr>
            <a:r>
              <a:rPr sz="1281" b="1">
                <a:solidFill>
                  <a:srgbClr val="333333"/>
                </a:solidFill>
                <a:latin typeface="Cairo"/>
                <a:cs typeface="Cairo"/>
              </a:rPr>
              <a:t>٤-</a:t>
            </a:r>
            <a:r>
              <a:rPr sz="1281" b="0">
                <a:solidFill>
                  <a:srgbClr val="333333"/>
                </a:solidFill>
                <a:latin typeface="Cairo"/>
                <a:cs typeface="Cairo"/>
              </a:rPr>
              <a:t> أستعين بهوامش الكتاب وحواشيه عند الكلمات الجديدة</a:t>
            </a:r>
          </a:p>
          <a:p>
            <a:pPr algn="r" rtl="1">
              <a:lnSpc>
                <a:spcPct val="150000"/>
              </a:lnSpc>
            </a:pPr>
            <a:r>
              <a:rPr sz="1281" b="1">
                <a:solidFill>
                  <a:srgbClr val="333333"/>
                </a:solidFill>
                <a:latin typeface="Cairo"/>
                <a:cs typeface="Cairo"/>
              </a:rPr>
              <a:t>٥-</a:t>
            </a:r>
            <a:r>
              <a:rPr sz="1281" b="0">
                <a:solidFill>
                  <a:srgbClr val="333333"/>
                </a:solidFill>
                <a:latin typeface="Cairo"/>
                <a:cs typeface="Cairo"/>
              </a:rPr>
              <a:t> إن صعُبت عليّ كلمة أهجّئها مقطعًا مقطعًا ثم أقرؤها كاملة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600" y="4095750"/>
            <a:ext cx="25146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37" b="1">
                <a:solidFill>
                  <a:srgbClr val="C00000"/>
                </a:solidFill>
                <a:latin typeface="Cairo"/>
                <a:cs typeface="Cairo"/>
              </a:rPr>
              <a:t>قاعدة الجماعة: الإنصات أولًا، ثم الكلّ يقرأ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825" b="1">
                <a:solidFill>
                  <a:srgbClr val="FFFFFF"/>
                </a:solidFill>
                <a:latin typeface="Cairo"/>
                <a:cs typeface="Cairo"/>
              </a:rPr>
              <a:t>نشاط مستقل (1) — المفردات الجديدة: صِلْ الكلمة بمعناها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71500"/>
            <a:ext cx="800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231" b="1">
                <a:solidFill>
                  <a:srgbClr val="335693"/>
                </a:solidFill>
                <a:latin typeface="Cairo"/>
                <a:cs typeface="Cairo"/>
              </a:rPr>
              <a:t>اكتب في دفترك رقمَ الكلمة وحرفَ معناها الصحيح (3 دقائق)، مستعينًا بهامش الكتاب (ص48)، ثم صحّح بنفسك — كل إجابة بنقطة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0" y="1104900"/>
            <a:ext cx="2476500" cy="495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72200" y="1143000"/>
            <a:ext cx="23241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75" b="1">
                <a:solidFill>
                  <a:srgbClr val="335693"/>
                </a:solidFill>
                <a:latin typeface="Cairo"/>
                <a:cs typeface="Cairo"/>
              </a:rPr>
              <a:t>1- مَعَالِم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81650" y="1104900"/>
            <a:ext cx="4572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3356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00700" y="1143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62" b="1">
                <a:solidFill>
                  <a:srgbClr val="C00000"/>
                </a:solidFill>
                <a:latin typeface="Cairo"/>
                <a:cs typeface="Cairo"/>
              </a:rPr>
              <a:t>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" y="1104900"/>
            <a:ext cx="47625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6750" y="1143000"/>
            <a:ext cx="45910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687" b="1">
                <a:solidFill>
                  <a:srgbClr val="333333"/>
                </a:solidFill>
                <a:latin typeface="Cairo"/>
                <a:cs typeface="Cairo"/>
              </a:rPr>
              <a:t>أ-</a:t>
            </a:r>
            <a:r>
              <a:rPr sz="1687" b="0">
                <a:solidFill>
                  <a:srgbClr val="333333"/>
                </a:solidFill>
                <a:latin typeface="Cairo"/>
                <a:cs typeface="Cairo"/>
              </a:rPr>
              <a:t> النظر واستطلاع الأحوال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6000" y="1714500"/>
            <a:ext cx="2476500" cy="495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1752600"/>
            <a:ext cx="23241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75" b="1">
                <a:solidFill>
                  <a:srgbClr val="335693"/>
                </a:solidFill>
                <a:latin typeface="Cairo"/>
                <a:cs typeface="Cairo"/>
              </a:rPr>
              <a:t>2- الاستشراف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1650" y="1714500"/>
            <a:ext cx="4572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3356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00700" y="17526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62" b="1">
                <a:solidFill>
                  <a:srgbClr val="C00000"/>
                </a:solidFill>
                <a:latin typeface="Cairo"/>
                <a:cs typeface="Cairo"/>
              </a:rPr>
              <a:t>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1714500"/>
            <a:ext cx="47625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6750" y="1752600"/>
            <a:ext cx="45910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687" b="1">
                <a:solidFill>
                  <a:srgbClr val="333333"/>
                </a:solidFill>
                <a:latin typeface="Cairo"/>
                <a:cs typeface="Cairo"/>
              </a:rPr>
              <a:t>ب-</a:t>
            </a:r>
            <a:r>
              <a:rPr sz="1687" b="0">
                <a:solidFill>
                  <a:srgbClr val="333333"/>
                </a:solidFill>
                <a:latin typeface="Cairo"/>
                <a:cs typeface="Cairo"/>
              </a:rPr>
              <a:t> نظام حكم يتحكم في كل شؤون الدولة والمجتمع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6000" y="2324100"/>
            <a:ext cx="2476500" cy="495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2362200"/>
            <a:ext cx="23241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75" b="1">
                <a:solidFill>
                  <a:srgbClr val="335693"/>
                </a:solidFill>
                <a:latin typeface="Cairo"/>
                <a:cs typeface="Cairo"/>
              </a:rPr>
              <a:t>3- الشُّموليَّة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81650" y="2324100"/>
            <a:ext cx="4572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3356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00700" y="23622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62" b="1">
                <a:solidFill>
                  <a:srgbClr val="C00000"/>
                </a:solidFill>
                <a:latin typeface="Cairo"/>
                <a:cs typeface="Cairo"/>
              </a:rPr>
              <a:t>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2324100"/>
            <a:ext cx="47625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6750" y="2362200"/>
            <a:ext cx="45910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687" b="1">
                <a:solidFill>
                  <a:srgbClr val="333333"/>
                </a:solidFill>
                <a:latin typeface="Cairo"/>
                <a:cs typeface="Cairo"/>
              </a:rPr>
              <a:t>ج-</a:t>
            </a:r>
            <a:r>
              <a:rPr sz="1687" b="0">
                <a:solidFill>
                  <a:srgbClr val="333333"/>
                </a:solidFill>
                <a:latin typeface="Cairo"/>
                <a:cs typeface="Cairo"/>
              </a:rPr>
              <a:t> جمع مَعْلَم: سمات وملامح تميّز المرحلة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96000" y="2933700"/>
            <a:ext cx="2476500" cy="495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2971800"/>
            <a:ext cx="23241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75" b="1">
                <a:solidFill>
                  <a:srgbClr val="335693"/>
                </a:solidFill>
                <a:latin typeface="Cairo"/>
                <a:cs typeface="Cairo"/>
              </a:rPr>
              <a:t>4- التخطيط المركزي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581650" y="2933700"/>
            <a:ext cx="4572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3356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00700" y="29718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62" b="1">
                <a:solidFill>
                  <a:srgbClr val="C00000"/>
                </a:solidFill>
                <a:latin typeface="Cairo"/>
                <a:cs typeface="Cairo"/>
              </a:rPr>
              <a:t>هـ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2933700"/>
            <a:ext cx="47625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6750" y="2971800"/>
            <a:ext cx="45910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687" b="1">
                <a:solidFill>
                  <a:srgbClr val="333333"/>
                </a:solidFill>
                <a:latin typeface="Cairo"/>
                <a:cs typeface="Cairo"/>
              </a:rPr>
              <a:t>د-</a:t>
            </a:r>
            <a:r>
              <a:rPr sz="1687" b="0">
                <a:solidFill>
                  <a:srgbClr val="333333"/>
                </a:solidFill>
                <a:latin typeface="Cairo"/>
                <a:cs typeface="Cairo"/>
              </a:rPr>
              <a:t> تجمّع عدة دول تعمل كقوة اقتصادية واحدة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96000" y="3543300"/>
            <a:ext cx="2476500" cy="495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72200" y="3581400"/>
            <a:ext cx="23241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25" b="1">
                <a:solidFill>
                  <a:srgbClr val="335693"/>
                </a:solidFill>
                <a:latin typeface="Cairo"/>
                <a:cs typeface="Cairo"/>
              </a:rPr>
              <a:t>5- الاستقطاب الأيديولوجي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581650" y="3543300"/>
            <a:ext cx="4572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3356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00700" y="35814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62" b="1">
                <a:solidFill>
                  <a:srgbClr val="C00000"/>
                </a:solidFill>
                <a:latin typeface="Cairo"/>
                <a:cs typeface="Cairo"/>
              </a:rPr>
              <a:t>و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1500" y="3543300"/>
            <a:ext cx="47625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6750" y="3581400"/>
            <a:ext cx="45910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687" b="1">
                <a:solidFill>
                  <a:srgbClr val="333333"/>
                </a:solidFill>
                <a:latin typeface="Cairo"/>
                <a:cs typeface="Cairo"/>
              </a:rPr>
              <a:t>هـ-</a:t>
            </a:r>
            <a:r>
              <a:rPr sz="1687" b="0">
                <a:solidFill>
                  <a:srgbClr val="333333"/>
                </a:solidFill>
                <a:latin typeface="Cairo"/>
                <a:cs typeface="Cairo"/>
              </a:rPr>
              <a:t> إدارة الدولة للاقتصاد كله من مركز واحد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96000" y="4152900"/>
            <a:ext cx="2476500" cy="495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72200" y="4191000"/>
            <a:ext cx="23241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75" b="1">
                <a:solidFill>
                  <a:srgbClr val="335693"/>
                </a:solidFill>
                <a:latin typeface="Cairo"/>
                <a:cs typeface="Cairo"/>
              </a:rPr>
              <a:t>6- الكُتلة الاقتصادية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581650" y="4152900"/>
            <a:ext cx="4572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3356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00700" y="4191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62" b="1">
                <a:solidFill>
                  <a:srgbClr val="C00000"/>
                </a:solidFill>
                <a:latin typeface="Cairo"/>
                <a:cs typeface="Cairo"/>
              </a:rPr>
              <a:t>د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71500" y="4152900"/>
            <a:ext cx="47625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6750" y="4191000"/>
            <a:ext cx="45910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87" b="1">
                <a:solidFill>
                  <a:srgbClr val="333333"/>
                </a:solidFill>
                <a:latin typeface="Cairo"/>
                <a:cs typeface="Cairo"/>
              </a:rPr>
              <a:t>و-</a:t>
            </a:r>
            <a:r>
              <a:rPr sz="1587" b="0">
                <a:solidFill>
                  <a:srgbClr val="333333"/>
                </a:solidFill>
                <a:latin typeface="Cairo"/>
                <a:cs typeface="Cairo"/>
              </a:rPr>
              <a:t> تجاذب المعسكرين الشرقي والغربي كلًّا إلى طرف مضاد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1500" y="483870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93" b="1">
                <a:solidFill>
                  <a:srgbClr val="C00000"/>
                </a:solidFill>
                <a:latin typeface="Cairo"/>
                <a:cs typeface="Cairo"/>
              </a:rPr>
              <a:t>اضغط لإظهار الحل الصحيح وصحّح إجاباتك بنفسك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  <p:bldP spid="21" grpId="0"/>
      <p:bldP spid="27" grpId="0"/>
      <p:bldP spid="33" grpId="0"/>
      <p:bldP spid="39" grpId="0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825" b="1">
                <a:solidFill>
                  <a:srgbClr val="FFFFFF"/>
                </a:solidFill>
                <a:latin typeface="Cairo"/>
                <a:cs typeface="Cairo"/>
              </a:rPr>
              <a:t>المفردات الجديدة (تابع) — كلمة وجمعها، وكلمة ومضادها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375" b="1">
                <a:solidFill>
                  <a:srgbClr val="335693"/>
                </a:solidFill>
                <a:latin typeface="Cairo"/>
                <a:cs typeface="Cairo"/>
              </a:rPr>
              <a:t>ابحث في الفقرتين (ص48) عن الجمع والمضاد، واكتبهما في دفترك (دقيقتان)، ثم صحّح بالنموذج — نقطتان لكل إجابة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500" y="1123950"/>
            <a:ext cx="1905000" cy="7810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24650" y="1181100"/>
            <a:ext cx="17907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387" b="1">
                <a:solidFill>
                  <a:srgbClr val="335693"/>
                </a:solidFill>
                <a:latin typeface="Cairo"/>
                <a:cs typeface="Cairo"/>
              </a:rPr>
              <a:t>كلمة وجمعها</a:t>
            </a:r>
          </a:p>
          <a:p>
            <a:pPr algn="ctr" rtl="1">
              <a:lnSpc>
                <a:spcPct val="135000"/>
              </a:lnSpc>
            </a:pPr>
            <a:r>
              <a:rPr sz="1387" b="1">
                <a:solidFill>
                  <a:srgbClr val="335693"/>
                </a:solidFill>
                <a:latin typeface="Cairo"/>
                <a:cs typeface="Cairo"/>
              </a:rPr>
              <a:t>ظاهرة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1123950"/>
            <a:ext cx="6000750" cy="7810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6750" y="1181100"/>
            <a:ext cx="581025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687" b="0">
                <a:solidFill>
                  <a:srgbClr val="C00000"/>
                </a:solidFill>
                <a:latin typeface="Cairo"/>
                <a:cs typeface="Cairo"/>
              </a:rPr>
              <a:t>جمعها: ظواهر — «شهِدَ العالمُ بعضَ الظواهر»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500" y="2019300"/>
            <a:ext cx="1905000" cy="7810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4650" y="2076450"/>
            <a:ext cx="17907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387" b="1">
                <a:solidFill>
                  <a:srgbClr val="335693"/>
                </a:solidFill>
                <a:latin typeface="Cairo"/>
                <a:cs typeface="Cairo"/>
              </a:rPr>
              <a:t>كلمة وجمعها</a:t>
            </a:r>
          </a:p>
          <a:p>
            <a:pPr algn="ctr" rtl="1">
              <a:lnSpc>
                <a:spcPct val="135000"/>
              </a:lnSpc>
            </a:pPr>
            <a:r>
              <a:rPr sz="1387" b="1">
                <a:solidFill>
                  <a:srgbClr val="335693"/>
                </a:solidFill>
                <a:latin typeface="Cairo"/>
                <a:cs typeface="Cairo"/>
              </a:rPr>
              <a:t>مَعْلَم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2019300"/>
            <a:ext cx="6000750" cy="7810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6750" y="2076450"/>
            <a:ext cx="581025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687" b="0">
                <a:solidFill>
                  <a:srgbClr val="C00000"/>
                </a:solidFill>
                <a:latin typeface="Cairo"/>
                <a:cs typeface="Cairo"/>
              </a:rPr>
              <a:t>جمعها: مَعَالِم — «مَعَالِم مرحلة التطور الفكري»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7500" y="2914650"/>
            <a:ext cx="1905000" cy="7810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4650" y="2971800"/>
            <a:ext cx="17907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387" b="1">
                <a:solidFill>
                  <a:srgbClr val="335693"/>
                </a:solidFill>
                <a:latin typeface="Cairo"/>
                <a:cs typeface="Cairo"/>
              </a:rPr>
              <a:t>كلمة ومضادها</a:t>
            </a:r>
          </a:p>
          <a:p>
            <a:pPr algn="ctr" rtl="1">
              <a:lnSpc>
                <a:spcPct val="135000"/>
              </a:lnSpc>
            </a:pPr>
            <a:r>
              <a:rPr sz="1387" b="1">
                <a:solidFill>
                  <a:srgbClr val="335693"/>
                </a:solidFill>
                <a:latin typeface="Cairo"/>
                <a:cs typeface="Cairo"/>
              </a:rPr>
              <a:t>الشُّموليَّة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2914650"/>
            <a:ext cx="6000750" cy="7810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6750" y="2971800"/>
            <a:ext cx="581025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37" b="0">
                <a:solidFill>
                  <a:srgbClr val="C00000"/>
                </a:solidFill>
                <a:latin typeface="Cairo"/>
                <a:cs typeface="Cairo"/>
              </a:rPr>
              <a:t>مضادها: التعدُّديَّة — «من الشُّموليَّة السياسيَّة إلى التعدُّديَّة والديمقراطيَّة»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400050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93" b="1">
                <a:solidFill>
                  <a:srgbClr val="C00000"/>
                </a:solidFill>
                <a:latin typeface="Cairo"/>
                <a:cs typeface="Cairo"/>
              </a:rPr>
              <a:t>اضغط لإظهار الإجابة النموذجية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17" grpId="0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125" b="1">
                <a:solidFill>
                  <a:srgbClr val="FFFFFF"/>
                </a:solidFill>
                <a:latin typeface="Cairo"/>
                <a:cs typeface="Cairo"/>
              </a:rPr>
              <a:t>غلق الهدف (2) — وظّف مفرداتك الجديدة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525" b="1">
                <a:solidFill>
                  <a:srgbClr val="335693"/>
                </a:solidFill>
                <a:latin typeface="Cairo"/>
                <a:cs typeface="Cairo"/>
              </a:rPr>
              <a:t>أكمل الجمل الآتية في دفترك بمفردة مناسبة مما تعلمته (3 دقائق)، ثم صحّح بنفسك — كل جملة بنقطتين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1123950"/>
            <a:ext cx="8001000" cy="7048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76500" y="1181100"/>
            <a:ext cx="600075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281" b="0">
                <a:solidFill>
                  <a:srgbClr val="333333"/>
                </a:solidFill>
                <a:latin typeface="Cairo"/>
                <a:cs typeface="Cairo"/>
              </a:rPr>
              <a:t>1- من ______ مرحلةِ التطور الفكري: حديثُ المفكرين عن المستقبل أكثرَ من حديثهم عن الحاضر.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" y="1181100"/>
            <a:ext cx="1714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2062" b="1">
                <a:solidFill>
                  <a:srgbClr val="C00000"/>
                </a:solidFill>
                <a:latin typeface="Cairo"/>
                <a:cs typeface="Cairo"/>
              </a:rPr>
              <a:t>مَعَالِم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" y="1943100"/>
            <a:ext cx="8001000" cy="7048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76500" y="2000250"/>
            <a:ext cx="600075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781" b="0">
                <a:solidFill>
                  <a:srgbClr val="333333"/>
                </a:solidFill>
                <a:latin typeface="Cairo"/>
                <a:cs typeface="Cairo"/>
              </a:rPr>
              <a:t>2- يخطّط العقلاءُ لمستقبلهم بـ______ واستطلاعٍ دقيقٍ للأحوال.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6750" y="2000250"/>
            <a:ext cx="1714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2062" b="1">
                <a:solidFill>
                  <a:srgbClr val="C00000"/>
                </a:solidFill>
                <a:latin typeface="Cairo"/>
                <a:cs typeface="Cairo"/>
              </a:rPr>
              <a:t>الاستشراف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2762250"/>
            <a:ext cx="8001000" cy="7048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76500" y="2819400"/>
            <a:ext cx="600075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381" b="0">
                <a:solidFill>
                  <a:srgbClr val="333333"/>
                </a:solidFill>
                <a:latin typeface="Cairo"/>
                <a:cs typeface="Cairo"/>
              </a:rPr>
              <a:t>3- تحوّلت دولٌ كثيرةٌ في أواخر القرن العشرين من ______ إلى التعدّدية والديمقراطية.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750" y="2819400"/>
            <a:ext cx="1714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2062" b="1">
                <a:solidFill>
                  <a:srgbClr val="C00000"/>
                </a:solidFill>
                <a:latin typeface="Cairo"/>
                <a:cs typeface="Cairo"/>
              </a:rPr>
              <a:t>الشُّموليَّة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373380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93" b="1">
                <a:solidFill>
                  <a:srgbClr val="C00000"/>
                </a:solidFill>
                <a:latin typeface="Cairo"/>
                <a:cs typeface="Cairo"/>
              </a:rPr>
              <a:t>اضغط لإظهار الكلمة المناسبة لكل فراغ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4" grpId="0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825" b="1">
                <a:solidFill>
                  <a:srgbClr val="FFFFFF"/>
                </a:solidFill>
                <a:latin typeface="Cairo"/>
                <a:cs typeface="Cairo"/>
              </a:rPr>
              <a:t>نشاط مستقل (2) — سُلّم الصعود إلى الفكرة: الفقرة الأولى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أجب في دفترك عن هذه الدرجات بالترتيب (3 دقائق) — ستقودك إلى فكرة الفقرة بنفسك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1620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192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١-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عمّاذا صار المفكرون والسياسيون يتحدثون أكثر من حديثهم عن الحاضر؟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0955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1526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25" b="1">
                <a:solidFill>
                  <a:srgbClr val="333333"/>
                </a:solidFill>
                <a:latin typeface="Cairo"/>
                <a:cs typeface="Cairo"/>
              </a:rPr>
              <a:t>٢-</a:t>
            </a:r>
            <a:r>
              <a:rPr sz="1525" b="0">
                <a:solidFill>
                  <a:srgbClr val="333333"/>
                </a:solidFill>
                <a:latin typeface="Cairo"/>
                <a:cs typeface="Cairo"/>
              </a:rPr>
              <a:t> ما الدليلان اللذان ذكرهما الكاتب على صحة ذلك؟ (الخيال الثقافي — الاهتمام بدراسات …؟)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30289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30861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٣-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إلى ماذا يرجع الكاتب سببَ هذا الاهتمام المتزايد بالمستقبل؟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50" y="39624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5375" y="40195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٤-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أكمل بالمعنى: إذا تسارعت التطورات فإن المستقبل ……… الحاضر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800" b="1">
                <a:solidFill>
                  <a:srgbClr val="FFFFFF"/>
                </a:solidFill>
                <a:latin typeface="Cairo"/>
                <a:cs typeface="Cairo"/>
              </a:rPr>
              <a:t>نشاط مستقل (2/تابع) — سُلّم الصعود إلى الفكرة: الفقرة الثانية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أجب في دفترك عن هذه الدرجات بالترتيب (3 دقائق) — ستقودك إلى فكرة الفقرة بنفسك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1620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192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١-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ماذا شهِدَ العالمُ في أواخر القرن العشرين؟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0955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1526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٢-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اذكر من النص تحوُّلين: أحدهما سياسي والآخر اقتصادي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30289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30861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٣-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ما الذي انتهى بين الدولتين الكُبريين؟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50" y="39624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5375" y="40195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٤-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ما الذي بدأ يتشكّل بعد ذلك؟ وما أمثلتُه من النص؟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800" b="1">
                <a:solidFill>
                  <a:srgbClr val="FFFFFF"/>
                </a:solidFill>
                <a:latin typeface="Cairo"/>
                <a:cs typeface="Cairo"/>
              </a:rPr>
              <a:t>المعنى العام والفكرة الرئيسة — حاولتَ بنفسك، والآن قارن بالنموذج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71500"/>
            <a:ext cx="800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425" b="1">
                <a:solidFill>
                  <a:srgbClr val="335693"/>
                </a:solidFill>
                <a:latin typeface="Cairo"/>
                <a:cs typeface="Cairo"/>
              </a:rPr>
              <a:t>اكتب في دفترك المعنى العام والفكرة الرئيسة لكل فقرة (4 دقائق)، ثم اضغط وقارن بإجابتك — قيّم نفسك من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1066800"/>
            <a:ext cx="8001000" cy="323850"/>
          </a:xfrm>
          <a:prstGeom prst="roundRect">
            <a:avLst>
              <a:gd name="adj" fmla="val 8000"/>
            </a:avLst>
          </a:prstGeom>
          <a:solidFill>
            <a:srgbClr val="3356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750" y="1085850"/>
            <a:ext cx="7810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225" b="1">
                <a:solidFill>
                  <a:srgbClr val="FFFFFF"/>
                </a:solidFill>
                <a:latin typeface="Cairo"/>
                <a:cs typeface="Cairo"/>
              </a:rPr>
              <a:t>الفقرة الأولى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1428750"/>
            <a:ext cx="8001000" cy="1314450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270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4375" y="1485900"/>
            <a:ext cx="7715250" cy="1200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81" b="1">
                <a:solidFill>
                  <a:srgbClr val="C00000"/>
                </a:solidFill>
                <a:latin typeface="Cairo"/>
                <a:cs typeface="Cairo"/>
              </a:rPr>
              <a:t>المعنى العام:</a:t>
            </a:r>
            <a:r>
              <a:rPr sz="1681" b="0">
                <a:solidFill>
                  <a:srgbClr val="C00000"/>
                </a:solidFill>
                <a:latin typeface="Cairo"/>
                <a:cs typeface="Cairo"/>
              </a:rPr>
              <a:t> من مَعالم عصرنا انشغالُ المفكرين والسياسيين بالمستقبل أكثر من الحاضر، وتنامي الاهتمام بدراساته بسبب سرعة التطورات.</a:t>
            </a:r>
          </a:p>
          <a:p>
            <a:pPr algn="r" rtl="1">
              <a:lnSpc>
                <a:spcPct val="135000"/>
              </a:lnSpc>
            </a:pPr>
            <a:r>
              <a:rPr sz="1681" b="1">
                <a:solidFill>
                  <a:srgbClr val="C00000"/>
                </a:solidFill>
                <a:latin typeface="Cairo"/>
                <a:cs typeface="Cairo"/>
              </a:rPr>
              <a:t>الفكرة الرئيسة:</a:t>
            </a:r>
            <a:r>
              <a:rPr sz="1681" b="0">
                <a:solidFill>
                  <a:srgbClr val="C00000"/>
                </a:solidFill>
                <a:latin typeface="Cairo"/>
                <a:cs typeface="Cairo"/>
              </a:rPr>
              <a:t> الاستشراف صار سمةَ هذا العصر لتسارُع تطوراته.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" y="2857500"/>
            <a:ext cx="8001000" cy="323850"/>
          </a:xfrm>
          <a:prstGeom prst="roundRect">
            <a:avLst>
              <a:gd name="adj" fmla="val 8000"/>
            </a:avLst>
          </a:prstGeom>
          <a:solidFill>
            <a:srgbClr val="3356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6750" y="2876550"/>
            <a:ext cx="7810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225" b="1">
                <a:solidFill>
                  <a:srgbClr val="FFFFFF"/>
                </a:solidFill>
                <a:latin typeface="Cairo"/>
                <a:cs typeface="Cairo"/>
              </a:rPr>
              <a:t>الفقرة الثانية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3219450"/>
            <a:ext cx="8001000" cy="1314450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270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4375" y="3276600"/>
            <a:ext cx="7715250" cy="1200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31" b="1">
                <a:solidFill>
                  <a:srgbClr val="C00000"/>
                </a:solidFill>
                <a:latin typeface="Cairo"/>
                <a:cs typeface="Cairo"/>
              </a:rPr>
              <a:t>المعنى العام:</a:t>
            </a:r>
            <a:r>
              <a:rPr sz="1631" b="0">
                <a:solidFill>
                  <a:srgbClr val="C00000"/>
                </a:solidFill>
                <a:latin typeface="Cairo"/>
                <a:cs typeface="Cairo"/>
              </a:rPr>
              <a:t> شهِد العالمُ أواخرَ القرن العشرين ظواهرَ كبرى: سقوطُ أنظمة شمولية وتحوُّلُها إلى التعددية، ونهايةُ الحرب الباردة، وبدايةُ نظامٍ عالميٍّ جديد.</a:t>
            </a:r>
          </a:p>
          <a:p>
            <a:pPr algn="r" rtl="1">
              <a:lnSpc>
                <a:spcPct val="135000"/>
              </a:lnSpc>
            </a:pPr>
            <a:r>
              <a:rPr sz="1631" b="1">
                <a:solidFill>
                  <a:srgbClr val="C00000"/>
                </a:solidFill>
                <a:latin typeface="Cairo"/>
                <a:cs typeface="Cairo"/>
              </a:rPr>
              <a:t>الفكرة الرئيسة:</a:t>
            </a:r>
            <a:r>
              <a:rPr sz="1631" b="0">
                <a:solidFill>
                  <a:srgbClr val="C00000"/>
                </a:solidFill>
                <a:latin typeface="Cairo"/>
                <a:cs typeface="Cairo"/>
              </a:rPr>
              <a:t> تحوُّلات أواخر القرن العشرين أنتجت نظامًا عالميًّا جديدًا قائمًا على الكُتل الاقتصادية.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47053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93" b="1">
                <a:solidFill>
                  <a:srgbClr val="C00000"/>
                </a:solidFill>
                <a:latin typeface="Cairo"/>
                <a:cs typeface="Cairo"/>
              </a:rPr>
              <a:t>اضغط لإظهار النموذج — ليس مطلوبًا أن تطابقه، المهم صحة المعنى بأسلوبك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800" b="1">
                <a:solidFill>
                  <a:srgbClr val="FFFFFF"/>
                </a:solidFill>
                <a:latin typeface="Cairo"/>
                <a:cs typeface="Cairo"/>
              </a:rPr>
              <a:t>غلق الهدف (3) — تدريب الكتاب: القراءة والاستيعاب، أولًا 1-2 (ص50)</a:t>
            </a:r>
          </a:p>
        </p:txBody>
      </p:sp>
      <p:pic>
        <p:nvPicPr>
          <p:cNvPr id="5" name="Picture 4" descr="istiia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1705205"/>
            <a:ext cx="8191500" cy="173308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7225" y="3524250"/>
            <a:ext cx="78295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12" b="1">
                <a:solidFill>
                  <a:srgbClr val="335693"/>
                </a:solidFill>
                <a:latin typeface="Cairo"/>
                <a:cs typeface="Cairo"/>
              </a:rPr>
              <a:t>١-</a:t>
            </a:r>
            <a:r>
              <a:rPr sz="1312" b="1">
                <a:solidFill>
                  <a:srgbClr val="335693"/>
                </a:solidFill>
                <a:latin typeface="Cairo"/>
                <a:cs typeface="Cairo"/>
              </a:rPr>
              <a:t> انشغالُ المفكّرين والسياسيين بالمستقبل أكثر من الحاضر، وتنامي الاهتمام بدراساته (الاستشراف)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7225" y="4038600"/>
            <a:ext cx="78295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12" b="1">
                <a:solidFill>
                  <a:srgbClr val="335693"/>
                </a:solidFill>
                <a:latin typeface="Cairo"/>
                <a:cs typeface="Cairo"/>
              </a:rPr>
              <a:t>٢-</a:t>
            </a:r>
            <a:r>
              <a:rPr sz="1312" b="1">
                <a:solidFill>
                  <a:srgbClr val="335693"/>
                </a:solidFill>
                <a:latin typeface="Cairo"/>
                <a:cs typeface="Cairo"/>
              </a:rPr>
              <a:t> أنّ المستقبل صار يقتحم الحاضر بسرعة، فنعيش حالةً من تسارع الزمان وتقاربه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1">
                <a:solidFill>
                  <a:srgbClr val="C00000"/>
                </a:solidFill>
                <a:latin typeface="Cairo"/>
                <a:cs typeface="Cairo"/>
              </a:rPr>
              <a:t>أجب في دفترك أولًا (4 دقائق)، ثم اضغط لإظهار الإجابة النموذجية — يُناقش جماعيًّا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425" b="1">
                <a:solidFill>
                  <a:srgbClr val="FFFFFF"/>
                </a:solidFill>
                <a:latin typeface="Cairo"/>
                <a:cs typeface="Cairo"/>
              </a:rPr>
              <a:t>الختام: لعبة الدرس على منصة كنوز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666750"/>
            <a:ext cx="80010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2812" b="1">
                <a:solidFill>
                  <a:srgbClr val="335693"/>
                </a:solidFill>
                <a:latin typeface="Cairo"/>
                <a:cs typeface="Cairo"/>
              </a:rPr>
              <a:t>🎮 العب لعبة هذا الدرس الآن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181100"/>
            <a:ext cx="8001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687" b="0">
                <a:solidFill>
                  <a:srgbClr val="333333"/>
                </a:solidFill>
                <a:latin typeface="Cairo"/>
                <a:cs typeface="Cairo"/>
              </a:rPr>
              <a:t>امسح الرابط أو افتحه من منصة الصف — أسئلة خُصّت لهذا الدرس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0" y="1666875"/>
            <a:ext cx="6286500" cy="7429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9250" y="1790700"/>
            <a:ext cx="5905500" cy="514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/>
            <a:r>
              <a:rPr sz="2200" b="1" u="sng">
                <a:solidFill>
                  <a:srgbClr val="C00000"/>
                </a:solidFill>
                <a:latin typeface="Cairo"/>
                <a:hlinkClick r:id="rId4"/>
              </a:rPr>
              <a:t>https://uw3vlhc2of5wm.kimi.pro/banks/g12-mustaqbal-1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8750" y="2457450"/>
            <a:ext cx="6286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1406" b="0">
                <a:solidFill>
                  <a:srgbClr val="333333"/>
                </a:solidFill>
                <a:latin typeface="Cairo"/>
                <a:cs typeface="Cairo"/>
              </a:rPr>
              <a:t>انسخ الرابط في متصفح جهازك اللوحي مباشرة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0" y="2857500"/>
            <a:ext cx="6286500" cy="10287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19250" y="2971800"/>
            <a:ext cx="59055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875" b="1">
                <a:solidFill>
                  <a:srgbClr val="335693"/>
                </a:solidFill>
                <a:latin typeface="Cairo"/>
                <a:cs typeface="Cairo"/>
              </a:rPr>
              <a:t>🎓 للمراجعة في المنزل: تدرّب فرديًا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9250" y="3314700"/>
            <a:ext cx="590550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243" b="0">
                <a:solidFill>
                  <a:srgbClr val="333333"/>
                </a:solidFill>
                <a:latin typeface="Cairo"/>
                <a:cs typeface="Cairo"/>
              </a:rPr>
              <a:t>من صفحة اللعبة اضغط «تدرّب فرديًا» — العب وحدك بلا معلم، وتعرّف مستواك بعد كل تدريب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048125"/>
            <a:ext cx="68580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781" b="1">
                <a:solidFill>
                  <a:srgbClr val="C00000"/>
                </a:solidFill>
                <a:latin typeface="Cairo"/>
                <a:cs typeface="Cairo"/>
              </a:rPr>
              <a:t>🏆 أنهِ اللعبة وستعرف المستوى الذي وصلت إليه في هذا الدرس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