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hyperlink" Target="https://uw3vlhc2of5wm.kimi.pro/banks/g12-mustaqbal-2"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cover.jp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5334000" y="1428750"/>
            <a:ext cx="3429000" cy="381000"/>
          </a:xfrm>
          <a:prstGeom prst="rect">
            <a:avLst/>
          </a:prstGeom>
          <a:noFill/>
        </p:spPr>
        <p:txBody>
          <a:bodyPr wrap="square" lIns="0" rIns="0" tIns="0" bIns="0" anchor="ctr">
            <a:spAutoFit/>
          </a:bodyPr>
          <a:lstStyle/>
          <a:p>
            <a:pPr algn="ctr" rtl="1">
              <a:lnSpc>
                <a:spcPct val="135000"/>
              </a:lnSpc>
            </a:pPr>
            <a:r>
              <a:rPr sz="1600" b="1">
                <a:solidFill>
                  <a:srgbClr val="335693"/>
                </a:solidFill>
                <a:latin typeface="Cairo"/>
                <a:cs typeface="Cairo"/>
              </a:rPr>
              <a:t>Year 12</a:t>
            </a:r>
          </a:p>
        </p:txBody>
      </p:sp>
      <p:sp>
        <p:nvSpPr>
          <p:cNvPr id="4" name="TextBox 3"/>
          <p:cNvSpPr txBox="1"/>
          <p:nvPr/>
        </p:nvSpPr>
        <p:spPr>
          <a:xfrm>
            <a:off x="5334000" y="1857375"/>
            <a:ext cx="3429000" cy="381000"/>
          </a:xfrm>
          <a:prstGeom prst="rect">
            <a:avLst/>
          </a:prstGeom>
          <a:noFill/>
        </p:spPr>
        <p:txBody>
          <a:bodyPr wrap="square" lIns="0" rIns="0" tIns="0" bIns="0" anchor="ctr">
            <a:spAutoFit/>
          </a:bodyPr>
          <a:lstStyle/>
          <a:p>
            <a:pPr algn="ctr" rtl="1">
              <a:lnSpc>
                <a:spcPct val="135000"/>
              </a:lnSpc>
            </a:pPr>
            <a:r>
              <a:rPr sz="1600" b="1">
                <a:solidFill>
                  <a:srgbClr val="335693"/>
                </a:solidFill>
                <a:latin typeface="Cairo"/>
                <a:cs typeface="Cairo"/>
              </a:rPr>
              <a:t>Subject: Arabic</a:t>
            </a:r>
          </a:p>
        </p:txBody>
      </p:sp>
      <p:sp>
        <p:nvSpPr>
          <p:cNvPr id="5" name="TextBox 4"/>
          <p:cNvSpPr txBox="1"/>
          <p:nvPr/>
        </p:nvSpPr>
        <p:spPr>
          <a:xfrm>
            <a:off x="5334000" y="2286000"/>
            <a:ext cx="3429000" cy="419100"/>
          </a:xfrm>
          <a:prstGeom prst="rect">
            <a:avLst/>
          </a:prstGeom>
          <a:noFill/>
        </p:spPr>
        <p:txBody>
          <a:bodyPr wrap="square" lIns="0" rIns="0" tIns="0" bIns="0" anchor="ctr">
            <a:spAutoFit/>
          </a:bodyPr>
          <a:lstStyle/>
          <a:p>
            <a:pPr algn="ctr" rtl="1">
              <a:lnSpc>
                <a:spcPct val="135000"/>
              </a:lnSpc>
            </a:pPr>
            <a:r>
              <a:rPr sz="1762" b="1">
                <a:solidFill>
                  <a:srgbClr val="335693"/>
                </a:solidFill>
                <a:latin typeface="Cairo"/>
                <a:cs typeface="Cairo"/>
              </a:rPr>
              <a:t>Lesson: Reading: Mustaqbal 2</a:t>
            </a:r>
          </a:p>
        </p:txBody>
      </p:sp>
      <p:sp>
        <p:nvSpPr>
          <p:cNvPr id="6" name="TextBox 5"/>
          <p:cNvSpPr txBox="1"/>
          <p:nvPr/>
        </p:nvSpPr>
        <p:spPr>
          <a:xfrm>
            <a:off x="1143000" y="3048000"/>
            <a:ext cx="7620000" cy="857250"/>
          </a:xfrm>
          <a:prstGeom prst="rect">
            <a:avLst/>
          </a:prstGeom>
          <a:noFill/>
        </p:spPr>
        <p:txBody>
          <a:bodyPr wrap="square" lIns="0" rIns="0" tIns="0" bIns="0" anchor="ctr">
            <a:spAutoFit/>
          </a:bodyPr>
          <a:lstStyle/>
          <a:p>
            <a:pPr algn="ctr" rtl="1">
              <a:lnSpc>
                <a:spcPct val="125000"/>
              </a:lnSpc>
            </a:pPr>
            <a:r>
              <a:rPr sz="3562" b="1">
                <a:solidFill>
                  <a:srgbClr val="C00000"/>
                </a:solidFill>
                <a:latin typeface="Cairo"/>
                <a:cs typeface="Cairo"/>
              </a:rPr>
              <a:t>القراءة: مستقبل العالم ومكاننا فيه</a:t>
            </a:r>
          </a:p>
        </p:txBody>
      </p:sp>
      <p:sp>
        <p:nvSpPr>
          <p:cNvPr id="7" name="TextBox 6"/>
          <p:cNvSpPr txBox="1"/>
          <p:nvPr/>
        </p:nvSpPr>
        <p:spPr>
          <a:xfrm>
            <a:off x="1143000" y="3952875"/>
            <a:ext cx="7620000" cy="428625"/>
          </a:xfrm>
          <a:prstGeom prst="rect">
            <a:avLst/>
          </a:prstGeom>
          <a:noFill/>
        </p:spPr>
        <p:txBody>
          <a:bodyPr wrap="square" lIns="0" rIns="0" tIns="0" bIns="0" anchor="ctr">
            <a:spAutoFit/>
          </a:bodyPr>
          <a:lstStyle/>
          <a:p>
            <a:pPr algn="ctr" rtl="1">
              <a:lnSpc>
                <a:spcPct val="140000"/>
              </a:lnSpc>
            </a:pPr>
            <a:r>
              <a:rPr sz="1737" b="1">
                <a:solidFill>
                  <a:srgbClr val="335693"/>
                </a:solidFill>
                <a:latin typeface="Cairo"/>
                <a:cs typeface="Cairo"/>
              </a:rPr>
              <a:t>الحصة الثانية — الفقرتان الثالثة والرابعة</a:t>
            </a:r>
          </a:p>
        </p:txBody>
      </p:sp>
      <p:sp>
        <p:nvSpPr>
          <p:cNvPr id="8" name="TextBox 7"/>
          <p:cNvSpPr txBox="1"/>
          <p:nvPr/>
        </p:nvSpPr>
        <p:spPr>
          <a:xfrm>
            <a:off x="1143000" y="4429125"/>
            <a:ext cx="7620000" cy="381000"/>
          </a:xfrm>
          <a:prstGeom prst="rect">
            <a:avLst/>
          </a:prstGeom>
          <a:noFill/>
        </p:spPr>
        <p:txBody>
          <a:bodyPr wrap="square" lIns="0" rIns="0" tIns="0" bIns="0" anchor="ctr">
            <a:spAutoFit/>
          </a:bodyPr>
          <a:lstStyle/>
          <a:p>
            <a:pPr algn="ctr" rtl="1">
              <a:lnSpc>
                <a:spcPct val="140000"/>
              </a:lnSpc>
            </a:pPr>
            <a:r>
              <a:rPr sz="1562" b="0">
                <a:solidFill>
                  <a:srgbClr val="555555"/>
                </a:solidFill>
                <a:latin typeface="Cairo"/>
                <a:cs typeface="Cairo"/>
              </a:rPr>
              <a:t>للدكتور أحمد كمال أبو المجد (بتصرف) — النص الثاني، الوحدة الأولى</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1875" b="1">
                <a:solidFill>
                  <a:srgbClr val="FFFFFF"/>
                </a:solidFill>
                <a:latin typeface="Cairo"/>
                <a:cs typeface="Cairo"/>
              </a:rPr>
              <a:t>أهداف الحصة</a:t>
            </a:r>
          </a:p>
        </p:txBody>
      </p:sp>
      <p:sp>
        <p:nvSpPr>
          <p:cNvPr id="5" name="TextBox 4"/>
          <p:cNvSpPr txBox="1"/>
          <p:nvPr/>
        </p:nvSpPr>
        <p:spPr>
          <a:xfrm>
            <a:off x="571500" y="590550"/>
            <a:ext cx="8001000" cy="419100"/>
          </a:xfrm>
          <a:prstGeom prst="rect">
            <a:avLst/>
          </a:prstGeom>
          <a:noFill/>
        </p:spPr>
        <p:txBody>
          <a:bodyPr wrap="square" lIns="0" rIns="0" tIns="0" bIns="0" anchor="ctr">
            <a:spAutoFit/>
          </a:bodyPr>
          <a:lstStyle/>
          <a:p>
            <a:pPr algn="ctr" rtl="1">
              <a:lnSpc>
                <a:spcPct val="135000"/>
              </a:lnSpc>
            </a:pPr>
            <a:r>
              <a:rPr sz="1787" b="1">
                <a:solidFill>
                  <a:srgbClr val="335693"/>
                </a:solidFill>
                <a:latin typeface="Cairo"/>
                <a:cs typeface="Cairo"/>
              </a:rPr>
              <a:t>في نهاية هذه الحصة سيكون الطالب قادرًا على أن:</a:t>
            </a:r>
          </a:p>
        </p:txBody>
      </p:sp>
      <p:sp>
        <p:nvSpPr>
          <p:cNvPr id="6" name="Rounded Rectangle 5"/>
          <p:cNvSpPr/>
          <p:nvPr/>
        </p:nvSpPr>
        <p:spPr>
          <a:xfrm>
            <a:off x="857250" y="1200150"/>
            <a:ext cx="7429500" cy="87630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5375" y="1257300"/>
            <a:ext cx="6953250" cy="762000"/>
          </a:xfrm>
          <a:prstGeom prst="rect">
            <a:avLst/>
          </a:prstGeom>
          <a:noFill/>
        </p:spPr>
        <p:txBody>
          <a:bodyPr wrap="square" lIns="0" rIns="0" tIns="0" bIns="0" anchor="ctr">
            <a:spAutoFit/>
          </a:bodyPr>
          <a:lstStyle/>
          <a:p>
            <a:pPr algn="r" rtl="1">
              <a:lnSpc>
                <a:spcPct val="135000"/>
              </a:lnSpc>
            </a:pPr>
            <a:r>
              <a:rPr sz="1775" b="1">
                <a:solidFill>
                  <a:srgbClr val="333333"/>
                </a:solidFill>
                <a:latin typeface="Cairo"/>
                <a:cs typeface="Cairo"/>
              </a:rPr>
              <a:t>1-</a:t>
            </a:r>
            <a:r>
              <a:rPr sz="1775" b="0">
                <a:solidFill>
                  <a:srgbClr val="333333"/>
                </a:solidFill>
                <a:latin typeface="Cairo"/>
                <a:cs typeface="Cairo"/>
              </a:rPr>
              <a:t> يقرأَ الفقرتين الثالثة والرابعة قراءةً جهريةً صحيحةً ويضبطَ مفرداتِهما الجديدة</a:t>
            </a:r>
          </a:p>
        </p:txBody>
      </p:sp>
      <p:sp>
        <p:nvSpPr>
          <p:cNvPr id="8" name="Rounded Rectangle 7"/>
          <p:cNvSpPr/>
          <p:nvPr/>
        </p:nvSpPr>
        <p:spPr>
          <a:xfrm>
            <a:off x="857250" y="2190750"/>
            <a:ext cx="7429500" cy="87630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5375" y="2247900"/>
            <a:ext cx="6953250" cy="762000"/>
          </a:xfrm>
          <a:prstGeom prst="rect">
            <a:avLst/>
          </a:prstGeom>
          <a:noFill/>
        </p:spPr>
        <p:txBody>
          <a:bodyPr wrap="square" lIns="0" rIns="0" tIns="0" bIns="0" anchor="ctr">
            <a:spAutoFit/>
          </a:bodyPr>
          <a:lstStyle/>
          <a:p>
            <a:pPr algn="r" rtl="1">
              <a:lnSpc>
                <a:spcPct val="135000"/>
              </a:lnSpc>
            </a:pPr>
            <a:r>
              <a:rPr sz="1875" b="1">
                <a:solidFill>
                  <a:srgbClr val="333333"/>
                </a:solidFill>
                <a:latin typeface="Cairo"/>
                <a:cs typeface="Cairo"/>
              </a:rPr>
              <a:t>2-</a:t>
            </a:r>
            <a:r>
              <a:rPr sz="1875" b="0">
                <a:solidFill>
                  <a:srgbClr val="333333"/>
                </a:solidFill>
                <a:latin typeface="Cairo"/>
                <a:cs typeface="Cairo"/>
              </a:rPr>
              <a:t> يستخرجَ المعنى العام والفكرةَ الرئيسة لكل فقرة من الفقرتين</a:t>
            </a:r>
          </a:p>
        </p:txBody>
      </p:sp>
      <p:sp>
        <p:nvSpPr>
          <p:cNvPr id="10" name="Rounded Rectangle 9"/>
          <p:cNvSpPr/>
          <p:nvPr/>
        </p:nvSpPr>
        <p:spPr>
          <a:xfrm>
            <a:off x="857250" y="3181350"/>
            <a:ext cx="7429500" cy="87630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5375" y="3238500"/>
            <a:ext cx="6953250" cy="762000"/>
          </a:xfrm>
          <a:prstGeom prst="rect">
            <a:avLst/>
          </a:prstGeom>
          <a:noFill/>
        </p:spPr>
        <p:txBody>
          <a:bodyPr wrap="square" lIns="0" rIns="0" tIns="0" bIns="0" anchor="ctr">
            <a:spAutoFit/>
          </a:bodyPr>
          <a:lstStyle/>
          <a:p>
            <a:pPr algn="r" rtl="1">
              <a:lnSpc>
                <a:spcPct val="135000"/>
              </a:lnSpc>
            </a:pPr>
            <a:r>
              <a:rPr sz="1875" b="1">
                <a:solidFill>
                  <a:srgbClr val="333333"/>
                </a:solidFill>
                <a:latin typeface="Cairo"/>
                <a:cs typeface="Cairo"/>
              </a:rPr>
              <a:t>3-</a:t>
            </a:r>
            <a:r>
              <a:rPr sz="1875" b="0">
                <a:solidFill>
                  <a:srgbClr val="333333"/>
                </a:solidFill>
                <a:latin typeface="Cairo"/>
                <a:cs typeface="Cairo"/>
              </a:rPr>
              <a:t> يجيبَ عن تدريبات «لُغة النص» في كتابه مستعينًا بفهمه للنص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1875" b="1">
                <a:solidFill>
                  <a:srgbClr val="FFFFFF"/>
                </a:solidFill>
                <a:latin typeface="Cairo"/>
                <a:cs typeface="Cairo"/>
              </a:rPr>
              <a:t>تدريب علاجي</a:t>
            </a:r>
          </a:p>
        </p:txBody>
      </p:sp>
      <p:sp>
        <p:nvSpPr>
          <p:cNvPr id="5" name="TextBox 4"/>
          <p:cNvSpPr txBox="1"/>
          <p:nvPr/>
        </p:nvSpPr>
        <p:spPr>
          <a:xfrm>
            <a:off x="571500" y="590550"/>
            <a:ext cx="8001000" cy="419100"/>
          </a:xfrm>
          <a:prstGeom prst="rect">
            <a:avLst/>
          </a:prstGeom>
          <a:noFill/>
        </p:spPr>
        <p:txBody>
          <a:bodyPr wrap="square" lIns="0" rIns="0" tIns="0" bIns="0" anchor="ctr">
            <a:spAutoFit/>
          </a:bodyPr>
          <a:lstStyle/>
          <a:p>
            <a:pPr algn="ctr" rtl="1">
              <a:lnSpc>
                <a:spcPct val="135000"/>
              </a:lnSpc>
            </a:pPr>
            <a:r>
              <a:rPr sz="1800" b="1">
                <a:solidFill>
                  <a:srgbClr val="335693"/>
                </a:solidFill>
                <a:latin typeface="Cairo"/>
                <a:cs typeface="Cairo"/>
              </a:rPr>
              <a:t>أسئلة تُنعش ذاكرتك… أجب في دفترك خلال 3 دقائق</a:t>
            </a:r>
          </a:p>
        </p:txBody>
      </p:sp>
      <p:sp>
        <p:nvSpPr>
          <p:cNvPr id="6" name="Rounded Rectangle 5"/>
          <p:cNvSpPr/>
          <p:nvPr/>
        </p:nvSpPr>
        <p:spPr>
          <a:xfrm>
            <a:off x="571500" y="1123950"/>
            <a:ext cx="8001000" cy="1085850"/>
          </a:xfrm>
          <a:prstGeom prst="roundRect">
            <a:avLst>
              <a:gd name="adj" fmla="val 12000"/>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71500" y="1123950"/>
            <a:ext cx="1238250" cy="1085850"/>
          </a:xfrm>
          <a:prstGeom prst="roundRect">
            <a:avLst>
              <a:gd name="adj" fmla="val 12000"/>
            </a:avLst>
          </a:prstGeom>
          <a:solidFill>
            <a:srgbClr val="BF9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0550" y="1200150"/>
            <a:ext cx="1200150" cy="933450"/>
          </a:xfrm>
          <a:prstGeom prst="rect">
            <a:avLst/>
          </a:prstGeom>
          <a:noFill/>
        </p:spPr>
        <p:txBody>
          <a:bodyPr wrap="square" lIns="0" rIns="0" tIns="0" bIns="0" anchor="ctr">
            <a:spAutoFit/>
          </a:bodyPr>
          <a:lstStyle/>
          <a:p>
            <a:pPr algn="ctr" rtl="1">
              <a:lnSpc>
                <a:spcPct val="135000"/>
              </a:lnSpc>
            </a:pPr>
            <a:r>
              <a:rPr sz="1781" b="1">
                <a:solidFill>
                  <a:srgbClr val="FFFFFF"/>
                </a:solidFill>
                <a:latin typeface="Cairo"/>
                <a:cs typeface="Cairo"/>
              </a:rPr>
              <a:t>نقطة</a:t>
            </a:r>
          </a:p>
        </p:txBody>
      </p:sp>
      <p:sp>
        <p:nvSpPr>
          <p:cNvPr id="9" name="TextBox 8"/>
          <p:cNvSpPr txBox="1"/>
          <p:nvPr/>
        </p:nvSpPr>
        <p:spPr>
          <a:xfrm>
            <a:off x="1952625" y="1200150"/>
            <a:ext cx="6477000" cy="933450"/>
          </a:xfrm>
          <a:prstGeom prst="rect">
            <a:avLst/>
          </a:prstGeom>
          <a:noFill/>
        </p:spPr>
        <p:txBody>
          <a:bodyPr wrap="square" lIns="0" rIns="0" tIns="0" bIns="0" anchor="ctr">
            <a:spAutoFit/>
          </a:bodyPr>
          <a:lstStyle/>
          <a:p>
            <a:pPr algn="r" rtl="1">
              <a:lnSpc>
                <a:spcPct val="135000"/>
              </a:lnSpc>
            </a:pPr>
            <a:r>
              <a:rPr sz="1968" b="1">
                <a:solidFill>
                  <a:srgbClr val="333333"/>
                </a:solidFill>
                <a:latin typeface="Cairo"/>
                <a:cs typeface="Cairo"/>
              </a:rPr>
              <a:t>بِمَ انشغل مفكّرو عصرنا: بالحاضر أم بالمستقبل؟</a:t>
            </a:r>
          </a:p>
        </p:txBody>
      </p:sp>
      <p:sp>
        <p:nvSpPr>
          <p:cNvPr id="10" name="Rounded Rectangle 9"/>
          <p:cNvSpPr/>
          <p:nvPr/>
        </p:nvSpPr>
        <p:spPr>
          <a:xfrm>
            <a:off x="571500" y="2343150"/>
            <a:ext cx="8001000" cy="1085850"/>
          </a:xfrm>
          <a:prstGeom prst="roundRect">
            <a:avLst>
              <a:gd name="adj" fmla="val 12000"/>
            </a:avLst>
          </a:prstGeom>
          <a:solidFill>
            <a:srgbClr val="FCE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71500" y="2343150"/>
            <a:ext cx="1238250" cy="1085850"/>
          </a:xfrm>
          <a:prstGeom prst="roundRect">
            <a:avLst>
              <a:gd name="adj" fmla="val 12000"/>
            </a:avLst>
          </a:prstGeom>
          <a:solidFill>
            <a:srgbClr val="BF9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0550" y="2419350"/>
            <a:ext cx="1200150" cy="933450"/>
          </a:xfrm>
          <a:prstGeom prst="rect">
            <a:avLst/>
          </a:prstGeom>
          <a:noFill/>
        </p:spPr>
        <p:txBody>
          <a:bodyPr wrap="square" lIns="0" rIns="0" tIns="0" bIns="0" anchor="ctr">
            <a:spAutoFit/>
          </a:bodyPr>
          <a:lstStyle/>
          <a:p>
            <a:pPr algn="ctr" rtl="1">
              <a:lnSpc>
                <a:spcPct val="135000"/>
              </a:lnSpc>
            </a:pPr>
            <a:r>
              <a:rPr sz="1781" b="1">
                <a:solidFill>
                  <a:srgbClr val="FFFFFF"/>
                </a:solidFill>
                <a:latin typeface="Cairo"/>
                <a:cs typeface="Cairo"/>
              </a:rPr>
              <a:t>نقطتان</a:t>
            </a:r>
          </a:p>
        </p:txBody>
      </p:sp>
      <p:sp>
        <p:nvSpPr>
          <p:cNvPr id="13" name="TextBox 12"/>
          <p:cNvSpPr txBox="1"/>
          <p:nvPr/>
        </p:nvSpPr>
        <p:spPr>
          <a:xfrm>
            <a:off x="1952625" y="2419350"/>
            <a:ext cx="6477000" cy="933450"/>
          </a:xfrm>
          <a:prstGeom prst="rect">
            <a:avLst/>
          </a:prstGeom>
          <a:noFill/>
        </p:spPr>
        <p:txBody>
          <a:bodyPr wrap="square" lIns="0" rIns="0" tIns="0" bIns="0" anchor="ctr">
            <a:spAutoFit/>
          </a:bodyPr>
          <a:lstStyle/>
          <a:p>
            <a:pPr algn="r" rtl="1">
              <a:lnSpc>
                <a:spcPct val="135000"/>
              </a:lnSpc>
            </a:pPr>
            <a:r>
              <a:rPr sz="1968" b="1">
                <a:solidFill>
                  <a:srgbClr val="333333"/>
                </a:solidFill>
                <a:latin typeface="Cairo"/>
                <a:cs typeface="Cairo"/>
              </a:rPr>
              <a:t>ماذا شهِدَ العالم في أواخر القرن العشرين؟</a:t>
            </a:r>
          </a:p>
        </p:txBody>
      </p:sp>
      <p:sp>
        <p:nvSpPr>
          <p:cNvPr id="14" name="Rounded Rectangle 13"/>
          <p:cNvSpPr/>
          <p:nvPr/>
        </p:nvSpPr>
        <p:spPr>
          <a:xfrm>
            <a:off x="571500" y="3562350"/>
            <a:ext cx="8001000" cy="1085850"/>
          </a:xfrm>
          <a:prstGeom prst="roundRect">
            <a:avLst>
              <a:gd name="adj" fmla="val 12000"/>
            </a:avLst>
          </a:prstGeom>
          <a:solidFill>
            <a:srgbClr val="F4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71500" y="3562350"/>
            <a:ext cx="1238250" cy="1085850"/>
          </a:xfrm>
          <a:prstGeom prst="roundRect">
            <a:avLst>
              <a:gd name="adj" fmla="val 12000"/>
            </a:avLst>
          </a:prstGeom>
          <a:solidFill>
            <a:srgbClr val="BF9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0550" y="3638550"/>
            <a:ext cx="1200150" cy="933450"/>
          </a:xfrm>
          <a:prstGeom prst="rect">
            <a:avLst/>
          </a:prstGeom>
          <a:noFill/>
        </p:spPr>
        <p:txBody>
          <a:bodyPr wrap="square" lIns="0" rIns="0" tIns="0" bIns="0" anchor="ctr">
            <a:spAutoFit/>
          </a:bodyPr>
          <a:lstStyle/>
          <a:p>
            <a:pPr algn="ctr" rtl="1">
              <a:lnSpc>
                <a:spcPct val="135000"/>
              </a:lnSpc>
            </a:pPr>
            <a:r>
              <a:rPr sz="1781" b="1">
                <a:solidFill>
                  <a:srgbClr val="FFFFFF"/>
                </a:solidFill>
                <a:latin typeface="Cairo"/>
                <a:cs typeface="Cairo"/>
              </a:rPr>
              <a:t>ثلاث نقاط</a:t>
            </a:r>
          </a:p>
        </p:txBody>
      </p:sp>
      <p:sp>
        <p:nvSpPr>
          <p:cNvPr id="17" name="TextBox 16"/>
          <p:cNvSpPr txBox="1"/>
          <p:nvPr/>
        </p:nvSpPr>
        <p:spPr>
          <a:xfrm>
            <a:off x="1952625" y="3638550"/>
            <a:ext cx="6477000" cy="933450"/>
          </a:xfrm>
          <a:prstGeom prst="rect">
            <a:avLst/>
          </a:prstGeom>
          <a:noFill/>
        </p:spPr>
        <p:txBody>
          <a:bodyPr wrap="square" lIns="0" rIns="0" tIns="0" bIns="0" anchor="ctr">
            <a:spAutoFit/>
          </a:bodyPr>
          <a:lstStyle/>
          <a:p>
            <a:pPr algn="r" rtl="1">
              <a:lnSpc>
                <a:spcPct val="135000"/>
              </a:lnSpc>
            </a:pPr>
            <a:r>
              <a:rPr sz="1968" b="1">
                <a:solidFill>
                  <a:srgbClr val="333333"/>
                </a:solidFill>
                <a:latin typeface="Cairo"/>
                <a:cs typeface="Cairo"/>
              </a:rPr>
              <a:t>توقّع: كيف يكون للعرب دورٌ في مستقبل العالم؟</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1125" b="1">
                <a:solidFill>
                  <a:srgbClr val="FFFFFF"/>
                </a:solidFill>
                <a:latin typeface="Cairo"/>
                <a:cs typeface="Cairo"/>
              </a:rPr>
              <a:t>القراءة الجهرية — الفقرة الثالثة (ص48-49)</a:t>
            </a:r>
          </a:p>
        </p:txBody>
      </p:sp>
      <p:pic>
        <p:nvPicPr>
          <p:cNvPr id="5" name="Picture 4" descr="juz3a.png"/>
          <p:cNvPicPr>
            <a:picLocks noChangeAspect="1"/>
          </p:cNvPicPr>
          <p:nvPr/>
        </p:nvPicPr>
        <p:blipFill>
          <a:blip r:embed="rId4"/>
          <a:stretch>
            <a:fillRect/>
          </a:stretch>
        </p:blipFill>
        <p:spPr>
          <a:xfrm>
            <a:off x="476250" y="695370"/>
            <a:ext cx="8191500" cy="2228760"/>
          </a:xfrm>
          <a:prstGeom prst="rect">
            <a:avLst/>
          </a:prstGeom>
        </p:spPr>
      </p:pic>
      <p:pic>
        <p:nvPicPr>
          <p:cNvPr id="6" name="Picture 5" descr="juz3b.png"/>
          <p:cNvPicPr>
            <a:picLocks noChangeAspect="1"/>
          </p:cNvPicPr>
          <p:nvPr/>
        </p:nvPicPr>
        <p:blipFill>
          <a:blip r:embed="rId5"/>
          <a:stretch>
            <a:fillRect/>
          </a:stretch>
        </p:blipFill>
        <p:spPr>
          <a:xfrm>
            <a:off x="477864" y="2971800"/>
            <a:ext cx="8188271" cy="1143000"/>
          </a:xfrm>
          <a:prstGeom prst="rect">
            <a:avLst/>
          </a:prstGeom>
        </p:spPr>
      </p:pic>
      <p:sp>
        <p:nvSpPr>
          <p:cNvPr id="7" name="TextBox 6"/>
          <p:cNvSpPr txBox="1"/>
          <p:nvPr/>
        </p:nvSpPr>
        <p:spPr>
          <a:xfrm>
            <a:off x="571500" y="4267200"/>
            <a:ext cx="8001000" cy="419100"/>
          </a:xfrm>
          <a:prstGeom prst="rect">
            <a:avLst/>
          </a:prstGeom>
          <a:noFill/>
        </p:spPr>
        <p:txBody>
          <a:bodyPr wrap="square" lIns="0" rIns="0" tIns="0" bIns="0" anchor="ctr">
            <a:spAutoFit/>
          </a:bodyPr>
          <a:lstStyle/>
          <a:p>
            <a:pPr algn="ctr" rtl="1">
              <a:lnSpc>
                <a:spcPct val="130000"/>
              </a:lnSpc>
            </a:pPr>
            <a:r>
              <a:rPr sz="1381" b="1">
                <a:solidFill>
                  <a:srgbClr val="C00000"/>
                </a:solidFill>
                <a:latin typeface="Cairo"/>
                <a:cs typeface="Cairo"/>
              </a:rPr>
              <a:t>أقرأ الفقرة الثالثة قراءةً جهريةً معبّرةً عن معانيها، مراعيًا الضبط والوقفات — وأستعين بهامش الكتاب عند (الانكفاء)</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1225" b="1">
                <a:solidFill>
                  <a:srgbClr val="FFFFFF"/>
                </a:solidFill>
                <a:latin typeface="Cairo"/>
                <a:cs typeface="Cairo"/>
              </a:rPr>
              <a:t>القراءة الجهرية — الفقرة الرابعة (ص49)</a:t>
            </a:r>
          </a:p>
        </p:txBody>
      </p:sp>
      <p:pic>
        <p:nvPicPr>
          <p:cNvPr id="5" name="Picture 4" descr="juz4.png"/>
          <p:cNvPicPr>
            <a:picLocks noChangeAspect="1"/>
          </p:cNvPicPr>
          <p:nvPr/>
        </p:nvPicPr>
        <p:blipFill>
          <a:blip r:embed="rId4"/>
          <a:stretch>
            <a:fillRect/>
          </a:stretch>
        </p:blipFill>
        <p:spPr>
          <a:xfrm>
            <a:off x="190500" y="1847504"/>
            <a:ext cx="5905500" cy="1867591"/>
          </a:xfrm>
          <a:prstGeom prst="rect">
            <a:avLst/>
          </a:prstGeom>
        </p:spPr>
      </p:pic>
      <p:sp>
        <p:nvSpPr>
          <p:cNvPr id="6" name="Rounded Rectangle 5"/>
          <p:cNvSpPr/>
          <p:nvPr/>
        </p:nvSpPr>
        <p:spPr>
          <a:xfrm>
            <a:off x="6210300" y="628650"/>
            <a:ext cx="2743200" cy="4305300"/>
          </a:xfrm>
          <a:prstGeom prst="roundRect">
            <a:avLst>
              <a:gd name="adj" fmla="val 6000"/>
            </a:avLst>
          </a:prstGeom>
          <a:solidFill>
            <a:srgbClr val="F4F7FB"/>
          </a:solidFill>
          <a:ln w="2540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24600" y="742950"/>
            <a:ext cx="2514600" cy="400050"/>
          </a:xfrm>
          <a:prstGeom prst="rect">
            <a:avLst/>
          </a:prstGeom>
          <a:noFill/>
        </p:spPr>
        <p:txBody>
          <a:bodyPr wrap="square" lIns="0" rIns="0" tIns="0" bIns="0" anchor="ctr">
            <a:spAutoFit/>
          </a:bodyPr>
          <a:lstStyle/>
          <a:p>
            <a:pPr algn="ctr" rtl="1">
              <a:lnSpc>
                <a:spcPct val="135000"/>
              </a:lnSpc>
            </a:pPr>
            <a:r>
              <a:rPr sz="1675" b="1">
                <a:solidFill>
                  <a:srgbClr val="335693"/>
                </a:solidFill>
                <a:latin typeface="Cairo"/>
                <a:cs typeface="Cairo"/>
              </a:rPr>
              <a:t>أقرأ الفقرة الرابعة بنفسي</a:t>
            </a:r>
          </a:p>
        </p:txBody>
      </p:sp>
      <p:sp>
        <p:nvSpPr>
          <p:cNvPr id="8" name="TextBox 7"/>
          <p:cNvSpPr txBox="1"/>
          <p:nvPr/>
        </p:nvSpPr>
        <p:spPr>
          <a:xfrm>
            <a:off x="6324600" y="1181100"/>
            <a:ext cx="2514600" cy="2857500"/>
          </a:xfrm>
          <a:prstGeom prst="rect">
            <a:avLst/>
          </a:prstGeom>
          <a:noFill/>
        </p:spPr>
        <p:txBody>
          <a:bodyPr wrap="square" lIns="0" rIns="0" tIns="0" bIns="0" anchor="t">
            <a:spAutoFit/>
          </a:bodyPr>
          <a:lstStyle/>
          <a:p>
            <a:pPr algn="r" rtl="1">
              <a:lnSpc>
                <a:spcPct val="150000"/>
              </a:lnSpc>
            </a:pPr>
            <a:r>
              <a:rPr sz="1181" b="1">
                <a:solidFill>
                  <a:srgbClr val="333333"/>
                </a:solidFill>
                <a:latin typeface="Cairo"/>
                <a:cs typeface="Cairo"/>
              </a:rPr>
              <a:t>١-</a:t>
            </a:r>
            <a:r>
              <a:rPr sz="1181" b="0">
                <a:solidFill>
                  <a:srgbClr val="333333"/>
                </a:solidFill>
                <a:latin typeface="Cairo"/>
                <a:cs typeface="Cairo"/>
              </a:rPr>
              <a:t> أُنصت إلى نمذجة معلّمي لبداية الفقرة</a:t>
            </a:r>
          </a:p>
          <a:p>
            <a:pPr algn="r" rtl="1">
              <a:lnSpc>
                <a:spcPct val="150000"/>
              </a:lnSpc>
            </a:pPr>
            <a:r>
              <a:rPr sz="1181" b="1">
                <a:solidFill>
                  <a:srgbClr val="333333"/>
                </a:solidFill>
                <a:latin typeface="Cairo"/>
                <a:cs typeface="Cairo"/>
              </a:rPr>
              <a:t>٢-</a:t>
            </a:r>
            <a:r>
              <a:rPr sz="1181" b="0">
                <a:solidFill>
                  <a:srgbClr val="333333"/>
                </a:solidFill>
                <a:latin typeface="Cairo"/>
                <a:cs typeface="Cairo"/>
              </a:rPr>
              <a:t> أقرأ الفقرة جهرًا مراعيًا الضبط والوقفات</a:t>
            </a:r>
          </a:p>
          <a:p>
            <a:pPr algn="r" rtl="1">
              <a:lnSpc>
                <a:spcPct val="150000"/>
              </a:lnSpc>
            </a:pPr>
            <a:r>
              <a:rPr sz="1181" b="1">
                <a:solidFill>
                  <a:srgbClr val="333333"/>
                </a:solidFill>
                <a:latin typeface="Cairo"/>
                <a:cs typeface="Cairo"/>
              </a:rPr>
              <a:t>٣-</a:t>
            </a:r>
            <a:r>
              <a:rPr sz="1181" b="0">
                <a:solidFill>
                  <a:srgbClr val="333333"/>
                </a:solidFill>
                <a:latin typeface="Cairo"/>
                <a:cs typeface="Cairo"/>
              </a:rPr>
              <a:t> أستعين بهامش الكتاب عند الكلمات الجديدة (فيَّاض)</a:t>
            </a:r>
          </a:p>
          <a:p>
            <a:pPr algn="r" rtl="1">
              <a:lnSpc>
                <a:spcPct val="150000"/>
              </a:lnSpc>
            </a:pPr>
            <a:r>
              <a:rPr sz="1181" b="1">
                <a:solidFill>
                  <a:srgbClr val="333333"/>
                </a:solidFill>
                <a:latin typeface="Cairo"/>
                <a:cs typeface="Cairo"/>
              </a:rPr>
              <a:t>٤-</a:t>
            </a:r>
            <a:r>
              <a:rPr sz="1181" b="0">
                <a:solidFill>
                  <a:srgbClr val="333333"/>
                </a:solidFill>
                <a:latin typeface="Cairo"/>
                <a:cs typeface="Cairo"/>
              </a:rPr>
              <a:t> أذكر ثلاثًا من قيم الإسلام وردت في الفقرة</a:t>
            </a:r>
          </a:p>
          <a:p>
            <a:pPr algn="r" rtl="1">
              <a:lnSpc>
                <a:spcPct val="150000"/>
              </a:lnSpc>
            </a:pPr>
            <a:r>
              <a:rPr sz="1181" b="1">
                <a:solidFill>
                  <a:srgbClr val="333333"/>
                </a:solidFill>
                <a:latin typeface="Cairo"/>
                <a:cs typeface="Cairo"/>
              </a:rPr>
              <a:t>٥-</a:t>
            </a:r>
            <a:r>
              <a:rPr sz="1181" b="0">
                <a:solidFill>
                  <a:srgbClr val="333333"/>
                </a:solidFill>
                <a:latin typeface="Cairo"/>
                <a:cs typeface="Cairo"/>
              </a:rPr>
              <a:t> إن صعُبت عليّ كلمة أهجّئها مقطعًا مقطعًا ثم أقرؤها كاملة</a:t>
            </a:r>
          </a:p>
        </p:txBody>
      </p:sp>
      <p:sp>
        <p:nvSpPr>
          <p:cNvPr id="9" name="TextBox 8"/>
          <p:cNvSpPr txBox="1"/>
          <p:nvPr/>
        </p:nvSpPr>
        <p:spPr>
          <a:xfrm>
            <a:off x="6324600" y="4095750"/>
            <a:ext cx="2514600" cy="762000"/>
          </a:xfrm>
          <a:prstGeom prst="rect">
            <a:avLst/>
          </a:prstGeom>
          <a:noFill/>
        </p:spPr>
        <p:txBody>
          <a:bodyPr wrap="square" lIns="0" rIns="0" tIns="0" bIns="0" anchor="ctr">
            <a:spAutoFit/>
          </a:bodyPr>
          <a:lstStyle/>
          <a:p>
            <a:pPr algn="ctr" rtl="1">
              <a:lnSpc>
                <a:spcPct val="135000"/>
              </a:lnSpc>
            </a:pPr>
            <a:r>
              <a:rPr sz="1637" b="1">
                <a:solidFill>
                  <a:srgbClr val="C00000"/>
                </a:solidFill>
                <a:latin typeface="Cairo"/>
                <a:cs typeface="Cairo"/>
              </a:rPr>
              <a:t>قاعدة الجماعة: الإنصات أولًا، ثم الكلّ يقرأ</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825" b="1">
                <a:solidFill>
                  <a:srgbClr val="FFFFFF"/>
                </a:solidFill>
                <a:latin typeface="Cairo"/>
                <a:cs typeface="Cairo"/>
              </a:rPr>
              <a:t>نشاط مستقل (1) — المفردات الجديدة: صِلْ الكلمة بمعناها</a:t>
            </a:r>
          </a:p>
        </p:txBody>
      </p:sp>
      <p:sp>
        <p:nvSpPr>
          <p:cNvPr id="5" name="TextBox 4"/>
          <p:cNvSpPr txBox="1"/>
          <p:nvPr/>
        </p:nvSpPr>
        <p:spPr>
          <a:xfrm>
            <a:off x="571500" y="571500"/>
            <a:ext cx="8001000" cy="381000"/>
          </a:xfrm>
          <a:prstGeom prst="rect">
            <a:avLst/>
          </a:prstGeom>
          <a:noFill/>
        </p:spPr>
        <p:txBody>
          <a:bodyPr wrap="square" lIns="0" rIns="0" tIns="0" bIns="0" anchor="ctr">
            <a:spAutoFit/>
          </a:bodyPr>
          <a:lstStyle/>
          <a:p>
            <a:pPr algn="ctr" rtl="1">
              <a:lnSpc>
                <a:spcPct val="135000"/>
              </a:lnSpc>
            </a:pPr>
            <a:r>
              <a:rPr sz="1081" b="1">
                <a:solidFill>
                  <a:srgbClr val="335693"/>
                </a:solidFill>
                <a:latin typeface="Cairo"/>
                <a:cs typeface="Cairo"/>
              </a:rPr>
              <a:t>اكتب في دفترك رقمَ الكلمة وحرفَ معناها الصحيح (3 دقائق)، مستعينًا بهامش الكتاب وسياق النص (ص48-49)، ثم صحّح بنفسك — كل إجابة بنقطة</a:t>
            </a:r>
          </a:p>
        </p:txBody>
      </p:sp>
      <p:sp>
        <p:nvSpPr>
          <p:cNvPr id="6" name="Rounded Rectangle 5"/>
          <p:cNvSpPr/>
          <p:nvPr/>
        </p:nvSpPr>
        <p:spPr>
          <a:xfrm>
            <a:off x="6096000" y="1104900"/>
            <a:ext cx="2476500" cy="49530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72200" y="1143000"/>
            <a:ext cx="2324100" cy="419100"/>
          </a:xfrm>
          <a:prstGeom prst="rect">
            <a:avLst/>
          </a:prstGeom>
          <a:noFill/>
        </p:spPr>
        <p:txBody>
          <a:bodyPr wrap="square" lIns="0" rIns="0" tIns="0" bIns="0" anchor="ctr">
            <a:spAutoFit/>
          </a:bodyPr>
          <a:lstStyle/>
          <a:p>
            <a:pPr algn="ctr" rtl="1">
              <a:lnSpc>
                <a:spcPct val="135000"/>
              </a:lnSpc>
            </a:pPr>
            <a:r>
              <a:rPr sz="1775" b="1">
                <a:solidFill>
                  <a:srgbClr val="335693"/>
                </a:solidFill>
                <a:latin typeface="Cairo"/>
                <a:cs typeface="Cairo"/>
              </a:rPr>
              <a:t>1- الانكفاء</a:t>
            </a:r>
          </a:p>
        </p:txBody>
      </p:sp>
      <p:sp>
        <p:nvSpPr>
          <p:cNvPr id="8" name="Rounded Rectangle 7"/>
          <p:cNvSpPr/>
          <p:nvPr/>
        </p:nvSpPr>
        <p:spPr>
          <a:xfrm>
            <a:off x="5581650" y="1104900"/>
            <a:ext cx="457200" cy="495300"/>
          </a:xfrm>
          <a:prstGeom prst="roundRect">
            <a:avLst>
              <a:gd name="adj" fmla="val 10000"/>
            </a:avLst>
          </a:prstGeom>
          <a:solidFill>
            <a:srgbClr val="FFFFFF"/>
          </a:solidFill>
          <a:ln w="19050">
            <a:solidFill>
              <a:srgbClr val="3356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00700" y="1143000"/>
            <a:ext cx="419100" cy="419100"/>
          </a:xfrm>
          <a:prstGeom prst="rect">
            <a:avLst/>
          </a:prstGeom>
          <a:noFill/>
        </p:spPr>
        <p:txBody>
          <a:bodyPr wrap="square" lIns="0" rIns="0" tIns="0" bIns="0" anchor="ctr">
            <a:spAutoFit/>
          </a:bodyPr>
          <a:lstStyle/>
          <a:p>
            <a:pPr algn="ctr" rtl="1">
              <a:lnSpc>
                <a:spcPct val="135000"/>
              </a:lnSpc>
            </a:pPr>
            <a:r>
              <a:rPr sz="1762" b="1">
                <a:solidFill>
                  <a:srgbClr val="C00000"/>
                </a:solidFill>
                <a:latin typeface="Cairo"/>
                <a:cs typeface="Cairo"/>
              </a:rPr>
              <a:t>ب</a:t>
            </a:r>
          </a:p>
        </p:txBody>
      </p:sp>
      <p:sp>
        <p:nvSpPr>
          <p:cNvPr id="10" name="Rounded Rectangle 9"/>
          <p:cNvSpPr/>
          <p:nvPr/>
        </p:nvSpPr>
        <p:spPr>
          <a:xfrm>
            <a:off x="571500" y="1104900"/>
            <a:ext cx="4762500" cy="495300"/>
          </a:xfrm>
          <a:prstGeom prst="roundRect">
            <a:avLst>
              <a:gd name="adj" fmla="val 10000"/>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6750" y="1143000"/>
            <a:ext cx="4591050" cy="419100"/>
          </a:xfrm>
          <a:prstGeom prst="rect">
            <a:avLst/>
          </a:prstGeom>
          <a:noFill/>
        </p:spPr>
        <p:txBody>
          <a:bodyPr wrap="square" lIns="0" rIns="0" tIns="0" bIns="0" anchor="ctr">
            <a:spAutoFit/>
          </a:bodyPr>
          <a:lstStyle/>
          <a:p>
            <a:pPr algn="r" rtl="1">
              <a:lnSpc>
                <a:spcPct val="115000"/>
              </a:lnSpc>
            </a:pPr>
            <a:r>
              <a:rPr sz="1687" b="1">
                <a:solidFill>
                  <a:srgbClr val="333333"/>
                </a:solidFill>
                <a:latin typeface="Cairo"/>
                <a:cs typeface="Cairo"/>
              </a:rPr>
              <a:t>أ-</a:t>
            </a:r>
            <a:r>
              <a:rPr sz="1687" b="0">
                <a:solidFill>
                  <a:srgbClr val="333333"/>
                </a:solidFill>
                <a:latin typeface="Cairo"/>
                <a:cs typeface="Cairo"/>
              </a:rPr>
              <a:t> القوى الكبرى صاحبة النفوذ والقرار</a:t>
            </a:r>
          </a:p>
        </p:txBody>
      </p:sp>
      <p:sp>
        <p:nvSpPr>
          <p:cNvPr id="12" name="Rounded Rectangle 11"/>
          <p:cNvSpPr/>
          <p:nvPr/>
        </p:nvSpPr>
        <p:spPr>
          <a:xfrm>
            <a:off x="6096000" y="1714500"/>
            <a:ext cx="2476500" cy="49530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200" y="1752600"/>
            <a:ext cx="2324100" cy="419100"/>
          </a:xfrm>
          <a:prstGeom prst="rect">
            <a:avLst/>
          </a:prstGeom>
          <a:noFill/>
        </p:spPr>
        <p:txBody>
          <a:bodyPr wrap="square" lIns="0" rIns="0" tIns="0" bIns="0" anchor="ctr">
            <a:spAutoFit/>
          </a:bodyPr>
          <a:lstStyle/>
          <a:p>
            <a:pPr algn="ctr" rtl="1">
              <a:lnSpc>
                <a:spcPct val="135000"/>
              </a:lnSpc>
            </a:pPr>
            <a:r>
              <a:rPr sz="1775" b="1">
                <a:solidFill>
                  <a:srgbClr val="335693"/>
                </a:solidFill>
                <a:latin typeface="Cairo"/>
                <a:cs typeface="Cairo"/>
              </a:rPr>
              <a:t>2- فيَّاض</a:t>
            </a:r>
          </a:p>
        </p:txBody>
      </p:sp>
      <p:sp>
        <p:nvSpPr>
          <p:cNvPr id="14" name="Rounded Rectangle 13"/>
          <p:cNvSpPr/>
          <p:nvPr/>
        </p:nvSpPr>
        <p:spPr>
          <a:xfrm>
            <a:off x="5581650" y="1714500"/>
            <a:ext cx="457200" cy="495300"/>
          </a:xfrm>
          <a:prstGeom prst="roundRect">
            <a:avLst>
              <a:gd name="adj" fmla="val 10000"/>
            </a:avLst>
          </a:prstGeom>
          <a:solidFill>
            <a:srgbClr val="FFFFFF"/>
          </a:solidFill>
          <a:ln w="19050">
            <a:solidFill>
              <a:srgbClr val="3356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00700" y="1752600"/>
            <a:ext cx="419100" cy="419100"/>
          </a:xfrm>
          <a:prstGeom prst="rect">
            <a:avLst/>
          </a:prstGeom>
          <a:noFill/>
        </p:spPr>
        <p:txBody>
          <a:bodyPr wrap="square" lIns="0" rIns="0" tIns="0" bIns="0" anchor="ctr">
            <a:spAutoFit/>
          </a:bodyPr>
          <a:lstStyle/>
          <a:p>
            <a:pPr algn="ctr" rtl="1">
              <a:lnSpc>
                <a:spcPct val="135000"/>
              </a:lnSpc>
            </a:pPr>
            <a:r>
              <a:rPr sz="1762" b="1">
                <a:solidFill>
                  <a:srgbClr val="C00000"/>
                </a:solidFill>
                <a:latin typeface="Cairo"/>
                <a:cs typeface="Cairo"/>
              </a:rPr>
              <a:t>و</a:t>
            </a:r>
          </a:p>
        </p:txBody>
      </p:sp>
      <p:sp>
        <p:nvSpPr>
          <p:cNvPr id="16" name="Rounded Rectangle 15"/>
          <p:cNvSpPr/>
          <p:nvPr/>
        </p:nvSpPr>
        <p:spPr>
          <a:xfrm>
            <a:off x="571500" y="1714500"/>
            <a:ext cx="4762500" cy="495300"/>
          </a:xfrm>
          <a:prstGeom prst="roundRect">
            <a:avLst>
              <a:gd name="adj" fmla="val 10000"/>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6750" y="1752600"/>
            <a:ext cx="4591050" cy="419100"/>
          </a:xfrm>
          <a:prstGeom prst="rect">
            <a:avLst/>
          </a:prstGeom>
          <a:noFill/>
        </p:spPr>
        <p:txBody>
          <a:bodyPr wrap="square" lIns="0" rIns="0" tIns="0" bIns="0" anchor="ctr">
            <a:spAutoFit/>
          </a:bodyPr>
          <a:lstStyle/>
          <a:p>
            <a:pPr algn="r" rtl="1">
              <a:lnSpc>
                <a:spcPct val="115000"/>
              </a:lnSpc>
            </a:pPr>
            <a:r>
              <a:rPr sz="1687" b="1">
                <a:solidFill>
                  <a:srgbClr val="333333"/>
                </a:solidFill>
                <a:latin typeface="Cairo"/>
                <a:cs typeface="Cairo"/>
              </a:rPr>
              <a:t>ب-</a:t>
            </a:r>
            <a:r>
              <a:rPr sz="1687" b="0">
                <a:solidFill>
                  <a:srgbClr val="333333"/>
                </a:solidFill>
                <a:latin typeface="Cairo"/>
                <a:cs typeface="Cairo"/>
              </a:rPr>
              <a:t> الرجوع والانسحاب إلى الوراء</a:t>
            </a:r>
          </a:p>
        </p:txBody>
      </p:sp>
      <p:sp>
        <p:nvSpPr>
          <p:cNvPr id="18" name="Rounded Rectangle 17"/>
          <p:cNvSpPr/>
          <p:nvPr/>
        </p:nvSpPr>
        <p:spPr>
          <a:xfrm>
            <a:off x="6096000" y="2324100"/>
            <a:ext cx="2476500" cy="49530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72200" y="2362200"/>
            <a:ext cx="2324100" cy="419100"/>
          </a:xfrm>
          <a:prstGeom prst="rect">
            <a:avLst/>
          </a:prstGeom>
          <a:noFill/>
        </p:spPr>
        <p:txBody>
          <a:bodyPr wrap="square" lIns="0" rIns="0" tIns="0" bIns="0" anchor="ctr">
            <a:spAutoFit/>
          </a:bodyPr>
          <a:lstStyle/>
          <a:p>
            <a:pPr algn="ctr" rtl="1">
              <a:lnSpc>
                <a:spcPct val="135000"/>
              </a:lnSpc>
            </a:pPr>
            <a:r>
              <a:rPr sz="1775" b="1">
                <a:solidFill>
                  <a:srgbClr val="335693"/>
                </a:solidFill>
                <a:latin typeface="Cairo"/>
                <a:cs typeface="Cairo"/>
              </a:rPr>
              <a:t>3- مَوْجَة فكريَّة</a:t>
            </a:r>
          </a:p>
        </p:txBody>
      </p:sp>
      <p:sp>
        <p:nvSpPr>
          <p:cNvPr id="20" name="Rounded Rectangle 19"/>
          <p:cNvSpPr/>
          <p:nvPr/>
        </p:nvSpPr>
        <p:spPr>
          <a:xfrm>
            <a:off x="5581650" y="2324100"/>
            <a:ext cx="457200" cy="495300"/>
          </a:xfrm>
          <a:prstGeom prst="roundRect">
            <a:avLst>
              <a:gd name="adj" fmla="val 10000"/>
            </a:avLst>
          </a:prstGeom>
          <a:solidFill>
            <a:srgbClr val="FFFFFF"/>
          </a:solidFill>
          <a:ln w="19050">
            <a:solidFill>
              <a:srgbClr val="3356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00700" y="2362200"/>
            <a:ext cx="419100" cy="419100"/>
          </a:xfrm>
          <a:prstGeom prst="rect">
            <a:avLst/>
          </a:prstGeom>
          <a:noFill/>
        </p:spPr>
        <p:txBody>
          <a:bodyPr wrap="square" lIns="0" rIns="0" tIns="0" bIns="0" anchor="ctr">
            <a:spAutoFit/>
          </a:bodyPr>
          <a:lstStyle/>
          <a:p>
            <a:pPr algn="ctr" rtl="1">
              <a:lnSpc>
                <a:spcPct val="135000"/>
              </a:lnSpc>
            </a:pPr>
            <a:r>
              <a:rPr sz="1762" b="1">
                <a:solidFill>
                  <a:srgbClr val="C00000"/>
                </a:solidFill>
                <a:latin typeface="Cairo"/>
                <a:cs typeface="Cairo"/>
              </a:rPr>
              <a:t>د</a:t>
            </a:r>
          </a:p>
        </p:txBody>
      </p:sp>
      <p:sp>
        <p:nvSpPr>
          <p:cNvPr id="22" name="Rounded Rectangle 21"/>
          <p:cNvSpPr/>
          <p:nvPr/>
        </p:nvSpPr>
        <p:spPr>
          <a:xfrm>
            <a:off x="571500" y="2324100"/>
            <a:ext cx="4762500" cy="495300"/>
          </a:xfrm>
          <a:prstGeom prst="roundRect">
            <a:avLst>
              <a:gd name="adj" fmla="val 10000"/>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6750" y="2362200"/>
            <a:ext cx="4591050" cy="419100"/>
          </a:xfrm>
          <a:prstGeom prst="rect">
            <a:avLst/>
          </a:prstGeom>
          <a:noFill/>
        </p:spPr>
        <p:txBody>
          <a:bodyPr wrap="square" lIns="0" rIns="0" tIns="0" bIns="0" anchor="ctr">
            <a:spAutoFit/>
          </a:bodyPr>
          <a:lstStyle/>
          <a:p>
            <a:pPr algn="r" rtl="1">
              <a:lnSpc>
                <a:spcPct val="115000"/>
              </a:lnSpc>
            </a:pPr>
            <a:r>
              <a:rPr sz="1687" b="1">
                <a:solidFill>
                  <a:srgbClr val="333333"/>
                </a:solidFill>
                <a:latin typeface="Cairo"/>
                <a:cs typeface="Cairo"/>
              </a:rPr>
              <a:t>ج-</a:t>
            </a:r>
            <a:r>
              <a:rPr sz="1687" b="0">
                <a:solidFill>
                  <a:srgbClr val="333333"/>
                </a:solidFill>
                <a:latin typeface="Cairo"/>
                <a:cs typeface="Cairo"/>
              </a:rPr>
              <a:t> أساس قاعديّ يُبنى عليه</a:t>
            </a:r>
          </a:p>
        </p:txBody>
      </p:sp>
      <p:sp>
        <p:nvSpPr>
          <p:cNvPr id="24" name="Rounded Rectangle 23"/>
          <p:cNvSpPr/>
          <p:nvPr/>
        </p:nvSpPr>
        <p:spPr>
          <a:xfrm>
            <a:off x="6096000" y="2933700"/>
            <a:ext cx="2476500" cy="49530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72200" y="2971800"/>
            <a:ext cx="2324100" cy="419100"/>
          </a:xfrm>
          <a:prstGeom prst="rect">
            <a:avLst/>
          </a:prstGeom>
          <a:noFill/>
        </p:spPr>
        <p:txBody>
          <a:bodyPr wrap="square" lIns="0" rIns="0" tIns="0" bIns="0" anchor="ctr">
            <a:spAutoFit/>
          </a:bodyPr>
          <a:lstStyle/>
          <a:p>
            <a:pPr algn="ctr" rtl="1">
              <a:lnSpc>
                <a:spcPct val="135000"/>
              </a:lnSpc>
            </a:pPr>
            <a:r>
              <a:rPr sz="1775" b="1">
                <a:solidFill>
                  <a:srgbClr val="335693"/>
                </a:solidFill>
                <a:latin typeface="Cairo"/>
                <a:cs typeface="Cairo"/>
              </a:rPr>
              <a:t>4- أقطاب</a:t>
            </a:r>
          </a:p>
        </p:txBody>
      </p:sp>
      <p:sp>
        <p:nvSpPr>
          <p:cNvPr id="26" name="Rounded Rectangle 25"/>
          <p:cNvSpPr/>
          <p:nvPr/>
        </p:nvSpPr>
        <p:spPr>
          <a:xfrm>
            <a:off x="5581650" y="2933700"/>
            <a:ext cx="457200" cy="495300"/>
          </a:xfrm>
          <a:prstGeom prst="roundRect">
            <a:avLst>
              <a:gd name="adj" fmla="val 10000"/>
            </a:avLst>
          </a:prstGeom>
          <a:solidFill>
            <a:srgbClr val="FFFFFF"/>
          </a:solidFill>
          <a:ln w="19050">
            <a:solidFill>
              <a:srgbClr val="3356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00700" y="2971800"/>
            <a:ext cx="419100" cy="419100"/>
          </a:xfrm>
          <a:prstGeom prst="rect">
            <a:avLst/>
          </a:prstGeom>
          <a:noFill/>
        </p:spPr>
        <p:txBody>
          <a:bodyPr wrap="square" lIns="0" rIns="0" tIns="0" bIns="0" anchor="ctr">
            <a:spAutoFit/>
          </a:bodyPr>
          <a:lstStyle/>
          <a:p>
            <a:pPr algn="ctr" rtl="1">
              <a:lnSpc>
                <a:spcPct val="135000"/>
              </a:lnSpc>
            </a:pPr>
            <a:r>
              <a:rPr sz="1762" b="1">
                <a:solidFill>
                  <a:srgbClr val="C00000"/>
                </a:solidFill>
                <a:latin typeface="Cairo"/>
                <a:cs typeface="Cairo"/>
              </a:rPr>
              <a:t>أ</a:t>
            </a:r>
          </a:p>
        </p:txBody>
      </p:sp>
      <p:sp>
        <p:nvSpPr>
          <p:cNvPr id="28" name="Rounded Rectangle 27"/>
          <p:cNvSpPr/>
          <p:nvPr/>
        </p:nvSpPr>
        <p:spPr>
          <a:xfrm>
            <a:off x="571500" y="2933700"/>
            <a:ext cx="4762500" cy="495300"/>
          </a:xfrm>
          <a:prstGeom prst="roundRect">
            <a:avLst>
              <a:gd name="adj" fmla="val 10000"/>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6750" y="2971800"/>
            <a:ext cx="4591050" cy="419100"/>
          </a:xfrm>
          <a:prstGeom prst="rect">
            <a:avLst/>
          </a:prstGeom>
          <a:noFill/>
        </p:spPr>
        <p:txBody>
          <a:bodyPr wrap="square" lIns="0" rIns="0" tIns="0" bIns="0" anchor="ctr">
            <a:spAutoFit/>
          </a:bodyPr>
          <a:lstStyle/>
          <a:p>
            <a:pPr algn="r" rtl="1">
              <a:lnSpc>
                <a:spcPct val="115000"/>
              </a:lnSpc>
            </a:pPr>
            <a:r>
              <a:rPr sz="1687" b="1">
                <a:solidFill>
                  <a:srgbClr val="333333"/>
                </a:solidFill>
                <a:latin typeface="Cairo"/>
                <a:cs typeface="Cairo"/>
              </a:rPr>
              <a:t>د-</a:t>
            </a:r>
            <a:r>
              <a:rPr sz="1687" b="0">
                <a:solidFill>
                  <a:srgbClr val="333333"/>
                </a:solidFill>
                <a:latin typeface="Cairo"/>
                <a:cs typeface="Cairo"/>
              </a:rPr>
              <a:t> تيّار فكريّ واسع الانتشار</a:t>
            </a:r>
          </a:p>
        </p:txBody>
      </p:sp>
      <p:sp>
        <p:nvSpPr>
          <p:cNvPr id="30" name="Rounded Rectangle 29"/>
          <p:cNvSpPr/>
          <p:nvPr/>
        </p:nvSpPr>
        <p:spPr>
          <a:xfrm>
            <a:off x="6096000" y="3543300"/>
            <a:ext cx="2476500" cy="49530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72200" y="3581400"/>
            <a:ext cx="2324100" cy="419100"/>
          </a:xfrm>
          <a:prstGeom prst="rect">
            <a:avLst/>
          </a:prstGeom>
          <a:noFill/>
        </p:spPr>
        <p:txBody>
          <a:bodyPr wrap="square" lIns="0" rIns="0" tIns="0" bIns="0" anchor="ctr">
            <a:spAutoFit/>
          </a:bodyPr>
          <a:lstStyle/>
          <a:p>
            <a:pPr algn="ctr" rtl="1">
              <a:lnSpc>
                <a:spcPct val="135000"/>
              </a:lnSpc>
            </a:pPr>
            <a:r>
              <a:rPr sz="1775" b="1">
                <a:solidFill>
                  <a:srgbClr val="335693"/>
                </a:solidFill>
                <a:latin typeface="Cairo"/>
                <a:cs typeface="Cairo"/>
              </a:rPr>
              <a:t>5- التكافُل</a:t>
            </a:r>
          </a:p>
        </p:txBody>
      </p:sp>
      <p:sp>
        <p:nvSpPr>
          <p:cNvPr id="32" name="Rounded Rectangle 31"/>
          <p:cNvSpPr/>
          <p:nvPr/>
        </p:nvSpPr>
        <p:spPr>
          <a:xfrm>
            <a:off x="5581650" y="3543300"/>
            <a:ext cx="457200" cy="495300"/>
          </a:xfrm>
          <a:prstGeom prst="roundRect">
            <a:avLst>
              <a:gd name="adj" fmla="val 10000"/>
            </a:avLst>
          </a:prstGeom>
          <a:solidFill>
            <a:srgbClr val="FFFFFF"/>
          </a:solidFill>
          <a:ln w="19050">
            <a:solidFill>
              <a:srgbClr val="3356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00700" y="3581400"/>
            <a:ext cx="419100" cy="419100"/>
          </a:xfrm>
          <a:prstGeom prst="rect">
            <a:avLst/>
          </a:prstGeom>
          <a:noFill/>
        </p:spPr>
        <p:txBody>
          <a:bodyPr wrap="square" lIns="0" rIns="0" tIns="0" bIns="0" anchor="ctr">
            <a:spAutoFit/>
          </a:bodyPr>
          <a:lstStyle/>
          <a:p>
            <a:pPr algn="ctr" rtl="1">
              <a:lnSpc>
                <a:spcPct val="135000"/>
              </a:lnSpc>
            </a:pPr>
            <a:r>
              <a:rPr sz="1762" b="1">
                <a:solidFill>
                  <a:srgbClr val="C00000"/>
                </a:solidFill>
                <a:latin typeface="Cairo"/>
                <a:cs typeface="Cairo"/>
              </a:rPr>
              <a:t>هـ</a:t>
            </a:r>
          </a:p>
        </p:txBody>
      </p:sp>
      <p:sp>
        <p:nvSpPr>
          <p:cNvPr id="34" name="Rounded Rectangle 33"/>
          <p:cNvSpPr/>
          <p:nvPr/>
        </p:nvSpPr>
        <p:spPr>
          <a:xfrm>
            <a:off x="571500" y="3543300"/>
            <a:ext cx="4762500" cy="495300"/>
          </a:xfrm>
          <a:prstGeom prst="roundRect">
            <a:avLst>
              <a:gd name="adj" fmla="val 10000"/>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6750" y="3581400"/>
            <a:ext cx="4591050" cy="419100"/>
          </a:xfrm>
          <a:prstGeom prst="rect">
            <a:avLst/>
          </a:prstGeom>
          <a:noFill/>
        </p:spPr>
        <p:txBody>
          <a:bodyPr wrap="square" lIns="0" rIns="0" tIns="0" bIns="0" anchor="ctr">
            <a:spAutoFit/>
          </a:bodyPr>
          <a:lstStyle/>
          <a:p>
            <a:pPr algn="r" rtl="1">
              <a:lnSpc>
                <a:spcPct val="115000"/>
              </a:lnSpc>
            </a:pPr>
            <a:r>
              <a:rPr sz="1687" b="1">
                <a:solidFill>
                  <a:srgbClr val="333333"/>
                </a:solidFill>
                <a:latin typeface="Cairo"/>
                <a:cs typeface="Cairo"/>
              </a:rPr>
              <a:t>هـ-</a:t>
            </a:r>
            <a:r>
              <a:rPr sz="1687" b="0">
                <a:solidFill>
                  <a:srgbClr val="333333"/>
                </a:solidFill>
                <a:latin typeface="Cairo"/>
                <a:cs typeface="Cairo"/>
              </a:rPr>
              <a:t> التضامن والتعاون بين الناس</a:t>
            </a:r>
          </a:p>
        </p:txBody>
      </p:sp>
      <p:sp>
        <p:nvSpPr>
          <p:cNvPr id="36" name="Rounded Rectangle 35"/>
          <p:cNvSpPr/>
          <p:nvPr/>
        </p:nvSpPr>
        <p:spPr>
          <a:xfrm>
            <a:off x="6096000" y="4152900"/>
            <a:ext cx="2476500" cy="49530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72200" y="4191000"/>
            <a:ext cx="2324100" cy="419100"/>
          </a:xfrm>
          <a:prstGeom prst="rect">
            <a:avLst/>
          </a:prstGeom>
          <a:noFill/>
        </p:spPr>
        <p:txBody>
          <a:bodyPr wrap="square" lIns="0" rIns="0" tIns="0" bIns="0" anchor="ctr">
            <a:spAutoFit/>
          </a:bodyPr>
          <a:lstStyle/>
          <a:p>
            <a:pPr algn="ctr" rtl="1">
              <a:lnSpc>
                <a:spcPct val="135000"/>
              </a:lnSpc>
            </a:pPr>
            <a:r>
              <a:rPr sz="1775" b="1">
                <a:solidFill>
                  <a:srgbClr val="335693"/>
                </a:solidFill>
                <a:latin typeface="Cairo"/>
                <a:cs typeface="Cairo"/>
              </a:rPr>
              <a:t>6- بنية تحتيَّة</a:t>
            </a:r>
          </a:p>
        </p:txBody>
      </p:sp>
      <p:sp>
        <p:nvSpPr>
          <p:cNvPr id="38" name="Rounded Rectangle 37"/>
          <p:cNvSpPr/>
          <p:nvPr/>
        </p:nvSpPr>
        <p:spPr>
          <a:xfrm>
            <a:off x="5581650" y="4152900"/>
            <a:ext cx="457200" cy="495300"/>
          </a:xfrm>
          <a:prstGeom prst="roundRect">
            <a:avLst>
              <a:gd name="adj" fmla="val 10000"/>
            </a:avLst>
          </a:prstGeom>
          <a:solidFill>
            <a:srgbClr val="FFFFFF"/>
          </a:solidFill>
          <a:ln w="19050">
            <a:solidFill>
              <a:srgbClr val="3356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00700" y="4191000"/>
            <a:ext cx="419100" cy="419100"/>
          </a:xfrm>
          <a:prstGeom prst="rect">
            <a:avLst/>
          </a:prstGeom>
          <a:noFill/>
        </p:spPr>
        <p:txBody>
          <a:bodyPr wrap="square" lIns="0" rIns="0" tIns="0" bIns="0" anchor="ctr">
            <a:spAutoFit/>
          </a:bodyPr>
          <a:lstStyle/>
          <a:p>
            <a:pPr algn="ctr" rtl="1">
              <a:lnSpc>
                <a:spcPct val="135000"/>
              </a:lnSpc>
            </a:pPr>
            <a:r>
              <a:rPr sz="1762" b="1">
                <a:solidFill>
                  <a:srgbClr val="C00000"/>
                </a:solidFill>
                <a:latin typeface="Cairo"/>
                <a:cs typeface="Cairo"/>
              </a:rPr>
              <a:t>ج</a:t>
            </a:r>
          </a:p>
        </p:txBody>
      </p:sp>
      <p:sp>
        <p:nvSpPr>
          <p:cNvPr id="40" name="Rounded Rectangle 39"/>
          <p:cNvSpPr/>
          <p:nvPr/>
        </p:nvSpPr>
        <p:spPr>
          <a:xfrm>
            <a:off x="571500" y="4152900"/>
            <a:ext cx="4762500" cy="495300"/>
          </a:xfrm>
          <a:prstGeom prst="roundRect">
            <a:avLst>
              <a:gd name="adj" fmla="val 10000"/>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6750" y="4191000"/>
            <a:ext cx="4591050" cy="419100"/>
          </a:xfrm>
          <a:prstGeom prst="rect">
            <a:avLst/>
          </a:prstGeom>
          <a:noFill/>
        </p:spPr>
        <p:txBody>
          <a:bodyPr wrap="square" lIns="0" rIns="0" tIns="0" bIns="0" anchor="ctr">
            <a:spAutoFit/>
          </a:bodyPr>
          <a:lstStyle/>
          <a:p>
            <a:pPr algn="r" rtl="1">
              <a:lnSpc>
                <a:spcPct val="115000"/>
              </a:lnSpc>
            </a:pPr>
            <a:r>
              <a:rPr sz="1687" b="1">
                <a:solidFill>
                  <a:srgbClr val="333333"/>
                </a:solidFill>
                <a:latin typeface="Cairo"/>
                <a:cs typeface="Cairo"/>
              </a:rPr>
              <a:t>و-</a:t>
            </a:r>
            <a:r>
              <a:rPr sz="1687" b="0">
                <a:solidFill>
                  <a:srgbClr val="333333"/>
                </a:solidFill>
                <a:latin typeface="Cairo"/>
                <a:cs typeface="Cairo"/>
              </a:rPr>
              <a:t> كثير الماء</a:t>
            </a:r>
          </a:p>
        </p:txBody>
      </p:sp>
      <p:sp>
        <p:nvSpPr>
          <p:cNvPr id="42" name="TextBox 41"/>
          <p:cNvSpPr txBox="1"/>
          <p:nvPr/>
        </p:nvSpPr>
        <p:spPr>
          <a:xfrm>
            <a:off x="571500" y="4838700"/>
            <a:ext cx="8001000" cy="285750"/>
          </a:xfrm>
          <a:prstGeom prst="rect">
            <a:avLst/>
          </a:prstGeom>
          <a:noFill/>
        </p:spPr>
        <p:txBody>
          <a:bodyPr wrap="square" lIns="0" rIns="0" tIns="0" bIns="0" anchor="ctr">
            <a:spAutoFit/>
          </a:bodyPr>
          <a:lstStyle/>
          <a:p>
            <a:pPr algn="ctr" rtl="1">
              <a:lnSpc>
                <a:spcPct val="135000"/>
              </a:lnSpc>
            </a:pPr>
            <a:r>
              <a:rPr sz="1193" b="1">
                <a:solidFill>
                  <a:srgbClr val="C00000"/>
                </a:solidFill>
                <a:latin typeface="Cairo"/>
                <a:cs typeface="Cairo"/>
              </a:rPr>
              <a:t>اضغط لإظهار الحل الصحيح وصحّح إجاباتك بنفسك</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P spid="21" grpId="0"/>
      <p:bldP spid="27" grpId="0"/>
      <p:bldP spid="33" grpId="0"/>
      <p:bldP spid="39" grpId="0"/>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825" b="1">
                <a:solidFill>
                  <a:srgbClr val="FFFFFF"/>
                </a:solidFill>
                <a:latin typeface="Cairo"/>
                <a:cs typeface="Cairo"/>
              </a:rPr>
              <a:t>المفردات الجديدة (تابع) — كلمة وجمعها، وكلمة ومضادها</a:t>
            </a:r>
          </a:p>
        </p:txBody>
      </p:sp>
      <p:sp>
        <p:nvSpPr>
          <p:cNvPr id="5" name="TextBox 4"/>
          <p:cNvSpPr txBox="1"/>
          <p:nvPr/>
        </p:nvSpPr>
        <p:spPr>
          <a:xfrm>
            <a:off x="571500" y="590550"/>
            <a:ext cx="8001000" cy="381000"/>
          </a:xfrm>
          <a:prstGeom prst="rect">
            <a:avLst/>
          </a:prstGeom>
          <a:noFill/>
        </p:spPr>
        <p:txBody>
          <a:bodyPr wrap="square" lIns="0" rIns="0" tIns="0" bIns="0" anchor="ctr">
            <a:spAutoFit/>
          </a:bodyPr>
          <a:lstStyle/>
          <a:p>
            <a:pPr algn="ctr" rtl="1">
              <a:lnSpc>
                <a:spcPct val="135000"/>
              </a:lnSpc>
            </a:pPr>
            <a:r>
              <a:rPr sz="1325" b="1">
                <a:solidFill>
                  <a:srgbClr val="335693"/>
                </a:solidFill>
                <a:latin typeface="Cairo"/>
                <a:cs typeface="Cairo"/>
              </a:rPr>
              <a:t>ابحث في الفقرتين (ص48-49) عن الجمع والمضاد، واكتبهما في دفترك (دقيقتان)، ثم صحّح بالنموذج — نقطتان لكل إجابة</a:t>
            </a:r>
          </a:p>
        </p:txBody>
      </p:sp>
      <p:sp>
        <p:nvSpPr>
          <p:cNvPr id="6" name="Rounded Rectangle 5"/>
          <p:cNvSpPr/>
          <p:nvPr/>
        </p:nvSpPr>
        <p:spPr>
          <a:xfrm>
            <a:off x="6667500" y="1123950"/>
            <a:ext cx="1905000" cy="7810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24650" y="1181100"/>
            <a:ext cx="1790700" cy="666750"/>
          </a:xfrm>
          <a:prstGeom prst="rect">
            <a:avLst/>
          </a:prstGeom>
          <a:noFill/>
        </p:spPr>
        <p:txBody>
          <a:bodyPr wrap="square" lIns="0" rIns="0" tIns="0" bIns="0" anchor="ctr">
            <a:spAutoFit/>
          </a:bodyPr>
          <a:lstStyle/>
          <a:p>
            <a:pPr algn="ctr" rtl="1">
              <a:lnSpc>
                <a:spcPct val="135000"/>
              </a:lnSpc>
            </a:pPr>
            <a:r>
              <a:rPr sz="1387" b="1">
                <a:solidFill>
                  <a:srgbClr val="335693"/>
                </a:solidFill>
                <a:latin typeface="Cairo"/>
                <a:cs typeface="Cairo"/>
              </a:rPr>
              <a:t>كلمة وجمعها</a:t>
            </a:r>
          </a:p>
          <a:p>
            <a:pPr algn="ctr" rtl="1">
              <a:lnSpc>
                <a:spcPct val="135000"/>
              </a:lnSpc>
            </a:pPr>
            <a:r>
              <a:rPr sz="1387" b="1">
                <a:solidFill>
                  <a:srgbClr val="335693"/>
                </a:solidFill>
                <a:latin typeface="Cairo"/>
                <a:cs typeface="Cairo"/>
              </a:rPr>
              <a:t>قُطْب</a:t>
            </a:r>
          </a:p>
        </p:txBody>
      </p:sp>
      <p:sp>
        <p:nvSpPr>
          <p:cNvPr id="8" name="Rounded Rectangle 7"/>
          <p:cNvSpPr/>
          <p:nvPr/>
        </p:nvSpPr>
        <p:spPr>
          <a:xfrm>
            <a:off x="571500" y="1123950"/>
            <a:ext cx="6000750" cy="781050"/>
          </a:xfrm>
          <a:prstGeom prst="roundRect">
            <a:avLst>
              <a:gd name="adj" fmla="val 10000"/>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6750" y="1181100"/>
            <a:ext cx="5810250" cy="666750"/>
          </a:xfrm>
          <a:prstGeom prst="rect">
            <a:avLst/>
          </a:prstGeom>
          <a:noFill/>
        </p:spPr>
        <p:txBody>
          <a:bodyPr wrap="square" lIns="0" rIns="0" tIns="0" bIns="0" anchor="ctr">
            <a:spAutoFit/>
          </a:bodyPr>
          <a:lstStyle/>
          <a:p>
            <a:pPr algn="r" rtl="1">
              <a:lnSpc>
                <a:spcPct val="125000"/>
              </a:lnSpc>
            </a:pPr>
            <a:r>
              <a:rPr sz="1687" b="0">
                <a:solidFill>
                  <a:srgbClr val="C00000"/>
                </a:solidFill>
                <a:latin typeface="Cairo"/>
                <a:cs typeface="Cairo"/>
              </a:rPr>
              <a:t>جمعها: أقطاب — «أقطابُ النظام الجديد»</a:t>
            </a:r>
          </a:p>
        </p:txBody>
      </p:sp>
      <p:sp>
        <p:nvSpPr>
          <p:cNvPr id="10" name="Rounded Rectangle 9"/>
          <p:cNvSpPr/>
          <p:nvPr/>
        </p:nvSpPr>
        <p:spPr>
          <a:xfrm>
            <a:off x="6667500" y="2019300"/>
            <a:ext cx="1905000" cy="7810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24650" y="2076450"/>
            <a:ext cx="1790700" cy="666750"/>
          </a:xfrm>
          <a:prstGeom prst="rect">
            <a:avLst/>
          </a:prstGeom>
          <a:noFill/>
        </p:spPr>
        <p:txBody>
          <a:bodyPr wrap="square" lIns="0" rIns="0" tIns="0" bIns="0" anchor="ctr">
            <a:spAutoFit/>
          </a:bodyPr>
          <a:lstStyle/>
          <a:p>
            <a:pPr algn="ctr" rtl="1">
              <a:lnSpc>
                <a:spcPct val="135000"/>
              </a:lnSpc>
            </a:pPr>
            <a:r>
              <a:rPr sz="1387" b="1">
                <a:solidFill>
                  <a:srgbClr val="335693"/>
                </a:solidFill>
                <a:latin typeface="Cairo"/>
                <a:cs typeface="Cairo"/>
              </a:rPr>
              <a:t>كلمة وجمعها</a:t>
            </a:r>
          </a:p>
          <a:p>
            <a:pPr algn="ctr" rtl="1">
              <a:lnSpc>
                <a:spcPct val="135000"/>
              </a:lnSpc>
            </a:pPr>
            <a:r>
              <a:rPr sz="1387" b="1">
                <a:solidFill>
                  <a:srgbClr val="335693"/>
                </a:solidFill>
                <a:latin typeface="Cairo"/>
                <a:cs typeface="Cairo"/>
              </a:rPr>
              <a:t>مَوْجَة</a:t>
            </a:r>
          </a:p>
        </p:txBody>
      </p:sp>
      <p:sp>
        <p:nvSpPr>
          <p:cNvPr id="12" name="Rounded Rectangle 11"/>
          <p:cNvSpPr/>
          <p:nvPr/>
        </p:nvSpPr>
        <p:spPr>
          <a:xfrm>
            <a:off x="571500" y="2019300"/>
            <a:ext cx="6000750" cy="781050"/>
          </a:xfrm>
          <a:prstGeom prst="roundRect">
            <a:avLst>
              <a:gd name="adj" fmla="val 10000"/>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6750" y="2076450"/>
            <a:ext cx="5810250" cy="666750"/>
          </a:xfrm>
          <a:prstGeom prst="rect">
            <a:avLst/>
          </a:prstGeom>
          <a:noFill/>
        </p:spPr>
        <p:txBody>
          <a:bodyPr wrap="square" lIns="0" rIns="0" tIns="0" bIns="0" anchor="ctr">
            <a:spAutoFit/>
          </a:bodyPr>
          <a:lstStyle/>
          <a:p>
            <a:pPr algn="r" rtl="1">
              <a:lnSpc>
                <a:spcPct val="125000"/>
              </a:lnSpc>
            </a:pPr>
            <a:r>
              <a:rPr sz="1687" b="0">
                <a:solidFill>
                  <a:srgbClr val="C00000"/>
                </a:solidFill>
                <a:latin typeface="Cairo"/>
                <a:cs typeface="Cairo"/>
              </a:rPr>
              <a:t>جمعها: مَوْجَات — «وجودُ مَوْجَةٍ فكريَّةٍ»</a:t>
            </a:r>
          </a:p>
        </p:txBody>
      </p:sp>
      <p:sp>
        <p:nvSpPr>
          <p:cNvPr id="14" name="Rounded Rectangle 13"/>
          <p:cNvSpPr/>
          <p:nvPr/>
        </p:nvSpPr>
        <p:spPr>
          <a:xfrm>
            <a:off x="6667500" y="2914650"/>
            <a:ext cx="1905000" cy="7810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24650" y="2971800"/>
            <a:ext cx="1790700" cy="666750"/>
          </a:xfrm>
          <a:prstGeom prst="rect">
            <a:avLst/>
          </a:prstGeom>
          <a:noFill/>
        </p:spPr>
        <p:txBody>
          <a:bodyPr wrap="square" lIns="0" rIns="0" tIns="0" bIns="0" anchor="ctr">
            <a:spAutoFit/>
          </a:bodyPr>
          <a:lstStyle/>
          <a:p>
            <a:pPr algn="ctr" rtl="1">
              <a:lnSpc>
                <a:spcPct val="135000"/>
              </a:lnSpc>
            </a:pPr>
            <a:r>
              <a:rPr sz="1387" b="1">
                <a:solidFill>
                  <a:srgbClr val="335693"/>
                </a:solidFill>
                <a:latin typeface="Cairo"/>
                <a:cs typeface="Cairo"/>
              </a:rPr>
              <a:t>كلمة ومضادها</a:t>
            </a:r>
          </a:p>
          <a:p>
            <a:pPr algn="ctr" rtl="1">
              <a:lnSpc>
                <a:spcPct val="135000"/>
              </a:lnSpc>
            </a:pPr>
            <a:r>
              <a:rPr sz="1387" b="1">
                <a:solidFill>
                  <a:srgbClr val="335693"/>
                </a:solidFill>
                <a:latin typeface="Cairo"/>
                <a:cs typeface="Cairo"/>
              </a:rPr>
              <a:t>الماديَّة</a:t>
            </a:r>
          </a:p>
        </p:txBody>
      </p:sp>
      <p:sp>
        <p:nvSpPr>
          <p:cNvPr id="16" name="Rounded Rectangle 15"/>
          <p:cNvSpPr/>
          <p:nvPr/>
        </p:nvSpPr>
        <p:spPr>
          <a:xfrm>
            <a:off x="571500" y="2914650"/>
            <a:ext cx="6000750" cy="781050"/>
          </a:xfrm>
          <a:prstGeom prst="roundRect">
            <a:avLst>
              <a:gd name="adj" fmla="val 10000"/>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6750" y="2971800"/>
            <a:ext cx="5810250" cy="666750"/>
          </a:xfrm>
          <a:prstGeom prst="rect">
            <a:avLst/>
          </a:prstGeom>
          <a:noFill/>
        </p:spPr>
        <p:txBody>
          <a:bodyPr wrap="square" lIns="0" rIns="0" tIns="0" bIns="0" anchor="ctr">
            <a:spAutoFit/>
          </a:bodyPr>
          <a:lstStyle/>
          <a:p>
            <a:pPr algn="r" rtl="1">
              <a:lnSpc>
                <a:spcPct val="125000"/>
              </a:lnSpc>
            </a:pPr>
            <a:r>
              <a:rPr sz="1687" b="0">
                <a:solidFill>
                  <a:srgbClr val="C00000"/>
                </a:solidFill>
                <a:latin typeface="Cairo"/>
                <a:cs typeface="Cairo"/>
              </a:rPr>
              <a:t>مضادها: المعنويَّة — «العناصرَ الماديَّة ... حاجاتِه المعنويَّة»</a:t>
            </a:r>
          </a:p>
        </p:txBody>
      </p:sp>
      <p:sp>
        <p:nvSpPr>
          <p:cNvPr id="18" name="TextBox 17"/>
          <p:cNvSpPr txBox="1"/>
          <p:nvPr/>
        </p:nvSpPr>
        <p:spPr>
          <a:xfrm>
            <a:off x="571500" y="4000500"/>
            <a:ext cx="8001000" cy="285750"/>
          </a:xfrm>
          <a:prstGeom prst="rect">
            <a:avLst/>
          </a:prstGeom>
          <a:noFill/>
        </p:spPr>
        <p:txBody>
          <a:bodyPr wrap="square" lIns="0" rIns="0" tIns="0" bIns="0" anchor="ctr">
            <a:spAutoFit/>
          </a:bodyPr>
          <a:lstStyle/>
          <a:p>
            <a:pPr algn="ctr" rtl="1">
              <a:lnSpc>
                <a:spcPct val="135000"/>
              </a:lnSpc>
            </a:pPr>
            <a:r>
              <a:rPr sz="1193" b="1">
                <a:solidFill>
                  <a:srgbClr val="C00000"/>
                </a:solidFill>
                <a:latin typeface="Cairo"/>
                <a:cs typeface="Cairo"/>
              </a:rPr>
              <a:t>اضغط لإظهار الإجابة النموذجية</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7" grpId="0"/>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1125" b="1">
                <a:solidFill>
                  <a:srgbClr val="FFFFFF"/>
                </a:solidFill>
                <a:latin typeface="Cairo"/>
                <a:cs typeface="Cairo"/>
              </a:rPr>
              <a:t>غلق الهدف (1) — وظّف مفرداتك الجديدة</a:t>
            </a:r>
          </a:p>
        </p:txBody>
      </p:sp>
      <p:sp>
        <p:nvSpPr>
          <p:cNvPr id="5" name="TextBox 4"/>
          <p:cNvSpPr txBox="1"/>
          <p:nvPr/>
        </p:nvSpPr>
        <p:spPr>
          <a:xfrm>
            <a:off x="571500" y="590550"/>
            <a:ext cx="8001000" cy="381000"/>
          </a:xfrm>
          <a:prstGeom prst="rect">
            <a:avLst/>
          </a:prstGeom>
          <a:noFill/>
        </p:spPr>
        <p:txBody>
          <a:bodyPr wrap="square" lIns="0" rIns="0" tIns="0" bIns="0" anchor="ctr">
            <a:spAutoFit/>
          </a:bodyPr>
          <a:lstStyle/>
          <a:p>
            <a:pPr algn="ctr" rtl="1">
              <a:lnSpc>
                <a:spcPct val="135000"/>
              </a:lnSpc>
            </a:pPr>
            <a:r>
              <a:rPr sz="1525" b="1">
                <a:solidFill>
                  <a:srgbClr val="335693"/>
                </a:solidFill>
                <a:latin typeface="Cairo"/>
                <a:cs typeface="Cairo"/>
              </a:rPr>
              <a:t>أكمل الجمل الآتية في دفترك بمفردة مناسبة مما تعلمته (3 دقائق)، ثم صحّح بنفسك — كل جملة بنقطتين</a:t>
            </a:r>
          </a:p>
        </p:txBody>
      </p:sp>
      <p:sp>
        <p:nvSpPr>
          <p:cNvPr id="6" name="Rounded Rectangle 5"/>
          <p:cNvSpPr/>
          <p:nvPr/>
        </p:nvSpPr>
        <p:spPr>
          <a:xfrm>
            <a:off x="571500" y="1123950"/>
            <a:ext cx="8001000" cy="704850"/>
          </a:xfrm>
          <a:prstGeom prst="roundRect">
            <a:avLst>
              <a:gd name="adj" fmla="val 10000"/>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476500" y="1181100"/>
            <a:ext cx="6000750" cy="590550"/>
          </a:xfrm>
          <a:prstGeom prst="rect">
            <a:avLst/>
          </a:prstGeom>
          <a:noFill/>
        </p:spPr>
        <p:txBody>
          <a:bodyPr wrap="square" lIns="0" rIns="0" tIns="0" bIns="0" anchor="ctr">
            <a:spAutoFit/>
          </a:bodyPr>
          <a:lstStyle/>
          <a:p>
            <a:pPr algn="r" rtl="1">
              <a:lnSpc>
                <a:spcPct val="130000"/>
              </a:lnSpc>
            </a:pPr>
            <a:r>
              <a:rPr sz="1631" b="0">
                <a:solidFill>
                  <a:srgbClr val="333333"/>
                </a:solidFill>
                <a:latin typeface="Cairo"/>
                <a:cs typeface="Cairo"/>
              </a:rPr>
              <a:t>1- اختار بعضُ المفكرين ______ إلى الماضي بدلَ مواجهة تحدّيات العصر.</a:t>
            </a:r>
          </a:p>
        </p:txBody>
      </p:sp>
      <p:sp>
        <p:nvSpPr>
          <p:cNvPr id="8" name="TextBox 7"/>
          <p:cNvSpPr txBox="1"/>
          <p:nvPr/>
        </p:nvSpPr>
        <p:spPr>
          <a:xfrm>
            <a:off x="666750" y="1181100"/>
            <a:ext cx="1714500" cy="590550"/>
          </a:xfrm>
          <a:prstGeom prst="rect">
            <a:avLst/>
          </a:prstGeom>
          <a:noFill/>
        </p:spPr>
        <p:txBody>
          <a:bodyPr wrap="square" lIns="0" rIns="0" tIns="0" bIns="0" anchor="ctr">
            <a:spAutoFit/>
          </a:bodyPr>
          <a:lstStyle/>
          <a:p>
            <a:pPr algn="ctr" rtl="1">
              <a:lnSpc>
                <a:spcPct val="135000"/>
              </a:lnSpc>
            </a:pPr>
            <a:r>
              <a:rPr sz="2062" b="1">
                <a:solidFill>
                  <a:srgbClr val="C00000"/>
                </a:solidFill>
                <a:latin typeface="Cairo"/>
                <a:cs typeface="Cairo"/>
              </a:rPr>
              <a:t>الانكفاء</a:t>
            </a:r>
          </a:p>
        </p:txBody>
      </p:sp>
      <p:sp>
        <p:nvSpPr>
          <p:cNvPr id="9" name="Rounded Rectangle 8"/>
          <p:cNvSpPr/>
          <p:nvPr/>
        </p:nvSpPr>
        <p:spPr>
          <a:xfrm>
            <a:off x="571500" y="1943100"/>
            <a:ext cx="8001000" cy="704850"/>
          </a:xfrm>
          <a:prstGeom prst="roundRect">
            <a:avLst>
              <a:gd name="adj" fmla="val 10000"/>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76500" y="2000250"/>
            <a:ext cx="6000750" cy="590550"/>
          </a:xfrm>
          <a:prstGeom prst="rect">
            <a:avLst/>
          </a:prstGeom>
          <a:noFill/>
        </p:spPr>
        <p:txBody>
          <a:bodyPr wrap="square" lIns="0" rIns="0" tIns="0" bIns="0" anchor="ctr">
            <a:spAutoFit/>
          </a:bodyPr>
          <a:lstStyle/>
          <a:p>
            <a:pPr algn="r" rtl="1">
              <a:lnSpc>
                <a:spcPct val="130000"/>
              </a:lnSpc>
            </a:pPr>
            <a:r>
              <a:rPr sz="1781" b="0">
                <a:solidFill>
                  <a:srgbClr val="333333"/>
                </a:solidFill>
                <a:latin typeface="Cairo"/>
                <a:cs typeface="Cairo"/>
              </a:rPr>
              <a:t>2- الإسلام نبعٌ ______ بالقيم والمبادئ لا ينضب.</a:t>
            </a:r>
          </a:p>
        </p:txBody>
      </p:sp>
      <p:sp>
        <p:nvSpPr>
          <p:cNvPr id="11" name="TextBox 10"/>
          <p:cNvSpPr txBox="1"/>
          <p:nvPr/>
        </p:nvSpPr>
        <p:spPr>
          <a:xfrm>
            <a:off x="666750" y="2000250"/>
            <a:ext cx="1714500" cy="590550"/>
          </a:xfrm>
          <a:prstGeom prst="rect">
            <a:avLst/>
          </a:prstGeom>
          <a:noFill/>
        </p:spPr>
        <p:txBody>
          <a:bodyPr wrap="square" lIns="0" rIns="0" tIns="0" bIns="0" anchor="ctr">
            <a:spAutoFit/>
          </a:bodyPr>
          <a:lstStyle/>
          <a:p>
            <a:pPr algn="ctr" rtl="1">
              <a:lnSpc>
                <a:spcPct val="135000"/>
              </a:lnSpc>
            </a:pPr>
            <a:r>
              <a:rPr sz="2062" b="1">
                <a:solidFill>
                  <a:srgbClr val="C00000"/>
                </a:solidFill>
                <a:latin typeface="Cairo"/>
                <a:cs typeface="Cairo"/>
              </a:rPr>
              <a:t>فيَّاض</a:t>
            </a:r>
          </a:p>
        </p:txBody>
      </p:sp>
      <p:sp>
        <p:nvSpPr>
          <p:cNvPr id="12" name="Rounded Rectangle 11"/>
          <p:cNvSpPr/>
          <p:nvPr/>
        </p:nvSpPr>
        <p:spPr>
          <a:xfrm>
            <a:off x="571500" y="2762250"/>
            <a:ext cx="8001000" cy="704850"/>
          </a:xfrm>
          <a:prstGeom prst="roundRect">
            <a:avLst>
              <a:gd name="adj" fmla="val 10000"/>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76500" y="2819400"/>
            <a:ext cx="6000750" cy="590550"/>
          </a:xfrm>
          <a:prstGeom prst="rect">
            <a:avLst/>
          </a:prstGeom>
          <a:noFill/>
        </p:spPr>
        <p:txBody>
          <a:bodyPr wrap="square" lIns="0" rIns="0" tIns="0" bIns="0" anchor="ctr">
            <a:spAutoFit/>
          </a:bodyPr>
          <a:lstStyle/>
          <a:p>
            <a:pPr algn="r" rtl="1">
              <a:lnSpc>
                <a:spcPct val="130000"/>
              </a:lnSpc>
            </a:pPr>
            <a:r>
              <a:rPr sz="1781" b="0">
                <a:solidFill>
                  <a:srgbClr val="333333"/>
                </a:solidFill>
                <a:latin typeface="Cairo"/>
                <a:cs typeface="Cairo"/>
              </a:rPr>
              <a:t>3- يسعى المصلحون إلى ______ الوُدِّ والرحمة بين الناس.</a:t>
            </a:r>
          </a:p>
        </p:txBody>
      </p:sp>
      <p:sp>
        <p:nvSpPr>
          <p:cNvPr id="14" name="TextBox 13"/>
          <p:cNvSpPr txBox="1"/>
          <p:nvPr/>
        </p:nvSpPr>
        <p:spPr>
          <a:xfrm>
            <a:off x="666750" y="2819400"/>
            <a:ext cx="1714500" cy="590550"/>
          </a:xfrm>
          <a:prstGeom prst="rect">
            <a:avLst/>
          </a:prstGeom>
          <a:noFill/>
        </p:spPr>
        <p:txBody>
          <a:bodyPr wrap="square" lIns="0" rIns="0" tIns="0" bIns="0" anchor="ctr">
            <a:spAutoFit/>
          </a:bodyPr>
          <a:lstStyle/>
          <a:p>
            <a:pPr algn="ctr" rtl="1">
              <a:lnSpc>
                <a:spcPct val="135000"/>
              </a:lnSpc>
            </a:pPr>
            <a:r>
              <a:rPr sz="2062" b="1">
                <a:solidFill>
                  <a:srgbClr val="C00000"/>
                </a:solidFill>
                <a:latin typeface="Cairo"/>
                <a:cs typeface="Cairo"/>
              </a:rPr>
              <a:t>إشاعة</a:t>
            </a:r>
          </a:p>
        </p:txBody>
      </p:sp>
      <p:sp>
        <p:nvSpPr>
          <p:cNvPr id="15" name="TextBox 14"/>
          <p:cNvSpPr txBox="1"/>
          <p:nvPr/>
        </p:nvSpPr>
        <p:spPr>
          <a:xfrm>
            <a:off x="571500" y="3733800"/>
            <a:ext cx="8001000" cy="285750"/>
          </a:xfrm>
          <a:prstGeom prst="rect">
            <a:avLst/>
          </a:prstGeom>
          <a:noFill/>
        </p:spPr>
        <p:txBody>
          <a:bodyPr wrap="square" lIns="0" rIns="0" tIns="0" bIns="0" anchor="ctr">
            <a:spAutoFit/>
          </a:bodyPr>
          <a:lstStyle/>
          <a:p>
            <a:pPr algn="ctr" rtl="1">
              <a:lnSpc>
                <a:spcPct val="135000"/>
              </a:lnSpc>
            </a:pPr>
            <a:r>
              <a:rPr sz="1193" b="1">
                <a:solidFill>
                  <a:srgbClr val="C00000"/>
                </a:solidFill>
                <a:latin typeface="Cairo"/>
                <a:cs typeface="Cairo"/>
              </a:rPr>
              <a:t>اضغط لإظهار الكلمة المناسبة لكل فراغ</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4" grpId="0"/>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825" b="1">
                <a:solidFill>
                  <a:srgbClr val="FFFFFF"/>
                </a:solidFill>
                <a:latin typeface="Cairo"/>
                <a:cs typeface="Cairo"/>
              </a:rPr>
              <a:t>نشاط مستقل (2) — سُلّم الصعود إلى الفكرة: الفقرة الثالثة</a:t>
            </a:r>
          </a:p>
        </p:txBody>
      </p:sp>
      <p:sp>
        <p:nvSpPr>
          <p:cNvPr id="5" name="TextBox 4"/>
          <p:cNvSpPr txBox="1"/>
          <p:nvPr/>
        </p:nvSpPr>
        <p:spPr>
          <a:xfrm>
            <a:off x="571500" y="590550"/>
            <a:ext cx="8001000" cy="419100"/>
          </a:xfrm>
          <a:prstGeom prst="rect">
            <a:avLst/>
          </a:prstGeom>
          <a:noFill/>
        </p:spPr>
        <p:txBody>
          <a:bodyPr wrap="square" lIns="0" rIns="0" tIns="0" bIns="0" anchor="ctr">
            <a:spAutoFit/>
          </a:bodyPr>
          <a:lstStyle/>
          <a:p>
            <a:pPr algn="ctr" rtl="1">
              <a:lnSpc>
                <a:spcPct val="135000"/>
              </a:lnSpc>
            </a:pPr>
            <a:r>
              <a:rPr sz="1787" b="1">
                <a:solidFill>
                  <a:srgbClr val="335693"/>
                </a:solidFill>
                <a:latin typeface="Cairo"/>
                <a:cs typeface="Cairo"/>
              </a:rPr>
              <a:t>أجب في دفترك عن هذه الدرجات بالترتيب (3 دقائق) — ستقودك إلى فكرة الفقرة بنفسك</a:t>
            </a:r>
          </a:p>
        </p:txBody>
      </p:sp>
      <p:sp>
        <p:nvSpPr>
          <p:cNvPr id="6" name="Rounded Rectangle 5"/>
          <p:cNvSpPr/>
          <p:nvPr/>
        </p:nvSpPr>
        <p:spPr>
          <a:xfrm>
            <a:off x="857250" y="1162050"/>
            <a:ext cx="7429500" cy="8191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5375" y="1219200"/>
            <a:ext cx="6953250" cy="704850"/>
          </a:xfrm>
          <a:prstGeom prst="rect">
            <a:avLst/>
          </a:prstGeom>
          <a:noFill/>
        </p:spPr>
        <p:txBody>
          <a:bodyPr wrap="square" lIns="0" rIns="0" tIns="0" bIns="0" anchor="ctr">
            <a:spAutoFit/>
          </a:bodyPr>
          <a:lstStyle/>
          <a:p>
            <a:pPr algn="r" rtl="1">
              <a:lnSpc>
                <a:spcPct val="135000"/>
              </a:lnSpc>
            </a:pPr>
            <a:r>
              <a:rPr sz="1875" b="1">
                <a:solidFill>
                  <a:srgbClr val="333333"/>
                </a:solidFill>
                <a:latin typeface="Cairo"/>
                <a:cs typeface="Cairo"/>
              </a:rPr>
              <a:t>١-</a:t>
            </a:r>
            <a:r>
              <a:rPr sz="1875" b="0">
                <a:solidFill>
                  <a:srgbClr val="333333"/>
                </a:solidFill>
                <a:latin typeface="Cairo"/>
                <a:cs typeface="Cairo"/>
              </a:rPr>
              <a:t> عمّا يتساءل العرب والمسلمون في هذا العالم الجديد؟</a:t>
            </a:r>
          </a:p>
        </p:txBody>
      </p:sp>
      <p:sp>
        <p:nvSpPr>
          <p:cNvPr id="8" name="Rounded Rectangle 7"/>
          <p:cNvSpPr/>
          <p:nvPr/>
        </p:nvSpPr>
        <p:spPr>
          <a:xfrm>
            <a:off x="857250" y="2095500"/>
            <a:ext cx="7429500" cy="8191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5375" y="2152650"/>
            <a:ext cx="6953250" cy="704850"/>
          </a:xfrm>
          <a:prstGeom prst="rect">
            <a:avLst/>
          </a:prstGeom>
          <a:noFill/>
        </p:spPr>
        <p:txBody>
          <a:bodyPr wrap="square" lIns="0" rIns="0" tIns="0" bIns="0" anchor="ctr">
            <a:spAutoFit/>
          </a:bodyPr>
          <a:lstStyle/>
          <a:p>
            <a:pPr algn="r" rtl="1">
              <a:lnSpc>
                <a:spcPct val="135000"/>
              </a:lnSpc>
            </a:pPr>
            <a:r>
              <a:rPr sz="1875" b="1">
                <a:solidFill>
                  <a:srgbClr val="333333"/>
                </a:solidFill>
                <a:latin typeface="Cairo"/>
                <a:cs typeface="Cairo"/>
              </a:rPr>
              <a:t>٢-</a:t>
            </a:r>
            <a:r>
              <a:rPr sz="1875" b="0">
                <a:solidFill>
                  <a:srgbClr val="333333"/>
                </a:solidFill>
                <a:latin typeface="Cairo"/>
                <a:cs typeface="Cairo"/>
              </a:rPr>
              <a:t> ما الموقف الذي لم يعُد جائزًا ولا مقبولًا؟</a:t>
            </a:r>
          </a:p>
        </p:txBody>
      </p:sp>
      <p:sp>
        <p:nvSpPr>
          <p:cNvPr id="10" name="Rounded Rectangle 9"/>
          <p:cNvSpPr/>
          <p:nvPr/>
        </p:nvSpPr>
        <p:spPr>
          <a:xfrm>
            <a:off x="857250" y="3028950"/>
            <a:ext cx="7429500" cy="8191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5375" y="3086100"/>
            <a:ext cx="6953250" cy="704850"/>
          </a:xfrm>
          <a:prstGeom prst="rect">
            <a:avLst/>
          </a:prstGeom>
          <a:noFill/>
        </p:spPr>
        <p:txBody>
          <a:bodyPr wrap="square" lIns="0" rIns="0" tIns="0" bIns="0" anchor="ctr">
            <a:spAutoFit/>
          </a:bodyPr>
          <a:lstStyle/>
          <a:p>
            <a:pPr algn="r" rtl="1">
              <a:lnSpc>
                <a:spcPct val="135000"/>
              </a:lnSpc>
            </a:pPr>
            <a:r>
              <a:rPr sz="1875" b="1">
                <a:solidFill>
                  <a:srgbClr val="333333"/>
                </a:solidFill>
                <a:latin typeface="Cairo"/>
                <a:cs typeface="Cairo"/>
              </a:rPr>
              <a:t>٣-</a:t>
            </a:r>
            <a:r>
              <a:rPr sz="1875" b="0">
                <a:solidFill>
                  <a:srgbClr val="333333"/>
                </a:solidFill>
                <a:latin typeface="Cairo"/>
                <a:cs typeface="Cairo"/>
              </a:rPr>
              <a:t> ما الحقيقة التي يقرّرها الكاتب؟ (وجود مَوْجَة …؟)</a:t>
            </a:r>
          </a:p>
        </p:txBody>
      </p:sp>
      <p:sp>
        <p:nvSpPr>
          <p:cNvPr id="12" name="Rounded Rectangle 11"/>
          <p:cNvSpPr/>
          <p:nvPr/>
        </p:nvSpPr>
        <p:spPr>
          <a:xfrm>
            <a:off x="857250" y="3962400"/>
            <a:ext cx="7429500" cy="8191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5375" y="4019550"/>
            <a:ext cx="6953250" cy="704850"/>
          </a:xfrm>
          <a:prstGeom prst="rect">
            <a:avLst/>
          </a:prstGeom>
          <a:noFill/>
        </p:spPr>
        <p:txBody>
          <a:bodyPr wrap="square" lIns="0" rIns="0" tIns="0" bIns="0" anchor="ctr">
            <a:spAutoFit/>
          </a:bodyPr>
          <a:lstStyle/>
          <a:p>
            <a:pPr algn="r" rtl="1">
              <a:lnSpc>
                <a:spcPct val="135000"/>
              </a:lnSpc>
            </a:pPr>
            <a:r>
              <a:rPr sz="1875" b="1">
                <a:solidFill>
                  <a:srgbClr val="333333"/>
                </a:solidFill>
                <a:latin typeface="Cairo"/>
                <a:cs typeface="Cairo"/>
              </a:rPr>
              <a:t>٤-</a:t>
            </a:r>
            <a:r>
              <a:rPr sz="1875" b="0">
                <a:solidFill>
                  <a:srgbClr val="333333"/>
                </a:solidFill>
                <a:latin typeface="Cairo"/>
                <a:cs typeface="Cairo"/>
              </a:rPr>
              <a:t> بِمَ تسعى هذه الموجة؟ اذكر هدفين من النص</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800" b="1">
                <a:solidFill>
                  <a:srgbClr val="FFFFFF"/>
                </a:solidFill>
                <a:latin typeface="Cairo"/>
                <a:cs typeface="Cairo"/>
              </a:rPr>
              <a:t>نشاط مستقل (2/تابع) — سُلّم الصعود إلى الفكرة: الفقرة الرابعة</a:t>
            </a:r>
          </a:p>
        </p:txBody>
      </p:sp>
      <p:sp>
        <p:nvSpPr>
          <p:cNvPr id="5" name="TextBox 4"/>
          <p:cNvSpPr txBox="1"/>
          <p:nvPr/>
        </p:nvSpPr>
        <p:spPr>
          <a:xfrm>
            <a:off x="571500" y="590550"/>
            <a:ext cx="8001000" cy="419100"/>
          </a:xfrm>
          <a:prstGeom prst="rect">
            <a:avLst/>
          </a:prstGeom>
          <a:noFill/>
        </p:spPr>
        <p:txBody>
          <a:bodyPr wrap="square" lIns="0" rIns="0" tIns="0" bIns="0" anchor="ctr">
            <a:spAutoFit/>
          </a:bodyPr>
          <a:lstStyle/>
          <a:p>
            <a:pPr algn="ctr" rtl="1">
              <a:lnSpc>
                <a:spcPct val="135000"/>
              </a:lnSpc>
            </a:pPr>
            <a:r>
              <a:rPr sz="1787" b="1">
                <a:solidFill>
                  <a:srgbClr val="335693"/>
                </a:solidFill>
                <a:latin typeface="Cairo"/>
                <a:cs typeface="Cairo"/>
              </a:rPr>
              <a:t>أجب في دفترك عن هذه الدرجات بالترتيب (3 دقائق) — ستقودك إلى فكرة الفقرة بنفسك</a:t>
            </a:r>
          </a:p>
        </p:txBody>
      </p:sp>
      <p:sp>
        <p:nvSpPr>
          <p:cNvPr id="6" name="Rounded Rectangle 5"/>
          <p:cNvSpPr/>
          <p:nvPr/>
        </p:nvSpPr>
        <p:spPr>
          <a:xfrm>
            <a:off x="857250" y="1162050"/>
            <a:ext cx="7429500" cy="8191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5375" y="1219200"/>
            <a:ext cx="6953250" cy="704850"/>
          </a:xfrm>
          <a:prstGeom prst="rect">
            <a:avLst/>
          </a:prstGeom>
          <a:noFill/>
        </p:spPr>
        <p:txBody>
          <a:bodyPr wrap="square" lIns="0" rIns="0" tIns="0" bIns="0" anchor="ctr">
            <a:spAutoFit/>
          </a:bodyPr>
          <a:lstStyle/>
          <a:p>
            <a:pPr algn="r" rtl="1">
              <a:lnSpc>
                <a:spcPct val="135000"/>
              </a:lnSpc>
            </a:pPr>
            <a:r>
              <a:rPr sz="1875" b="1">
                <a:solidFill>
                  <a:srgbClr val="333333"/>
                </a:solidFill>
                <a:latin typeface="Cairo"/>
                <a:cs typeface="Cairo"/>
              </a:rPr>
              <a:t>١-</a:t>
            </a:r>
            <a:r>
              <a:rPr sz="1875" b="0">
                <a:solidFill>
                  <a:srgbClr val="333333"/>
                </a:solidFill>
                <a:latin typeface="Cairo"/>
                <a:cs typeface="Cairo"/>
              </a:rPr>
              <a:t> صِفِ الجوَّ السائد في العالم بثلاث صفات من النص</a:t>
            </a:r>
          </a:p>
        </p:txBody>
      </p:sp>
      <p:sp>
        <p:nvSpPr>
          <p:cNvPr id="8" name="Rounded Rectangle 7"/>
          <p:cNvSpPr/>
          <p:nvPr/>
        </p:nvSpPr>
        <p:spPr>
          <a:xfrm>
            <a:off x="857250" y="2095500"/>
            <a:ext cx="7429500" cy="8191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5375" y="2152650"/>
            <a:ext cx="6953250" cy="704850"/>
          </a:xfrm>
          <a:prstGeom prst="rect">
            <a:avLst/>
          </a:prstGeom>
          <a:noFill/>
        </p:spPr>
        <p:txBody>
          <a:bodyPr wrap="square" lIns="0" rIns="0" tIns="0" bIns="0" anchor="ctr">
            <a:spAutoFit/>
          </a:bodyPr>
          <a:lstStyle/>
          <a:p>
            <a:pPr algn="r" rtl="1">
              <a:lnSpc>
                <a:spcPct val="135000"/>
              </a:lnSpc>
            </a:pPr>
            <a:r>
              <a:rPr sz="1875" b="1">
                <a:solidFill>
                  <a:srgbClr val="333333"/>
                </a:solidFill>
                <a:latin typeface="Cairo"/>
                <a:cs typeface="Cairo"/>
              </a:rPr>
              <a:t>٢-</a:t>
            </a:r>
            <a:r>
              <a:rPr sz="1875" b="0">
                <a:solidFill>
                  <a:srgbClr val="333333"/>
                </a:solidFill>
                <a:latin typeface="Cairo"/>
                <a:cs typeface="Cairo"/>
              </a:rPr>
              <a:t> ما الذي تحتاج إليه البشرية ليقوم عليه النظام الجديد؟</a:t>
            </a:r>
          </a:p>
        </p:txBody>
      </p:sp>
      <p:sp>
        <p:nvSpPr>
          <p:cNvPr id="10" name="Rounded Rectangle 9"/>
          <p:cNvSpPr/>
          <p:nvPr/>
        </p:nvSpPr>
        <p:spPr>
          <a:xfrm>
            <a:off x="857250" y="3028950"/>
            <a:ext cx="7429500" cy="8191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5375" y="3086100"/>
            <a:ext cx="6953250" cy="704850"/>
          </a:xfrm>
          <a:prstGeom prst="rect">
            <a:avLst/>
          </a:prstGeom>
          <a:noFill/>
        </p:spPr>
        <p:txBody>
          <a:bodyPr wrap="square" lIns="0" rIns="0" tIns="0" bIns="0" anchor="ctr">
            <a:spAutoFit/>
          </a:bodyPr>
          <a:lstStyle/>
          <a:p>
            <a:pPr algn="r" rtl="1">
              <a:lnSpc>
                <a:spcPct val="135000"/>
              </a:lnSpc>
            </a:pPr>
            <a:r>
              <a:rPr sz="1875" b="1">
                <a:solidFill>
                  <a:srgbClr val="333333"/>
                </a:solidFill>
                <a:latin typeface="Cairo"/>
                <a:cs typeface="Cairo"/>
              </a:rPr>
              <a:t>٣-</a:t>
            </a:r>
            <a:r>
              <a:rPr sz="1875" b="0">
                <a:solidFill>
                  <a:srgbClr val="333333"/>
                </a:solidFill>
                <a:latin typeface="Cairo"/>
                <a:cs typeface="Cairo"/>
              </a:rPr>
              <a:t> ما منزلة الإسلام من هذه القيم؟ (أساس … ونبع …؟)</a:t>
            </a:r>
          </a:p>
        </p:txBody>
      </p:sp>
      <p:sp>
        <p:nvSpPr>
          <p:cNvPr id="12" name="Rounded Rectangle 11"/>
          <p:cNvSpPr/>
          <p:nvPr/>
        </p:nvSpPr>
        <p:spPr>
          <a:xfrm>
            <a:off x="857250" y="3962400"/>
            <a:ext cx="7429500" cy="81915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5375" y="4019550"/>
            <a:ext cx="6953250" cy="704850"/>
          </a:xfrm>
          <a:prstGeom prst="rect">
            <a:avLst/>
          </a:prstGeom>
          <a:noFill/>
        </p:spPr>
        <p:txBody>
          <a:bodyPr wrap="square" lIns="0" rIns="0" tIns="0" bIns="0" anchor="ctr">
            <a:spAutoFit/>
          </a:bodyPr>
          <a:lstStyle/>
          <a:p>
            <a:pPr algn="r" rtl="1">
              <a:lnSpc>
                <a:spcPct val="135000"/>
              </a:lnSpc>
            </a:pPr>
            <a:r>
              <a:rPr sz="1875" b="1">
                <a:solidFill>
                  <a:srgbClr val="333333"/>
                </a:solidFill>
                <a:latin typeface="Cairo"/>
                <a:cs typeface="Cairo"/>
              </a:rPr>
              <a:t>٤-</a:t>
            </a:r>
            <a:r>
              <a:rPr sz="1875" b="0">
                <a:solidFill>
                  <a:srgbClr val="333333"/>
                </a:solidFill>
                <a:latin typeface="Cairo"/>
                <a:cs typeface="Cairo"/>
              </a:rPr>
              <a:t> عدِّدْ أربعًا من قيم العلاقات الإنسانية في الفقرة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800" b="1">
                <a:solidFill>
                  <a:srgbClr val="FFFFFF"/>
                </a:solidFill>
                <a:latin typeface="Cairo"/>
                <a:cs typeface="Cairo"/>
              </a:rPr>
              <a:t>المعنى العام والفكرة الرئيسة — حاولتَ بنفسك، والآن قارن بالنموذج</a:t>
            </a:r>
          </a:p>
        </p:txBody>
      </p:sp>
      <p:sp>
        <p:nvSpPr>
          <p:cNvPr id="5" name="TextBox 4"/>
          <p:cNvSpPr txBox="1"/>
          <p:nvPr/>
        </p:nvSpPr>
        <p:spPr>
          <a:xfrm>
            <a:off x="571500" y="571500"/>
            <a:ext cx="8001000" cy="381000"/>
          </a:xfrm>
          <a:prstGeom prst="rect">
            <a:avLst/>
          </a:prstGeom>
          <a:noFill/>
        </p:spPr>
        <p:txBody>
          <a:bodyPr wrap="square" lIns="0" rIns="0" tIns="0" bIns="0" anchor="ctr">
            <a:spAutoFit/>
          </a:bodyPr>
          <a:lstStyle/>
          <a:p>
            <a:pPr algn="ctr" rtl="1">
              <a:lnSpc>
                <a:spcPct val="135000"/>
              </a:lnSpc>
            </a:pPr>
            <a:r>
              <a:rPr sz="1425" b="1">
                <a:solidFill>
                  <a:srgbClr val="335693"/>
                </a:solidFill>
                <a:latin typeface="Cairo"/>
                <a:cs typeface="Cairo"/>
              </a:rPr>
              <a:t>اكتب في دفترك المعنى العام والفكرة الرئيسة لكل فقرة (4 دقائق)، ثم اضغط وقارن بإجابتك — قيّم نفسك من 10</a:t>
            </a:r>
          </a:p>
        </p:txBody>
      </p:sp>
      <p:sp>
        <p:nvSpPr>
          <p:cNvPr id="6" name="Rounded Rectangle 5"/>
          <p:cNvSpPr/>
          <p:nvPr/>
        </p:nvSpPr>
        <p:spPr>
          <a:xfrm>
            <a:off x="571500" y="1066800"/>
            <a:ext cx="8001000" cy="323850"/>
          </a:xfrm>
          <a:prstGeom prst="roundRect">
            <a:avLst>
              <a:gd name="adj" fmla="val 8000"/>
            </a:avLst>
          </a:prstGeom>
          <a:solidFill>
            <a:srgbClr val="3356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6750" y="1085850"/>
            <a:ext cx="7810500" cy="285750"/>
          </a:xfrm>
          <a:prstGeom prst="rect">
            <a:avLst/>
          </a:prstGeom>
          <a:noFill/>
        </p:spPr>
        <p:txBody>
          <a:bodyPr wrap="square" lIns="0" rIns="0" tIns="0" bIns="0" anchor="ctr">
            <a:spAutoFit/>
          </a:bodyPr>
          <a:lstStyle/>
          <a:p>
            <a:pPr algn="ctr" rtl="1">
              <a:lnSpc>
                <a:spcPct val="135000"/>
              </a:lnSpc>
            </a:pPr>
            <a:r>
              <a:rPr sz="1225" b="1">
                <a:solidFill>
                  <a:srgbClr val="FFFFFF"/>
                </a:solidFill>
                <a:latin typeface="Cairo"/>
                <a:cs typeface="Cairo"/>
              </a:rPr>
              <a:t>الفقرة الثالثة</a:t>
            </a:r>
          </a:p>
        </p:txBody>
      </p:sp>
      <p:sp>
        <p:nvSpPr>
          <p:cNvPr id="8" name="Rounded Rectangle 7"/>
          <p:cNvSpPr/>
          <p:nvPr/>
        </p:nvSpPr>
        <p:spPr>
          <a:xfrm>
            <a:off x="571500" y="1428750"/>
            <a:ext cx="8001000" cy="1314450"/>
          </a:xfrm>
          <a:prstGeom prst="roundRect">
            <a:avLst>
              <a:gd name="adj" fmla="val 10000"/>
            </a:avLst>
          </a:prstGeom>
          <a:solidFill>
            <a:srgbClr val="FFF7E8"/>
          </a:solidFill>
          <a:ln w="1270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4375" y="1485900"/>
            <a:ext cx="7715250" cy="1200150"/>
          </a:xfrm>
          <a:prstGeom prst="rect">
            <a:avLst/>
          </a:prstGeom>
          <a:noFill/>
        </p:spPr>
        <p:txBody>
          <a:bodyPr wrap="square" lIns="0" rIns="0" tIns="0" bIns="0" anchor="ctr">
            <a:spAutoFit/>
          </a:bodyPr>
          <a:lstStyle/>
          <a:p>
            <a:pPr algn="r" rtl="1">
              <a:lnSpc>
                <a:spcPct val="135000"/>
              </a:lnSpc>
            </a:pPr>
            <a:r>
              <a:rPr sz="1381" b="1">
                <a:solidFill>
                  <a:srgbClr val="C00000"/>
                </a:solidFill>
                <a:latin typeface="Cairo"/>
                <a:cs typeface="Cairo"/>
              </a:rPr>
              <a:t>المعنى العام:</a:t>
            </a:r>
            <a:r>
              <a:rPr sz="1381" b="0">
                <a:solidFill>
                  <a:srgbClr val="C00000"/>
                </a:solidFill>
                <a:latin typeface="Cairo"/>
                <a:cs typeface="Cairo"/>
              </a:rPr>
              <a:t> يتساءل العرب والمسلمون عن دورهم في العالم الجديد، ولم يعد مقبولًا الانكفاء إلى الماضي وترك المستقبل بيد غيرنا، وثمة موجة فكرية في العالمين العربي والإسلامي تسعى إلى الاستقلال ودورٍ عالميٍّ متواصل.</a:t>
            </a:r>
          </a:p>
          <a:p>
            <a:pPr algn="r" rtl="1">
              <a:lnSpc>
                <a:spcPct val="135000"/>
              </a:lnSpc>
            </a:pPr>
            <a:r>
              <a:rPr sz="1381" b="1">
                <a:solidFill>
                  <a:srgbClr val="C00000"/>
                </a:solidFill>
                <a:latin typeface="Cairo"/>
                <a:cs typeface="Cairo"/>
              </a:rPr>
              <a:t>الفكرة الرئيسة:</a:t>
            </a:r>
            <a:r>
              <a:rPr sz="1381" b="0">
                <a:solidFill>
                  <a:srgbClr val="C00000"/>
                </a:solidFill>
                <a:latin typeface="Cairo"/>
                <a:cs typeface="Cairo"/>
              </a:rPr>
              <a:t> على العرب والمسلمين المشاركة في صناعة مستقبل العالم لا الانسحاب منه.</a:t>
            </a:r>
          </a:p>
        </p:txBody>
      </p:sp>
      <p:sp>
        <p:nvSpPr>
          <p:cNvPr id="10" name="Rounded Rectangle 9"/>
          <p:cNvSpPr/>
          <p:nvPr/>
        </p:nvSpPr>
        <p:spPr>
          <a:xfrm>
            <a:off x="571500" y="2857500"/>
            <a:ext cx="8001000" cy="323850"/>
          </a:xfrm>
          <a:prstGeom prst="roundRect">
            <a:avLst>
              <a:gd name="adj" fmla="val 8000"/>
            </a:avLst>
          </a:prstGeom>
          <a:solidFill>
            <a:srgbClr val="3356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6750" y="2876550"/>
            <a:ext cx="7810500" cy="285750"/>
          </a:xfrm>
          <a:prstGeom prst="rect">
            <a:avLst/>
          </a:prstGeom>
          <a:noFill/>
        </p:spPr>
        <p:txBody>
          <a:bodyPr wrap="square" lIns="0" rIns="0" tIns="0" bIns="0" anchor="ctr">
            <a:spAutoFit/>
          </a:bodyPr>
          <a:lstStyle/>
          <a:p>
            <a:pPr algn="ctr" rtl="1">
              <a:lnSpc>
                <a:spcPct val="135000"/>
              </a:lnSpc>
            </a:pPr>
            <a:r>
              <a:rPr sz="1225" b="1">
                <a:solidFill>
                  <a:srgbClr val="FFFFFF"/>
                </a:solidFill>
                <a:latin typeface="Cairo"/>
                <a:cs typeface="Cairo"/>
              </a:rPr>
              <a:t>الفقرة الرابعة</a:t>
            </a:r>
          </a:p>
        </p:txBody>
      </p:sp>
      <p:sp>
        <p:nvSpPr>
          <p:cNvPr id="12" name="Rounded Rectangle 11"/>
          <p:cNvSpPr/>
          <p:nvPr/>
        </p:nvSpPr>
        <p:spPr>
          <a:xfrm>
            <a:off x="571500" y="3219450"/>
            <a:ext cx="8001000" cy="1314450"/>
          </a:xfrm>
          <a:prstGeom prst="roundRect">
            <a:avLst>
              <a:gd name="adj" fmla="val 10000"/>
            </a:avLst>
          </a:prstGeom>
          <a:solidFill>
            <a:srgbClr val="FFF7E8"/>
          </a:solidFill>
          <a:ln w="1270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4375" y="3276600"/>
            <a:ext cx="7715250" cy="1200150"/>
          </a:xfrm>
          <a:prstGeom prst="rect">
            <a:avLst/>
          </a:prstGeom>
          <a:noFill/>
        </p:spPr>
        <p:txBody>
          <a:bodyPr wrap="square" lIns="0" rIns="0" tIns="0" bIns="0" anchor="ctr">
            <a:spAutoFit/>
          </a:bodyPr>
          <a:lstStyle/>
          <a:p>
            <a:pPr algn="r" rtl="1">
              <a:lnSpc>
                <a:spcPct val="135000"/>
              </a:lnSpc>
            </a:pPr>
            <a:r>
              <a:rPr sz="1531" b="1">
                <a:solidFill>
                  <a:srgbClr val="C00000"/>
                </a:solidFill>
                <a:latin typeface="Cairo"/>
                <a:cs typeface="Cairo"/>
              </a:rPr>
              <a:t>المعنى العام:</a:t>
            </a:r>
            <a:r>
              <a:rPr sz="1531" b="0">
                <a:solidFill>
                  <a:srgbClr val="C00000"/>
                </a:solidFill>
                <a:latin typeface="Cairo"/>
                <a:cs typeface="Cairo"/>
              </a:rPr>
              <a:t> البشرية الحائرة الخائفة تحتاج بنيةً من القيم والمبادئ، والإسلام أساس صالح ونبع فيّاض لها: تكريم الإنسان، والمساواة المطلقة، والوُدّ والرحمة والتكافل والسلام، مع موازنة المادي بالمعنوي.</a:t>
            </a:r>
          </a:p>
          <a:p>
            <a:pPr algn="r" rtl="1">
              <a:lnSpc>
                <a:spcPct val="135000"/>
              </a:lnSpc>
            </a:pPr>
            <a:r>
              <a:rPr sz="1531" b="1">
                <a:solidFill>
                  <a:srgbClr val="C00000"/>
                </a:solidFill>
                <a:latin typeface="Cairo"/>
                <a:cs typeface="Cairo"/>
              </a:rPr>
              <a:t>الفكرة الرئيسة:</a:t>
            </a:r>
            <a:r>
              <a:rPr sz="1531" b="0">
                <a:solidFill>
                  <a:srgbClr val="C00000"/>
                </a:solidFill>
                <a:latin typeface="Cairo"/>
                <a:cs typeface="Cairo"/>
              </a:rPr>
              <a:t> الإسلام بقيمه الإنسانية الشاملة أساس صالح للنظام العالمي الجديد.</a:t>
            </a:r>
          </a:p>
        </p:txBody>
      </p:sp>
      <p:sp>
        <p:nvSpPr>
          <p:cNvPr id="14" name="TextBox 13"/>
          <p:cNvSpPr txBox="1"/>
          <p:nvPr/>
        </p:nvSpPr>
        <p:spPr>
          <a:xfrm>
            <a:off x="571500" y="4705350"/>
            <a:ext cx="8001000" cy="285750"/>
          </a:xfrm>
          <a:prstGeom prst="rect">
            <a:avLst/>
          </a:prstGeom>
          <a:noFill/>
        </p:spPr>
        <p:txBody>
          <a:bodyPr wrap="square" lIns="0" rIns="0" tIns="0" bIns="0" anchor="ctr">
            <a:spAutoFit/>
          </a:bodyPr>
          <a:lstStyle/>
          <a:p>
            <a:pPr algn="ctr" rtl="1">
              <a:lnSpc>
                <a:spcPct val="135000"/>
              </a:lnSpc>
            </a:pPr>
            <a:r>
              <a:rPr sz="1193" b="1">
                <a:solidFill>
                  <a:srgbClr val="C00000"/>
                </a:solidFill>
                <a:latin typeface="Cairo"/>
                <a:cs typeface="Cairo"/>
              </a:rPr>
              <a:t>اضغط لإظهار النموذج — ليس مطلوبًا أن تطابقه، المهم صحة المعنى بأسلوبك</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875" b="1">
                <a:solidFill>
                  <a:srgbClr val="FFFFFF"/>
                </a:solidFill>
                <a:latin typeface="Cairo"/>
                <a:cs typeface="Cairo"/>
              </a:rPr>
              <a:t>غلق الهدف (3) — الدراسة والتذوق: لغة النص 1أ (ص50)</a:t>
            </a:r>
          </a:p>
        </p:txBody>
      </p:sp>
      <p:pic>
        <p:nvPicPr>
          <p:cNvPr id="5" name="Picture 4" descr="tadawuq1a.png"/>
          <p:cNvPicPr>
            <a:picLocks noChangeAspect="1"/>
          </p:cNvPicPr>
          <p:nvPr/>
        </p:nvPicPr>
        <p:blipFill>
          <a:blip r:embed="rId4"/>
          <a:stretch>
            <a:fillRect/>
          </a:stretch>
        </p:blipFill>
        <p:spPr>
          <a:xfrm>
            <a:off x="476250" y="1015506"/>
            <a:ext cx="8191500" cy="3112487"/>
          </a:xfrm>
          <a:prstGeom prst="rect">
            <a:avLst/>
          </a:prstGeom>
        </p:spPr>
      </p:pic>
      <p:sp>
        <p:nvSpPr>
          <p:cNvPr id="6" name="TextBox 5"/>
          <p:cNvSpPr txBox="1"/>
          <p:nvPr/>
        </p:nvSpPr>
        <p:spPr>
          <a:xfrm>
            <a:off x="514350" y="4181475"/>
            <a:ext cx="7000875" cy="371475"/>
          </a:xfrm>
          <a:prstGeom prst="rect">
            <a:avLst/>
          </a:prstGeom>
          <a:noFill/>
        </p:spPr>
        <p:txBody>
          <a:bodyPr wrap="square" lIns="0" rIns="0" tIns="0" bIns="0" anchor="ctr">
            <a:spAutoFit/>
          </a:bodyPr>
          <a:lstStyle/>
          <a:p>
            <a:pPr algn="r" rtl="1">
              <a:lnSpc>
                <a:spcPct val="125000"/>
              </a:lnSpc>
            </a:pPr>
            <a:r>
              <a:rPr sz="1406" b="1">
                <a:solidFill>
                  <a:srgbClr val="335693"/>
                </a:solidFill>
                <a:latin typeface="Cairo"/>
                <a:cs typeface="Cairo"/>
              </a:rPr>
              <a:t>الإجابة:</a:t>
            </a:r>
            <a:r>
              <a:rPr sz="1406" b="1">
                <a:solidFill>
                  <a:srgbClr val="335693"/>
                </a:solidFill>
                <a:latin typeface="Cairo"/>
                <a:cs typeface="Cairo"/>
              </a:rPr>
              <a:t> مقابلة — الماديَّة والمعنويَّة معنيان متقابلان (مضادّان)</a:t>
            </a:r>
          </a:p>
        </p:txBody>
      </p:sp>
      <p:sp>
        <p:nvSpPr>
          <p:cNvPr id="7" name="TextBox 6"/>
          <p:cNvSpPr txBox="1"/>
          <p:nvPr/>
        </p:nvSpPr>
        <p:spPr>
          <a:xfrm>
            <a:off x="571500" y="4667250"/>
            <a:ext cx="8001000" cy="285750"/>
          </a:xfrm>
          <a:prstGeom prst="rect">
            <a:avLst/>
          </a:prstGeom>
          <a:noFill/>
        </p:spPr>
        <p:txBody>
          <a:bodyPr wrap="square" lIns="0" rIns="0" tIns="0" bIns="0" anchor="ctr">
            <a:spAutoFit/>
          </a:bodyPr>
          <a:lstStyle/>
          <a:p>
            <a:pPr algn="ctr" rtl="1">
              <a:lnSpc>
                <a:spcPct val="135000"/>
              </a:lnSpc>
            </a:pPr>
            <a:r>
              <a:rPr sz="1187" b="1">
                <a:solidFill>
                  <a:srgbClr val="C00000"/>
                </a:solidFill>
                <a:latin typeface="Cairo"/>
                <a:cs typeface="Cairo"/>
              </a:rPr>
              <a:t>أجب في دفترك أولًا (دقيقتان)، ثم اضغط لإظهار الإجابة النموذجية</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800" b="1">
                <a:solidFill>
                  <a:srgbClr val="FFFFFF"/>
                </a:solidFill>
                <a:latin typeface="Cairo"/>
                <a:cs typeface="Cairo"/>
              </a:rPr>
              <a:t>غلق الهدف (3/تابع) — لغة النص 2: المعنى من السياق (ص51)</a:t>
            </a:r>
          </a:p>
        </p:txBody>
      </p:sp>
      <p:pic>
        <p:nvPicPr>
          <p:cNvPr id="5" name="Picture 4" descr="lugha2.png"/>
          <p:cNvPicPr>
            <a:picLocks noChangeAspect="1"/>
          </p:cNvPicPr>
          <p:nvPr/>
        </p:nvPicPr>
        <p:blipFill>
          <a:blip r:embed="rId4"/>
          <a:stretch>
            <a:fillRect/>
          </a:stretch>
        </p:blipFill>
        <p:spPr>
          <a:xfrm>
            <a:off x="476250" y="1254685"/>
            <a:ext cx="8191500" cy="2634129"/>
          </a:xfrm>
          <a:prstGeom prst="rect">
            <a:avLst/>
          </a:prstGeom>
        </p:spPr>
      </p:pic>
      <p:sp>
        <p:nvSpPr>
          <p:cNvPr id="6" name="TextBox 5"/>
          <p:cNvSpPr txBox="1"/>
          <p:nvPr/>
        </p:nvSpPr>
        <p:spPr>
          <a:xfrm>
            <a:off x="1038225" y="2219325"/>
            <a:ext cx="2695575" cy="381000"/>
          </a:xfrm>
          <a:prstGeom prst="rect">
            <a:avLst/>
          </a:prstGeom>
          <a:noFill/>
        </p:spPr>
        <p:txBody>
          <a:bodyPr wrap="square" lIns="0" rIns="0" tIns="0" bIns="0" anchor="ctr">
            <a:spAutoFit/>
          </a:bodyPr>
          <a:lstStyle/>
          <a:p>
            <a:pPr algn="r" rtl="1">
              <a:lnSpc>
                <a:spcPct val="125000"/>
              </a:lnSpc>
            </a:pPr>
            <a:r>
              <a:rPr sz="1218" b="0">
                <a:solidFill>
                  <a:srgbClr val="335693"/>
                </a:solidFill>
                <a:latin typeface="Cairo"/>
                <a:cs typeface="Cairo"/>
              </a:rPr>
              <a:t>المتجمّعة المتتابعة عبر الزمن</a:t>
            </a:r>
          </a:p>
        </p:txBody>
      </p:sp>
      <p:sp>
        <p:nvSpPr>
          <p:cNvPr id="7" name="TextBox 6"/>
          <p:cNvSpPr txBox="1"/>
          <p:nvPr/>
        </p:nvSpPr>
        <p:spPr>
          <a:xfrm>
            <a:off x="1038225" y="2743200"/>
            <a:ext cx="2695575" cy="381000"/>
          </a:xfrm>
          <a:prstGeom prst="rect">
            <a:avLst/>
          </a:prstGeom>
          <a:noFill/>
        </p:spPr>
        <p:txBody>
          <a:bodyPr wrap="square" lIns="0" rIns="0" tIns="0" bIns="0" anchor="ctr">
            <a:spAutoFit/>
          </a:bodyPr>
          <a:lstStyle/>
          <a:p>
            <a:pPr algn="r" rtl="1">
              <a:lnSpc>
                <a:spcPct val="125000"/>
              </a:lnSpc>
            </a:pPr>
            <a:r>
              <a:rPr sz="1218" b="0">
                <a:solidFill>
                  <a:srgbClr val="335693"/>
                </a:solidFill>
                <a:latin typeface="Cairo"/>
                <a:cs typeface="Cairo"/>
              </a:rPr>
              <a:t>مصيرنا وما نؤول إليه</a:t>
            </a:r>
          </a:p>
        </p:txBody>
      </p:sp>
      <p:sp>
        <p:nvSpPr>
          <p:cNvPr id="8" name="TextBox 7"/>
          <p:cNvSpPr txBox="1"/>
          <p:nvPr/>
        </p:nvSpPr>
        <p:spPr>
          <a:xfrm>
            <a:off x="1038225" y="3267075"/>
            <a:ext cx="2695575" cy="381000"/>
          </a:xfrm>
          <a:prstGeom prst="rect">
            <a:avLst/>
          </a:prstGeom>
          <a:noFill/>
        </p:spPr>
        <p:txBody>
          <a:bodyPr wrap="square" lIns="0" rIns="0" tIns="0" bIns="0" anchor="ctr">
            <a:spAutoFit/>
          </a:bodyPr>
          <a:lstStyle/>
          <a:p>
            <a:pPr algn="r" rtl="1">
              <a:lnSpc>
                <a:spcPct val="125000"/>
              </a:lnSpc>
            </a:pPr>
            <a:r>
              <a:rPr sz="1218" b="0">
                <a:solidFill>
                  <a:srgbClr val="335693"/>
                </a:solidFill>
                <a:latin typeface="Cairo"/>
                <a:cs typeface="Cairo"/>
              </a:rPr>
              <a:t>المستمرّ الجادّ الذي لا ينقطع</a:t>
            </a:r>
          </a:p>
        </p:txBody>
      </p:sp>
      <p:sp>
        <p:nvSpPr>
          <p:cNvPr id="9" name="TextBox 8"/>
          <p:cNvSpPr txBox="1"/>
          <p:nvPr/>
        </p:nvSpPr>
        <p:spPr>
          <a:xfrm>
            <a:off x="571500" y="4667250"/>
            <a:ext cx="8001000" cy="285750"/>
          </a:xfrm>
          <a:prstGeom prst="rect">
            <a:avLst/>
          </a:prstGeom>
          <a:noFill/>
        </p:spPr>
        <p:txBody>
          <a:bodyPr wrap="square" lIns="0" rIns="0" tIns="0" bIns="0" anchor="ctr">
            <a:spAutoFit/>
          </a:bodyPr>
          <a:lstStyle/>
          <a:p>
            <a:pPr algn="ctr" rtl="1">
              <a:lnSpc>
                <a:spcPct val="135000"/>
              </a:lnSpc>
            </a:pPr>
            <a:r>
              <a:rPr sz="1187" b="1">
                <a:solidFill>
                  <a:srgbClr val="C00000"/>
                </a:solidFill>
                <a:latin typeface="Cairo"/>
                <a:cs typeface="Cairo"/>
              </a:rPr>
              <a:t>أجب في دفترك أولًا (3 دقائق)، ثم اضغط لإظهار المعنى النموذجي — ناقش كيف استدللت من السياق</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825" b="1">
                <a:solidFill>
                  <a:srgbClr val="FFFFFF"/>
                </a:solidFill>
                <a:latin typeface="Cairo"/>
                <a:cs typeface="Cairo"/>
              </a:rPr>
              <a:t>غلق الهدف (3/تابع) — لغة النص 3: الدلالة المجازية (ص51)</a:t>
            </a:r>
          </a:p>
        </p:txBody>
      </p:sp>
      <p:pic>
        <p:nvPicPr>
          <p:cNvPr id="5" name="Picture 4" descr="lugha3.png"/>
          <p:cNvPicPr>
            <a:picLocks noChangeAspect="1"/>
          </p:cNvPicPr>
          <p:nvPr/>
        </p:nvPicPr>
        <p:blipFill>
          <a:blip r:embed="rId4"/>
          <a:stretch>
            <a:fillRect/>
          </a:stretch>
        </p:blipFill>
        <p:spPr>
          <a:xfrm>
            <a:off x="476250" y="1294840"/>
            <a:ext cx="8191500" cy="2553821"/>
          </a:xfrm>
          <a:prstGeom prst="rect">
            <a:avLst/>
          </a:prstGeom>
        </p:spPr>
      </p:pic>
      <p:sp>
        <p:nvSpPr>
          <p:cNvPr id="6" name="TextBox 5"/>
          <p:cNvSpPr txBox="1"/>
          <p:nvPr/>
        </p:nvSpPr>
        <p:spPr>
          <a:xfrm>
            <a:off x="1038225" y="2209800"/>
            <a:ext cx="2695575" cy="381000"/>
          </a:xfrm>
          <a:prstGeom prst="rect">
            <a:avLst/>
          </a:prstGeom>
          <a:noFill/>
        </p:spPr>
        <p:txBody>
          <a:bodyPr wrap="square" lIns="0" rIns="0" tIns="0" bIns="0" anchor="ctr">
            <a:spAutoFit/>
          </a:bodyPr>
          <a:lstStyle/>
          <a:p>
            <a:pPr algn="r" rtl="1">
              <a:lnSpc>
                <a:spcPct val="125000"/>
              </a:lnSpc>
            </a:pPr>
            <a:r>
              <a:rPr sz="1125" b="0">
                <a:solidFill>
                  <a:srgbClr val="335693"/>
                </a:solidFill>
                <a:latin typeface="Cairo"/>
                <a:cs typeface="Cairo"/>
              </a:rPr>
              <a:t>الصراع السياسي بلا قتال مسلّح مباشر</a:t>
            </a:r>
          </a:p>
        </p:txBody>
      </p:sp>
      <p:sp>
        <p:nvSpPr>
          <p:cNvPr id="7" name="TextBox 6"/>
          <p:cNvSpPr txBox="1"/>
          <p:nvPr/>
        </p:nvSpPr>
        <p:spPr>
          <a:xfrm>
            <a:off x="1038225" y="2724150"/>
            <a:ext cx="2695575" cy="381000"/>
          </a:xfrm>
          <a:prstGeom prst="rect">
            <a:avLst/>
          </a:prstGeom>
          <a:noFill/>
        </p:spPr>
        <p:txBody>
          <a:bodyPr wrap="square" lIns="0" rIns="0" tIns="0" bIns="0" anchor="ctr">
            <a:spAutoFit/>
          </a:bodyPr>
          <a:lstStyle/>
          <a:p>
            <a:pPr algn="r" rtl="1">
              <a:lnSpc>
                <a:spcPct val="125000"/>
              </a:lnSpc>
            </a:pPr>
            <a:r>
              <a:rPr sz="1218" b="0">
                <a:solidFill>
                  <a:srgbClr val="335693"/>
                </a:solidFill>
                <a:latin typeface="Cairo"/>
                <a:cs typeface="Cairo"/>
              </a:rPr>
              <a:t>التجمّع والحلف</a:t>
            </a:r>
          </a:p>
        </p:txBody>
      </p:sp>
      <p:sp>
        <p:nvSpPr>
          <p:cNvPr id="8" name="TextBox 7"/>
          <p:cNvSpPr txBox="1"/>
          <p:nvPr/>
        </p:nvSpPr>
        <p:spPr>
          <a:xfrm>
            <a:off x="1038225" y="3257550"/>
            <a:ext cx="2695575" cy="381000"/>
          </a:xfrm>
          <a:prstGeom prst="rect">
            <a:avLst/>
          </a:prstGeom>
          <a:noFill/>
        </p:spPr>
        <p:txBody>
          <a:bodyPr wrap="square" lIns="0" rIns="0" tIns="0" bIns="0" anchor="ctr">
            <a:spAutoFit/>
          </a:bodyPr>
          <a:lstStyle/>
          <a:p>
            <a:pPr algn="r" rtl="1">
              <a:lnSpc>
                <a:spcPct val="125000"/>
              </a:lnSpc>
            </a:pPr>
            <a:r>
              <a:rPr sz="1218" b="0">
                <a:solidFill>
                  <a:srgbClr val="335693"/>
                </a:solidFill>
                <a:latin typeface="Cairo"/>
                <a:cs typeface="Cairo"/>
              </a:rPr>
              <a:t>الأساس الذي يُبنى عليه</a:t>
            </a:r>
          </a:p>
        </p:txBody>
      </p:sp>
      <p:sp>
        <p:nvSpPr>
          <p:cNvPr id="9" name="TextBox 8"/>
          <p:cNvSpPr txBox="1"/>
          <p:nvPr/>
        </p:nvSpPr>
        <p:spPr>
          <a:xfrm>
            <a:off x="571500" y="4667250"/>
            <a:ext cx="8001000" cy="285750"/>
          </a:xfrm>
          <a:prstGeom prst="rect">
            <a:avLst/>
          </a:prstGeom>
          <a:noFill/>
        </p:spPr>
        <p:txBody>
          <a:bodyPr wrap="square" lIns="0" rIns="0" tIns="0" bIns="0" anchor="ctr">
            <a:spAutoFit/>
          </a:bodyPr>
          <a:lstStyle/>
          <a:p>
            <a:pPr algn="ctr" rtl="1">
              <a:lnSpc>
                <a:spcPct val="135000"/>
              </a:lnSpc>
            </a:pPr>
            <a:r>
              <a:rPr sz="1187" b="1">
                <a:solidFill>
                  <a:srgbClr val="C00000"/>
                </a:solidFill>
                <a:latin typeface="Cairo"/>
                <a:cs typeface="Cairo"/>
              </a:rPr>
              <a:t>أجب في دفترك أولًا (3 دقائق)، ثم اضغط لإظهار الدلالة النموذجية</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30000"/>
              </a:lnSpc>
            </a:pPr>
            <a:r>
              <a:rPr sz="1425" b="1">
                <a:solidFill>
                  <a:srgbClr val="FFFFFF"/>
                </a:solidFill>
                <a:latin typeface="Cairo"/>
                <a:cs typeface="Cairo"/>
              </a:rPr>
              <a:t>الختام: لعبة الدرس على منصة كنوز</a:t>
            </a:r>
          </a:p>
        </p:txBody>
      </p:sp>
      <p:sp>
        <p:nvSpPr>
          <p:cNvPr id="5" name="TextBox 4"/>
          <p:cNvSpPr txBox="1"/>
          <p:nvPr/>
        </p:nvSpPr>
        <p:spPr>
          <a:xfrm>
            <a:off x="571500" y="666750"/>
            <a:ext cx="8001000" cy="476250"/>
          </a:xfrm>
          <a:prstGeom prst="rect">
            <a:avLst/>
          </a:prstGeom>
          <a:noFill/>
        </p:spPr>
        <p:txBody>
          <a:bodyPr wrap="none" lIns="0" rIns="0" tIns="0" bIns="0" anchor="ctr">
            <a:spAutoFit/>
          </a:bodyPr>
          <a:lstStyle/>
          <a:p>
            <a:pPr algn="ctr" rtl="1">
              <a:lnSpc>
                <a:spcPct val="120000"/>
              </a:lnSpc>
            </a:pPr>
            <a:r>
              <a:rPr sz="2812" b="1">
                <a:solidFill>
                  <a:srgbClr val="335693"/>
                </a:solidFill>
                <a:latin typeface="Cairo"/>
                <a:cs typeface="Cairo"/>
              </a:rPr>
              <a:t>🎮 العب لعبة هذا الدرس الآن</a:t>
            </a:r>
          </a:p>
        </p:txBody>
      </p:sp>
      <p:sp>
        <p:nvSpPr>
          <p:cNvPr id="6" name="TextBox 5"/>
          <p:cNvSpPr txBox="1"/>
          <p:nvPr/>
        </p:nvSpPr>
        <p:spPr>
          <a:xfrm>
            <a:off x="571500" y="1181100"/>
            <a:ext cx="8001000" cy="323850"/>
          </a:xfrm>
          <a:prstGeom prst="rect">
            <a:avLst/>
          </a:prstGeom>
          <a:noFill/>
        </p:spPr>
        <p:txBody>
          <a:bodyPr wrap="none" lIns="0" rIns="0" tIns="0" bIns="0" anchor="ctr">
            <a:spAutoFit/>
          </a:bodyPr>
          <a:lstStyle/>
          <a:p>
            <a:pPr algn="ctr" rtl="1">
              <a:lnSpc>
                <a:spcPct val="120000"/>
              </a:lnSpc>
            </a:pPr>
            <a:r>
              <a:rPr sz="1687" b="0">
                <a:solidFill>
                  <a:srgbClr val="333333"/>
                </a:solidFill>
                <a:latin typeface="Cairo"/>
                <a:cs typeface="Cairo"/>
              </a:rPr>
              <a:t>امسح الرابط أو افتحه من منصة الصف — أسئلة خُصّت لهذا الدرس</a:t>
            </a:r>
          </a:p>
        </p:txBody>
      </p:sp>
      <p:sp>
        <p:nvSpPr>
          <p:cNvPr id="7" name="Rounded Rectangle 6"/>
          <p:cNvSpPr/>
          <p:nvPr/>
        </p:nvSpPr>
        <p:spPr>
          <a:xfrm>
            <a:off x="1428750" y="1666875"/>
            <a:ext cx="6286500" cy="742950"/>
          </a:xfrm>
          <a:prstGeom prst="roundRect">
            <a:avLst>
              <a:gd name="adj" fmla="val 12000"/>
            </a:avLst>
          </a:prstGeom>
          <a:solidFill>
            <a:srgbClr val="FFFFFF"/>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19250" y="1790700"/>
            <a:ext cx="5905500" cy="514350"/>
          </a:xfrm>
          <a:prstGeom prst="rect">
            <a:avLst/>
          </a:prstGeom>
          <a:noFill/>
        </p:spPr>
        <p:txBody>
          <a:bodyPr wrap="none" lIns="0" rIns="0" tIns="0" bIns="0" anchor="ctr">
            <a:spAutoFit/>
          </a:bodyPr>
          <a:lstStyle/>
          <a:p>
            <a:pPr algn="ctr" rtl="1"/>
            <a:r>
              <a:rPr sz="2200" b="1" u="sng">
                <a:solidFill>
                  <a:srgbClr val="C00000"/>
                </a:solidFill>
                <a:latin typeface="Cairo"/>
                <a:hlinkClick r:id="rId4"/>
              </a:rPr>
              <a:t>https://uw3vlhc2of5wm.kimi.pro/banks/g12-mustaqbal-2</a:t>
            </a:r>
          </a:p>
        </p:txBody>
      </p:sp>
      <p:sp>
        <p:nvSpPr>
          <p:cNvPr id="9" name="TextBox 8"/>
          <p:cNvSpPr txBox="1"/>
          <p:nvPr/>
        </p:nvSpPr>
        <p:spPr>
          <a:xfrm>
            <a:off x="1428750" y="2457450"/>
            <a:ext cx="6286500" cy="247650"/>
          </a:xfrm>
          <a:prstGeom prst="rect">
            <a:avLst/>
          </a:prstGeom>
          <a:noFill/>
        </p:spPr>
        <p:txBody>
          <a:bodyPr wrap="none" lIns="0" rIns="0" tIns="0" bIns="0" anchor="ctr">
            <a:spAutoFit/>
          </a:bodyPr>
          <a:lstStyle/>
          <a:p>
            <a:pPr algn="ctr" rtl="1">
              <a:lnSpc>
                <a:spcPct val="110000"/>
              </a:lnSpc>
            </a:pPr>
            <a:r>
              <a:rPr sz="1406" b="0">
                <a:solidFill>
                  <a:srgbClr val="333333"/>
                </a:solidFill>
                <a:latin typeface="Cairo"/>
                <a:cs typeface="Cairo"/>
              </a:rPr>
              <a:t>انسخ الرابط في متصفح جهازك اللوحي مباشرة</a:t>
            </a:r>
          </a:p>
        </p:txBody>
      </p:sp>
      <p:sp>
        <p:nvSpPr>
          <p:cNvPr id="10" name="Rounded Rectangle 9"/>
          <p:cNvSpPr/>
          <p:nvPr/>
        </p:nvSpPr>
        <p:spPr>
          <a:xfrm>
            <a:off x="1428750" y="2857500"/>
            <a:ext cx="6286500" cy="1028700"/>
          </a:xfrm>
          <a:prstGeom prst="roundRect">
            <a:avLst>
              <a:gd name="adj" fmla="val 12000"/>
            </a:avLst>
          </a:prstGeom>
          <a:solidFill>
            <a:srgbClr val="FFFFFF"/>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19250" y="2971800"/>
            <a:ext cx="5905500" cy="304800"/>
          </a:xfrm>
          <a:prstGeom prst="rect">
            <a:avLst/>
          </a:prstGeom>
          <a:noFill/>
        </p:spPr>
        <p:txBody>
          <a:bodyPr wrap="none" lIns="0" rIns="0" tIns="0" bIns="0" anchor="ctr">
            <a:spAutoFit/>
          </a:bodyPr>
          <a:lstStyle/>
          <a:p>
            <a:pPr algn="ctr" rtl="1">
              <a:lnSpc>
                <a:spcPct val="120000"/>
              </a:lnSpc>
            </a:pPr>
            <a:r>
              <a:rPr sz="1875" b="1">
                <a:solidFill>
                  <a:srgbClr val="335693"/>
                </a:solidFill>
                <a:latin typeface="Cairo"/>
                <a:cs typeface="Cairo"/>
              </a:rPr>
              <a:t>🎓 للمراجعة في المنزل: تدرّب فرديًا</a:t>
            </a:r>
          </a:p>
        </p:txBody>
      </p:sp>
      <p:sp>
        <p:nvSpPr>
          <p:cNvPr id="12" name="TextBox 11"/>
          <p:cNvSpPr txBox="1"/>
          <p:nvPr/>
        </p:nvSpPr>
        <p:spPr>
          <a:xfrm>
            <a:off x="1619250" y="3314700"/>
            <a:ext cx="5905500" cy="495300"/>
          </a:xfrm>
          <a:prstGeom prst="rect">
            <a:avLst/>
          </a:prstGeom>
          <a:noFill/>
        </p:spPr>
        <p:txBody>
          <a:bodyPr wrap="square" lIns="0" rIns="0" tIns="0" bIns="0" anchor="ctr">
            <a:spAutoFit/>
          </a:bodyPr>
          <a:lstStyle/>
          <a:p>
            <a:pPr algn="ctr" rtl="1">
              <a:lnSpc>
                <a:spcPct val="130000"/>
              </a:lnSpc>
            </a:pPr>
            <a:r>
              <a:rPr sz="1243" b="0">
                <a:solidFill>
                  <a:srgbClr val="333333"/>
                </a:solidFill>
                <a:latin typeface="Cairo"/>
                <a:cs typeface="Cairo"/>
              </a:rPr>
              <a:t>من صفحة اللعبة اضغط «تدرّب فرديًا» — العب وحدك بلا معلم، وتعرّف مستواك بعد كل تدريب</a:t>
            </a:r>
          </a:p>
        </p:txBody>
      </p:sp>
      <p:sp>
        <p:nvSpPr>
          <p:cNvPr id="13" name="TextBox 12"/>
          <p:cNvSpPr txBox="1"/>
          <p:nvPr/>
        </p:nvSpPr>
        <p:spPr>
          <a:xfrm>
            <a:off x="1143000" y="4048125"/>
            <a:ext cx="6858000" cy="381000"/>
          </a:xfrm>
          <a:prstGeom prst="rect">
            <a:avLst/>
          </a:prstGeom>
          <a:noFill/>
        </p:spPr>
        <p:txBody>
          <a:bodyPr wrap="none" lIns="0" rIns="0" tIns="0" bIns="0" anchor="ctr">
            <a:spAutoFit/>
          </a:bodyPr>
          <a:lstStyle/>
          <a:p>
            <a:pPr algn="ctr" rtl="1">
              <a:lnSpc>
                <a:spcPct val="120000"/>
              </a:lnSpc>
            </a:pPr>
            <a:r>
              <a:rPr sz="1781" b="1">
                <a:solidFill>
                  <a:srgbClr val="C00000"/>
                </a:solidFill>
                <a:latin typeface="Cairo"/>
                <a:cs typeface="Cairo"/>
              </a:rPr>
              <a:t>🏆 أنهِ اللعبة وستعرف المستوى الذي وصلت إليه في هذا الدرس</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