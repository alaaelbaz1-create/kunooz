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mustaqbal-3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335693"/>
                </a:solidFill>
                <a:latin typeface="Cairo"/>
                <a:cs typeface="Cairo"/>
              </a:rPr>
              <a:t>Lesson: Reading: Mustaqbal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القراءة: مستقبل العالم ومكاننا فيه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الثالثة — الفقرتان الخامسة والسادسة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النص الثاني، الوحدة الأولى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يقرأَ الفقرتين الخامسة والسادسة قراءةً جهريةً صحيحةً ويضبطَ مفرداتِهما الجديدة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يستخرجَ المعنى العام والفكرةَ الرئيسة لكل فقرة من الفقرتين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1813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385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يجيبَ عن سؤالي الاستيعاب 4-5 وتدريبِ لغة النص 1ب في كتابه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الذي تحتاج إليه البشرية ليقوم عليه النظام الجديد؟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بِمَ وصف الكاتبُ الإسلامَ في الفقرة الرابعة؟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توقّع: ما شرطا نجاح الدور الحضاري للعرب؟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25" b="1">
                <a:solidFill>
                  <a:srgbClr val="FFFFFF"/>
                </a:solidFill>
                <a:latin typeface="Cairo"/>
                <a:cs typeface="Cairo"/>
              </a:rPr>
              <a:t>القراءة الجهرية — الفقرة الخامسة (ص49)</a:t>
            </a:r>
          </a:p>
        </p:txBody>
      </p:sp>
      <p:pic>
        <p:nvPicPr>
          <p:cNvPr id="5" name="Picture 4" descr="juz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1640253"/>
            <a:ext cx="5905500" cy="22820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0300" y="628650"/>
            <a:ext cx="2743200" cy="43053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254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600" y="742950"/>
            <a:ext cx="2514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75" b="1">
                <a:solidFill>
                  <a:srgbClr val="335693"/>
                </a:solidFill>
                <a:latin typeface="Cairo"/>
                <a:cs typeface="Cairo"/>
              </a:rPr>
              <a:t>أقرأ الفقرة الخامسة بنفسي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1181100"/>
            <a:ext cx="25146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181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181" b="0">
                <a:solidFill>
                  <a:srgbClr val="333333"/>
                </a:solidFill>
                <a:latin typeface="Cairo"/>
                <a:cs typeface="Cairo"/>
              </a:rPr>
              <a:t> أُنصت إلى نمذجة معلّمي لبداية الفقرة</a:t>
            </a:r>
          </a:p>
          <a:p>
            <a:pPr algn="r" rtl="1">
              <a:lnSpc>
                <a:spcPct val="150000"/>
              </a:lnSpc>
            </a:pPr>
            <a:r>
              <a:rPr sz="1181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181" b="0">
                <a:solidFill>
                  <a:srgbClr val="333333"/>
                </a:solidFill>
                <a:latin typeface="Cairo"/>
                <a:cs typeface="Cairo"/>
              </a:rPr>
              <a:t> أقرأ الفقرة جهرًا مراعيًا الضبط والوقفات</a:t>
            </a:r>
          </a:p>
          <a:p>
            <a:pPr algn="r" rtl="1">
              <a:lnSpc>
                <a:spcPct val="150000"/>
              </a:lnSpc>
            </a:pPr>
            <a:r>
              <a:rPr sz="1181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181" b="0">
                <a:solidFill>
                  <a:srgbClr val="333333"/>
                </a:solidFill>
                <a:latin typeface="Cairo"/>
                <a:cs typeface="Cairo"/>
              </a:rPr>
              <a:t> أستعين بهامش الكتاب عند (مَرْهون — التَّصْفِيَّة)</a:t>
            </a:r>
          </a:p>
          <a:p>
            <a:pPr algn="r" rtl="1">
              <a:lnSpc>
                <a:spcPct val="150000"/>
              </a:lnSpc>
            </a:pPr>
            <a:r>
              <a:rPr sz="1181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181" b="0">
                <a:solidFill>
                  <a:srgbClr val="333333"/>
                </a:solidFill>
                <a:latin typeface="Cairo"/>
                <a:cs typeface="Cairo"/>
              </a:rPr>
              <a:t> أحدد الأمرين اللذين يتوقف عليهما الدور الحضاري</a:t>
            </a:r>
          </a:p>
          <a:p>
            <a:pPr algn="r" rtl="1">
              <a:lnSpc>
                <a:spcPct val="150000"/>
              </a:lnSpc>
            </a:pPr>
            <a:r>
              <a:rPr sz="1181" b="1">
                <a:solidFill>
                  <a:srgbClr val="333333"/>
                </a:solidFill>
                <a:latin typeface="Cairo"/>
                <a:cs typeface="Cairo"/>
              </a:rPr>
              <a:t>٥-</a:t>
            </a:r>
            <a:r>
              <a:rPr sz="1181" b="0">
                <a:solidFill>
                  <a:srgbClr val="333333"/>
                </a:solidFill>
                <a:latin typeface="Cairo"/>
                <a:cs typeface="Cairo"/>
              </a:rPr>
              <a:t> إن صعُبت عليّ كلمة أهجّئها مقطعًا مقطعًا ثم أقرؤها كاملة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4095750"/>
            <a:ext cx="25146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37" b="1">
                <a:solidFill>
                  <a:srgbClr val="C00000"/>
                </a:solidFill>
                <a:latin typeface="Cairo"/>
                <a:cs typeface="Cairo"/>
              </a:rPr>
              <a:t>قاعدة الجماعة: الإنصات أولًا، ثم الكلّ يقرأ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25" b="1">
                <a:solidFill>
                  <a:srgbClr val="FFFFFF"/>
                </a:solidFill>
                <a:latin typeface="Cairo"/>
                <a:cs typeface="Cairo"/>
              </a:rPr>
              <a:t>القراءة الجهرية — الفقرة السادسة (ص49)</a:t>
            </a:r>
          </a:p>
        </p:txBody>
      </p:sp>
      <p:pic>
        <p:nvPicPr>
          <p:cNvPr id="5" name="Picture 4" descr="juz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1407386"/>
            <a:ext cx="5905500" cy="27478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0300" y="628650"/>
            <a:ext cx="2743200" cy="43053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254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600" y="742950"/>
            <a:ext cx="2514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75" b="1">
                <a:solidFill>
                  <a:srgbClr val="335693"/>
                </a:solidFill>
                <a:latin typeface="Cairo"/>
                <a:cs typeface="Cairo"/>
              </a:rPr>
              <a:t>أقرأ الفقرة السادسة بنفسي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1181100"/>
            <a:ext cx="25146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181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181" b="0">
                <a:solidFill>
                  <a:srgbClr val="333333"/>
                </a:solidFill>
                <a:latin typeface="Cairo"/>
                <a:cs typeface="Cairo"/>
              </a:rPr>
              <a:t> أُنصت إلى نمذجة معلّمي لبداية الفقرة</a:t>
            </a:r>
          </a:p>
          <a:p>
            <a:pPr algn="r" rtl="1">
              <a:lnSpc>
                <a:spcPct val="150000"/>
              </a:lnSpc>
            </a:pPr>
            <a:r>
              <a:rPr sz="1181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181" b="0">
                <a:solidFill>
                  <a:srgbClr val="333333"/>
                </a:solidFill>
                <a:latin typeface="Cairo"/>
                <a:cs typeface="Cairo"/>
              </a:rPr>
              <a:t> أقرأ الفقرة جهرًا مراعيًا الضبط والوقفات</a:t>
            </a:r>
          </a:p>
          <a:p>
            <a:pPr algn="r" rtl="1">
              <a:lnSpc>
                <a:spcPct val="150000"/>
              </a:lnSpc>
            </a:pPr>
            <a:r>
              <a:rPr sz="1181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181" b="0">
                <a:solidFill>
                  <a:srgbClr val="333333"/>
                </a:solidFill>
                <a:latin typeface="Cairo"/>
                <a:cs typeface="Cairo"/>
              </a:rPr>
              <a:t> أستعين بهامش الكتاب عند (اجْتِرار — الإذانة)</a:t>
            </a:r>
          </a:p>
          <a:p>
            <a:pPr algn="r" rtl="1">
              <a:lnSpc>
                <a:spcPct val="150000"/>
              </a:lnSpc>
            </a:pPr>
            <a:r>
              <a:rPr sz="1181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181" b="0">
                <a:solidFill>
                  <a:srgbClr val="333333"/>
                </a:solidFill>
                <a:latin typeface="Cairo"/>
                <a:cs typeface="Cairo"/>
              </a:rPr>
              <a:t> ألخّص شفهيًّا ما يطلبه الكاتب من العرب والمسلمين</a:t>
            </a:r>
          </a:p>
          <a:p>
            <a:pPr algn="r" rtl="1">
              <a:lnSpc>
                <a:spcPct val="150000"/>
              </a:lnSpc>
            </a:pPr>
            <a:r>
              <a:rPr sz="1181" b="1">
                <a:solidFill>
                  <a:srgbClr val="333333"/>
                </a:solidFill>
                <a:latin typeface="Cairo"/>
                <a:cs typeface="Cairo"/>
              </a:rPr>
              <a:t>٥-</a:t>
            </a:r>
            <a:r>
              <a:rPr sz="1181" b="0">
                <a:solidFill>
                  <a:srgbClr val="333333"/>
                </a:solidFill>
                <a:latin typeface="Cairo"/>
                <a:cs typeface="Cairo"/>
              </a:rPr>
              <a:t> إن صعُبت عليّ كلمة أهجّئها مقطعًا مقطعًا ثم أقرؤها كاملة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4095750"/>
            <a:ext cx="25146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37" b="1">
                <a:solidFill>
                  <a:srgbClr val="C00000"/>
                </a:solidFill>
                <a:latin typeface="Cairo"/>
                <a:cs typeface="Cairo"/>
              </a:rPr>
              <a:t>قاعدة الجماعة: الإنصات أولًا، ثم الكلّ يقرأ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نشاط مستقل (1) — المفردات الجديدة: صِلْ الكلمة بمعناها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31" b="1">
                <a:solidFill>
                  <a:srgbClr val="335693"/>
                </a:solidFill>
                <a:latin typeface="Cairo"/>
                <a:cs typeface="Cairo"/>
              </a:rPr>
              <a:t>اكتب في دفترك رقمَ الكلمة وحرفَ معناها الصحيح (3 دقائق)، مستعينًا بهامش الكتاب وسياق النص (ص49)، ثم صحّح بنفسك — كل إجابة بنقطة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11049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1- مَرْهون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1650" y="11049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00700" y="1143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1049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1430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7" b="1">
                <a:solidFill>
                  <a:srgbClr val="333333"/>
                </a:solidFill>
                <a:latin typeface="Cairo"/>
                <a:cs typeface="Cairo"/>
              </a:rPr>
              <a:t>أ-</a:t>
            </a: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 إعادة وتكرار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0" y="17145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7526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2- التَّصْفِيَّة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1650" y="17145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0700" y="17526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7145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50" y="17526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7" b="1">
                <a:solidFill>
                  <a:srgbClr val="333333"/>
                </a:solidFill>
                <a:latin typeface="Cairo"/>
                <a:cs typeface="Cairo"/>
              </a:rPr>
              <a:t>ب-</a:t>
            </a: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 مرتبط ومقيَّد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0" y="23241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3622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3- اجْتِرار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1650" y="23241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00700" y="23622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23241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50" y="23622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7" b="1">
                <a:solidFill>
                  <a:srgbClr val="333333"/>
                </a:solidFill>
                <a:latin typeface="Cairo"/>
                <a:cs typeface="Cairo"/>
              </a:rPr>
              <a:t>ج-</a:t>
            </a: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 الحُكم على الشخص وإلصاق التهمة به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0" y="29337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9718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4- الإذانة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81650" y="29337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0700" y="29718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29337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750" y="29718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7" b="1">
                <a:solidFill>
                  <a:srgbClr val="333333"/>
                </a:solidFill>
                <a:latin typeface="Cairo"/>
                <a:cs typeface="Cairo"/>
              </a:rPr>
              <a:t>د-</a:t>
            </a: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 القضاء عليهم بالقتل والاغتيال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0" y="35433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5814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5- اليَقَظَة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81650" y="35433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00700" y="35814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35433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750" y="35814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7" b="1">
                <a:solidFill>
                  <a:srgbClr val="333333"/>
                </a:solidFill>
                <a:latin typeface="Cairo"/>
                <a:cs typeface="Cairo"/>
              </a:rPr>
              <a:t>هـ-</a:t>
            </a: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 الانقطاع والجفاء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0" y="41529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1910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6- القَطيعة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81650" y="41529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0700" y="4191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هـ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" y="41529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750" y="41910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7" b="1">
                <a:solidFill>
                  <a:srgbClr val="333333"/>
                </a:solidFill>
                <a:latin typeface="Cairo"/>
                <a:cs typeface="Cairo"/>
              </a:rPr>
              <a:t>و-</a:t>
            </a: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 الانتباه والوعي التام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483870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93" b="1">
                <a:solidFill>
                  <a:srgbClr val="C00000"/>
                </a:solidFill>
                <a:latin typeface="Cairo"/>
                <a:cs typeface="Cairo"/>
              </a:rPr>
              <a:t>اضغط لإظهار الحل الصحيح وصحّح إجاباتك بنفسك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  <p:bldP spid="27" grpId="0"/>
      <p:bldP spid="33" grpId="0"/>
      <p:bldP spid="39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المفردات الجديدة (تابع) — كلمة وجمعها، وكلمة ومضادها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75" b="1">
                <a:solidFill>
                  <a:srgbClr val="335693"/>
                </a:solidFill>
                <a:latin typeface="Cairo"/>
                <a:cs typeface="Cairo"/>
              </a:rPr>
              <a:t>ابحث في الفقرتين (ص49) عن الجمع والمضاد، واكتبهما في دفترك (دقيقتان)، ثم صحّح بالنموذج — نقطتان لكل إجابة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500" y="1123950"/>
            <a:ext cx="1905000" cy="7810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4650" y="1181100"/>
            <a:ext cx="17907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87" b="1">
                <a:solidFill>
                  <a:srgbClr val="335693"/>
                </a:solidFill>
                <a:latin typeface="Cairo"/>
                <a:cs typeface="Cairo"/>
              </a:rPr>
              <a:t>كلمة وجمعها</a:t>
            </a:r>
          </a:p>
          <a:p>
            <a:pPr algn="ctr" rtl="1">
              <a:lnSpc>
                <a:spcPct val="135000"/>
              </a:lnSpc>
            </a:pPr>
            <a:r>
              <a:rPr sz="1387" b="1">
                <a:solidFill>
                  <a:srgbClr val="335693"/>
                </a:solidFill>
                <a:latin typeface="Cairo"/>
                <a:cs typeface="Cairo"/>
              </a:rPr>
              <a:t>حَمْلَة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123950"/>
            <a:ext cx="6000750" cy="7810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" y="1181100"/>
            <a:ext cx="58102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687" b="0">
                <a:solidFill>
                  <a:srgbClr val="C00000"/>
                </a:solidFill>
                <a:latin typeface="Cairo"/>
                <a:cs typeface="Cairo"/>
              </a:rPr>
              <a:t>جمعها: حَمَلَات — «حملاتِ الإبادة والتَّصْفِيَة»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0" y="2019300"/>
            <a:ext cx="1905000" cy="7810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4650" y="2076450"/>
            <a:ext cx="17907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87" b="1">
                <a:solidFill>
                  <a:srgbClr val="335693"/>
                </a:solidFill>
                <a:latin typeface="Cairo"/>
                <a:cs typeface="Cairo"/>
              </a:rPr>
              <a:t>كلمة وجمعها</a:t>
            </a:r>
          </a:p>
          <a:p>
            <a:pPr algn="ctr" rtl="1">
              <a:lnSpc>
                <a:spcPct val="135000"/>
              </a:lnSpc>
            </a:pPr>
            <a:r>
              <a:rPr sz="1387" b="1">
                <a:solidFill>
                  <a:srgbClr val="335693"/>
                </a:solidFill>
                <a:latin typeface="Cairo"/>
                <a:cs typeface="Cairo"/>
              </a:rPr>
              <a:t>سَهْم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2019300"/>
            <a:ext cx="6000750" cy="7810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750" y="2076450"/>
            <a:ext cx="58102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687" b="0">
                <a:solidFill>
                  <a:srgbClr val="C00000"/>
                </a:solidFill>
                <a:latin typeface="Cairo"/>
                <a:cs typeface="Cairo"/>
              </a:rPr>
              <a:t>جمعها: سِهام — «بسِهامِ النَّقْد والاتهام»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500" y="2914650"/>
            <a:ext cx="1905000" cy="7810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4650" y="2971800"/>
            <a:ext cx="17907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87" b="1">
                <a:solidFill>
                  <a:srgbClr val="335693"/>
                </a:solidFill>
                <a:latin typeface="Cairo"/>
                <a:cs typeface="Cairo"/>
              </a:rPr>
              <a:t>كلمة ومضادها</a:t>
            </a:r>
          </a:p>
          <a:p>
            <a:pPr algn="ctr" rtl="1">
              <a:lnSpc>
                <a:spcPct val="135000"/>
              </a:lnSpc>
            </a:pPr>
            <a:r>
              <a:rPr sz="1387" b="1">
                <a:solidFill>
                  <a:srgbClr val="335693"/>
                </a:solidFill>
                <a:latin typeface="Cairo"/>
                <a:cs typeface="Cairo"/>
              </a:rPr>
              <a:t>العُزْلَة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2914650"/>
            <a:ext cx="6000750" cy="7810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50" y="2971800"/>
            <a:ext cx="58102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87" b="0">
                <a:solidFill>
                  <a:srgbClr val="C00000"/>
                </a:solidFill>
                <a:latin typeface="Cairo"/>
                <a:cs typeface="Cairo"/>
              </a:rPr>
              <a:t>مضادها: التواصل — «العُزْلَة التي يعيش فيها...» ↔ «مسيرةَ تواصلٍ ومودَّةٍ»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00050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93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25" b="1">
                <a:solidFill>
                  <a:srgbClr val="FFFFFF"/>
                </a:solidFill>
                <a:latin typeface="Cairo"/>
                <a:cs typeface="Cairo"/>
              </a:rPr>
              <a:t>غلق الهدف (1) — وظّف مفرداتك الجديدة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525" b="1">
                <a:solidFill>
                  <a:srgbClr val="335693"/>
                </a:solidFill>
                <a:latin typeface="Cairo"/>
                <a:cs typeface="Cairo"/>
              </a:rPr>
              <a:t>أكمل الجمل الآتية في دفترك بمفردة مناسبة مما تعلمته (3 دقائق)، ثم صحّح بنفسك — كل جملة بنقطتين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7048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76500" y="1181100"/>
            <a:ext cx="6000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81" b="0">
                <a:solidFill>
                  <a:srgbClr val="333333"/>
                </a:solidFill>
                <a:latin typeface="Cairo"/>
                <a:cs typeface="Cairo"/>
              </a:rPr>
              <a:t>1- نجاحُ أيّ مشروعٍ ______ بإخلاص العاملين فيه وجدّهم.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1181100"/>
            <a:ext cx="1714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062" b="1">
                <a:solidFill>
                  <a:srgbClr val="C00000"/>
                </a:solidFill>
                <a:latin typeface="Cairo"/>
                <a:cs typeface="Cairo"/>
              </a:rPr>
              <a:t>مَرْهون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1943100"/>
            <a:ext cx="8001000" cy="7048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6500" y="2000250"/>
            <a:ext cx="6000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81" b="0">
                <a:solidFill>
                  <a:srgbClr val="333333"/>
                </a:solidFill>
                <a:latin typeface="Cairo"/>
                <a:cs typeface="Cairo"/>
              </a:rPr>
              <a:t>2- يكتفي بعضهم بـ______ المشكلاتِ القديمة بدلَ حلّها.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2000250"/>
            <a:ext cx="1714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062" b="1">
                <a:solidFill>
                  <a:srgbClr val="C00000"/>
                </a:solidFill>
                <a:latin typeface="Cairo"/>
                <a:cs typeface="Cairo"/>
              </a:rPr>
              <a:t>اجْتِرار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2762250"/>
            <a:ext cx="8001000" cy="7048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6500" y="2819400"/>
            <a:ext cx="6000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81" b="0">
                <a:solidFill>
                  <a:srgbClr val="333333"/>
                </a:solidFill>
                <a:latin typeface="Cairo"/>
                <a:cs typeface="Cairo"/>
              </a:rPr>
              <a:t>3- ينبغي للمفكرين تركُ ______ والانفتاحُ على العالم.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2819400"/>
            <a:ext cx="1714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062" b="1">
                <a:solidFill>
                  <a:srgbClr val="C00000"/>
                </a:solidFill>
                <a:latin typeface="Cairo"/>
                <a:cs typeface="Cairo"/>
              </a:rPr>
              <a:t>العُزْلَة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73380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93" b="1">
                <a:solidFill>
                  <a:srgbClr val="C00000"/>
                </a:solidFill>
                <a:latin typeface="Cairo"/>
                <a:cs typeface="Cairo"/>
              </a:rPr>
              <a:t>اضغط لإظهار الكلمة المناسبة لكل فراغ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نشاط مستقل (2) — سُلّم الصعود إلى الفكرة: الفقرة الخامسة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أجب في دفترك عن هذه الدرجات بالترتيب (3 دقائق) — ستقودك إلى فكرة الفقرة بنفسك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بِمَ أداءُ العرب والمسلمين لدورهم الحضاري؟ (مَرْهون بكم أمر؟)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 الأمر الأول؟ وما أول خطوة فيه؟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 الأمر الثاني؟ وماذا تخلق العزلة؟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 غاية الأمرين معًا؟ (مكان … في ساحة العمل لـ…؟)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نشاط مستقل (2/تابع) — سُلّم الصعود إلى الفكرة: الفقرة السادسة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أجب في دفترك عن هذه الدرجات بالترتيب (3 دقائق) — ستقودك إلى فكرة الفقرة بنفسك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بِمَ طالب الكاتبُ العربَ والمسلمين؟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عمّا يتوقفون في هذه اليقظة؟ اذكر أمرين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بِمَ يبدؤون مسيرتهم الجديدة؟ ومَن يكسبون بها؟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 غاية هذه المسيرة في نظر الكاتب؟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المعنى العام والفكرة الرئيسة — حاولتَ بنفسك، والآن قارن بالنموذج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1">
                <a:solidFill>
                  <a:srgbClr val="335693"/>
                </a:solidFill>
                <a:latin typeface="Cairo"/>
                <a:cs typeface="Cairo"/>
              </a:rPr>
              <a:t>اكتب في دفترك المعنى العام والفكرة الرئيسة لكل فقرة (4 دقائق)، ثم اضغط وقارن بإجابتك — قيّم نفسك من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066800"/>
            <a:ext cx="8001000" cy="32385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1085850"/>
            <a:ext cx="7810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25" b="1">
                <a:solidFill>
                  <a:srgbClr val="FFFFFF"/>
                </a:solidFill>
                <a:latin typeface="Cairo"/>
                <a:cs typeface="Cairo"/>
              </a:rPr>
              <a:t>الفقرة الخامسة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428750"/>
            <a:ext cx="8001000" cy="131445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1485900"/>
            <a:ext cx="7715250" cy="120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81" b="1">
                <a:solidFill>
                  <a:srgbClr val="C00000"/>
                </a:solidFill>
                <a:latin typeface="Cairo"/>
                <a:cs typeface="Cairo"/>
              </a:rPr>
              <a:t>المعنى العام:</a:t>
            </a:r>
            <a:r>
              <a:rPr sz="1481" b="0">
                <a:solidFill>
                  <a:srgbClr val="C00000"/>
                </a:solidFill>
                <a:latin typeface="Cairo"/>
                <a:cs typeface="Cairo"/>
              </a:rPr>
              <a:t> أداء العرب والمسلمين لدورهم الحضاري مَرْهون بأمرين: وقف موجة معاداة الإسلام بحملة مضادة واعية تدعو إلى الوفاق الثقافي، ومحاربة عزلة المفكرين والدعاة التي تخلق القطيعة وسوء الفهم.</a:t>
            </a:r>
          </a:p>
          <a:p>
            <a:pPr algn="r" rtl="1">
              <a:lnSpc>
                <a:spcPct val="135000"/>
              </a:lnSpc>
            </a:pPr>
            <a:r>
              <a:rPr sz="1481" b="1">
                <a:solidFill>
                  <a:srgbClr val="C00000"/>
                </a:solidFill>
                <a:latin typeface="Cairo"/>
                <a:cs typeface="Cairo"/>
              </a:rPr>
              <a:t>الفكرة الرئيسة:</a:t>
            </a:r>
            <a:r>
              <a:rPr sz="1481" b="0">
                <a:solidFill>
                  <a:srgbClr val="C00000"/>
                </a:solidFill>
                <a:latin typeface="Cairo"/>
                <a:cs typeface="Cairo"/>
              </a:rPr>
              <a:t> الدور الحضاري للعرب يحتاج إلى مواجهة الخارج وإصلاح الداخل معًا.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857500"/>
            <a:ext cx="8001000" cy="32385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2876550"/>
            <a:ext cx="7810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25" b="1">
                <a:solidFill>
                  <a:srgbClr val="FFFFFF"/>
                </a:solidFill>
                <a:latin typeface="Cairo"/>
                <a:cs typeface="Cairo"/>
              </a:rPr>
              <a:t>الفقرة السادسة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219450"/>
            <a:ext cx="8001000" cy="131445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375" y="3276600"/>
            <a:ext cx="7715250" cy="120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31" b="1">
                <a:solidFill>
                  <a:srgbClr val="C00000"/>
                </a:solidFill>
                <a:latin typeface="Cairo"/>
                <a:cs typeface="Cairo"/>
              </a:rPr>
              <a:t>المعنى العام:</a:t>
            </a:r>
            <a:r>
              <a:rPr sz="1531" b="0">
                <a:solidFill>
                  <a:srgbClr val="C00000"/>
                </a:solidFill>
                <a:latin typeface="Cairo"/>
                <a:cs typeface="Cairo"/>
              </a:rPr>
              <a:t> دعوة العرب والمسلمين إلى يقظة عاجلة: التوقف عن اجترار المشاكل القديمة وقذف الآخرين بالاتهامات، وبدء مسيرة تواصل ومودة مع العالم يُكسبون بها الأنصار ويفتحون بها العقول والقلوب.</a:t>
            </a:r>
          </a:p>
          <a:p>
            <a:pPr algn="r" rtl="1">
              <a:lnSpc>
                <a:spcPct val="135000"/>
              </a:lnSpc>
            </a:pPr>
            <a:r>
              <a:rPr sz="1531" b="1">
                <a:solidFill>
                  <a:srgbClr val="C00000"/>
                </a:solidFill>
                <a:latin typeface="Cairo"/>
                <a:cs typeface="Cairo"/>
              </a:rPr>
              <a:t>الفكرة الرئيسة:</a:t>
            </a:r>
            <a:r>
              <a:rPr sz="1531" b="0">
                <a:solidFill>
                  <a:srgbClr val="C00000"/>
                </a:solidFill>
                <a:latin typeface="Cairo"/>
                <a:cs typeface="Cairo"/>
              </a:rPr>
              <a:t> بالتواصل والمودة يقدّم المسلمون خيرًا للعالم المعاصر.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053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93" b="1">
                <a:solidFill>
                  <a:srgbClr val="C00000"/>
                </a:solidFill>
                <a:latin typeface="Cairo"/>
                <a:cs typeface="Cairo"/>
              </a:rPr>
              <a:t>اضغط لإظهار النموذج — ليس مطلوبًا أن تطابقه، المهم صحة المعنى بأسلوبك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75" b="1">
                <a:solidFill>
                  <a:srgbClr val="FFFFFF"/>
                </a:solidFill>
                <a:latin typeface="Cairo"/>
                <a:cs typeface="Cairo"/>
              </a:rPr>
              <a:t>غلق الهدف (3) — القراءة والاستيعاب: أولًا 4-5 (ص50)</a:t>
            </a:r>
          </a:p>
        </p:txBody>
      </p:sp>
      <p:pic>
        <p:nvPicPr>
          <p:cNvPr id="5" name="Picture 4" descr="istiiab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182689"/>
            <a:ext cx="8191500" cy="7781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4350" y="3048000"/>
            <a:ext cx="78295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٤-</a:t>
            </a: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 عُزلتَهم التي تحُول دون أدائهم دورهم الحضاري، وما تخلقه من قطيعة وسوء فهم وسوء ظنّ متبادل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3581400"/>
            <a:ext cx="78295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٥-</a:t>
            </a: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 يقظةً عاجلة: التوقفَ عن اجترار المشاكل القديمة وقذفِ الآخرين بالاتهامات، وبدءَ مسيرة تواصل ومودة مع العالم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أجب في دفترك أولًا (4 دقائق)، ثم اضغط لإظهار الإجابة النموذجية — يُناقش جماعيًّا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75" b="1">
                <a:solidFill>
                  <a:srgbClr val="FFFFFF"/>
                </a:solidFill>
                <a:latin typeface="Cairo"/>
                <a:cs typeface="Cairo"/>
              </a:rPr>
              <a:t>غلق الهدف (3/تابع) — لغة النص 1ب (ص50)</a:t>
            </a:r>
          </a:p>
        </p:txBody>
      </p:sp>
      <p:pic>
        <p:nvPicPr>
          <p:cNvPr id="5" name="Picture 4" descr="lugha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094266"/>
            <a:ext cx="8191500" cy="954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4350" y="3143250"/>
            <a:ext cx="700087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6" b="1">
                <a:solidFill>
                  <a:srgbClr val="335693"/>
                </a:solidFill>
                <a:latin typeface="Cairo"/>
                <a:cs typeface="Cairo"/>
              </a:rPr>
              <a:t>الإجابة:</a:t>
            </a:r>
            <a:r>
              <a:rPr sz="1406" b="1">
                <a:solidFill>
                  <a:srgbClr val="335693"/>
                </a:solidFill>
                <a:latin typeface="Cairo"/>
                <a:cs typeface="Cairo"/>
              </a:rPr>
              <a:t> يمنع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أجب في دفترك أولًا (دقيقة)، ثم 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https://uw3vlhc2of5wm.kimi.pro/banks/g12-mustaqbal-3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