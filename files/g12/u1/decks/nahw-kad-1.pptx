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nahw-kad-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335693"/>
                </a:solidFill>
                <a:latin typeface="Cairo"/>
                <a:cs typeface="Cairo"/>
              </a:rPr>
              <a:t>Lesson: Grammar: Kada &amp; Sisters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562" b="1">
                <a:solidFill>
                  <a:srgbClr val="C00000"/>
                </a:solidFill>
                <a:latin typeface="Cairo"/>
                <a:cs typeface="Cairo"/>
              </a:rPr>
              <a:t>الكلمة والجملة [النحو]: كاد وأخواتها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الحصة الأولى — أفعال المقاربة والرجاء والشروع (ص56-57)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للدكتور أحمد كمال أبو المجد (بتصرف) — الوحدة الأولى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في نهاية هذه الحصة سيكون الطالب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يستنتجَ معاني أفعال المقاربة والرجاء والشروع من أمثلة الكتاب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يبيّنَ عملَ «كاد وأخواتها» النحوي وحكمَ اقتران خبرها بـ(أنْ)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1813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385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يصنّفَ أفعالَ المقاربة والرجاء والشروع وفق جدول ص57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اذكر ناسخًا يدخل على المبتدأ والخبر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عمل «كان» الناسخة؟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تأمّل: «كاد الطالبُ يكتبُ» — ما نوع الجملة بعد «كاد»؟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استنتاج (1) — المجموعة (أ): علامَ دلّت الأفعال الملوّنة؟ (ص56)</a:t>
            </a:r>
          </a:p>
        </p:txBody>
      </p:sp>
      <p:pic>
        <p:nvPicPr>
          <p:cNvPr id="5" name="Picture 4" descr="ist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923953"/>
            <a:ext cx="8191500" cy="12955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409950"/>
            <a:ext cx="7781925" cy="466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Cairo"/>
                <a:cs typeface="Cairo"/>
              </a:rPr>
              <a:t>تدلُّ على قُرب وقوع الخبر — أفعال المقاربة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75" b="1">
                <a:solidFill>
                  <a:srgbClr val="FFFFFF"/>
                </a:solidFill>
                <a:latin typeface="Cairo"/>
                <a:cs typeface="Cairo"/>
              </a:rPr>
              <a:t>استنتاج (2) — المجموعة (ب): علامَ دلّت الأفعال الملوّنة؟</a:t>
            </a:r>
          </a:p>
        </p:txBody>
      </p:sp>
      <p:pic>
        <p:nvPicPr>
          <p:cNvPr id="5" name="Picture 4" descr="ist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840366"/>
            <a:ext cx="8191500" cy="14627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486150"/>
            <a:ext cx="7781925" cy="466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Cairo"/>
                <a:cs typeface="Cairo"/>
              </a:rPr>
              <a:t>تدلُّ على رجاء وقوع الخبر — أفعال الرجاء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75" b="1">
                <a:solidFill>
                  <a:srgbClr val="FFFFFF"/>
                </a:solidFill>
                <a:latin typeface="Cairo"/>
                <a:cs typeface="Cairo"/>
              </a:rPr>
              <a:t>استنتاج (3) — المجموعة (ج): علامَ دلّت الأفعال الملوّنة؟</a:t>
            </a:r>
          </a:p>
        </p:txBody>
      </p:sp>
      <p:pic>
        <p:nvPicPr>
          <p:cNvPr id="5" name="Picture 4" descr="ist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049333"/>
            <a:ext cx="8191500" cy="10448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276600"/>
            <a:ext cx="7781925" cy="4667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Cairo"/>
                <a:cs typeface="Cairo"/>
              </a:rPr>
              <a:t>تدلُّ على البدء في الخبر — أفعال الشروع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خلاصة الاستنتاج — ص56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ماذا نستنتج من الملاحظة والمقارنة؟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الجمل التي بعد هذه الأفعال: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جمل فعلية فعلها </a:t>
            </a: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مضارع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— دخل عليها ناسخ فلم تعد كالجملة الفعلية المعتادة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25" b="1">
                <a:solidFill>
                  <a:srgbClr val="333333"/>
                </a:solidFill>
                <a:latin typeface="Cairo"/>
                <a:cs typeface="Cairo"/>
              </a:rPr>
              <a:t>عملُها يُذكِّرك بعمل «كان» الناسخة:</a:t>
            </a:r>
            <a:r>
              <a:rPr sz="1525" b="0">
                <a:solidFill>
                  <a:srgbClr val="333333"/>
                </a:solidFill>
                <a:latin typeface="Cairo"/>
                <a:cs typeface="Cairo"/>
              </a:rPr>
              <a:t> ترفع المبتدأ ويُسمَّى اسمَها، ويكون الخبر في محل نصب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الفعل الذي تحته خط: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مضارع — قد يقترن بـ(أنْ) وقد لا يقترن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تصرّفها: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تلازم صيغة الماضي عدا (كاد، أوشك) فيأتيان بالماضي والمضارع: (يكاد، يوشك)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جدول ص57 (1) — أفعال المقاربة</a:t>
            </a:r>
          </a:p>
        </p:txBody>
      </p:sp>
      <p:pic>
        <p:nvPicPr>
          <p:cNvPr id="5" name="Picture 4" descr="ta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52345"/>
            <a:ext cx="8001000" cy="18578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25" b="1">
                <a:solidFill>
                  <a:srgbClr val="FFFFFF"/>
                </a:solidFill>
                <a:latin typeface="Cairo"/>
                <a:cs typeface="Cairo"/>
              </a:rPr>
              <a:t>جدول ص57 (2) — أفعال الرجاء</a:t>
            </a:r>
          </a:p>
        </p:txBody>
      </p:sp>
      <p:pic>
        <p:nvPicPr>
          <p:cNvPr id="5" name="Picture 4" descr="ta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54028"/>
            <a:ext cx="8001000" cy="20544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75" b="1">
                <a:solidFill>
                  <a:srgbClr val="FFFFFF"/>
                </a:solidFill>
                <a:latin typeface="Cairo"/>
                <a:cs typeface="Cairo"/>
              </a:rPr>
              <a:t>جدول ص57 (3) — أفعال الشروع</a:t>
            </a:r>
          </a:p>
        </p:txBody>
      </p:sp>
      <p:pic>
        <p:nvPicPr>
          <p:cNvPr id="5" name="Picture 4" descr="ta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84540"/>
            <a:ext cx="8001000" cy="19934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0">
                <a:solidFill>
                  <a:srgbClr val="333333"/>
                </a:solidFill>
                <a:latin typeface="Cairo"/>
                <a:cs typeface="Cairo"/>
              </a:rPr>
              <a:t>الاقتران بـ(أنْ) ممتنع مع أفعال الشروع — لأنها تفيد وقوع الخبر في الحال، و«أنْ» تدلّ على الاستقبال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القاعدة (1) — ص57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أفعال المقاربة والرجاء والشروع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١- أفعال المقاربة: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«كاد، كَرِب، أوشك» — تدلُّ على </a:t>
            </a: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قُرب وقوع الخبر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٢- أفعال الرجاء: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«عسى، حَرى، اخلولق» — تدلُّ على </a:t>
            </a: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رجاء وقوع الخبر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25" b="1">
                <a:solidFill>
                  <a:srgbClr val="333333"/>
                </a:solidFill>
                <a:latin typeface="Cairo"/>
                <a:cs typeface="Cairo"/>
              </a:rPr>
              <a:t>٣- أفعال الشروع:</a:t>
            </a:r>
            <a:r>
              <a:rPr sz="1525" b="0">
                <a:solidFill>
                  <a:srgbClr val="333333"/>
                </a:solidFill>
                <a:latin typeface="Cairo"/>
                <a:cs typeface="Cairo"/>
              </a:rPr>
              <a:t> كثيرة، منها: «أخذ، بدأ، شرع، جعل، طفق، قام...» — تدلُّ على </a:t>
            </a:r>
            <a:r>
              <a:rPr sz="1525" b="1">
                <a:solidFill>
                  <a:srgbClr val="333333"/>
                </a:solidFill>
                <a:latin typeface="Cairo"/>
                <a:cs typeface="Cairo"/>
              </a:rPr>
              <a:t>البدء في الخبر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٤-</a:t>
            </a:r>
            <a:r>
              <a:rPr sz="1625" b="0">
                <a:solidFill>
                  <a:srgbClr val="333333"/>
                </a:solidFill>
                <a:latin typeface="Cairo"/>
                <a:cs typeface="Cairo"/>
              </a:rPr>
              <a:t> هذه الأفعال تُلازم صيغة الماضي ما عدا (كاد، أوشك) فتأتي بالماضي والمضارع منها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القاعدة (2) — ص57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عمل «كاد وأخواتها» وخبرها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٥-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«كاد وأخواتها» تعمل عمل «كان» الناسخة: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ترفع المبتدأ ويُسمَّى اسمَها، ويكون الخبر في محل نصب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٦-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خبرها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يجب أن يكون جملة فعلية فعلها مضارع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، وحكم اقترانه بـ(أنْ) يتراوح بين الامتناع والوجوب والجواز بنوعيه (قلّة اقتران - كثرة اقتران) كما في الجدول السابق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٧- إعراب الخبر حالتان: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إن اقترن بـ(أنْ) المصدرية فـ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المصدر المؤوَّل من (أنْ والفعل) في محل نصب خبرها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، وإن لم يقترن فـ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الجملة الفعلية في محل نصب خبرها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https://uw3vlhc2of5wm.kimi.pro/banks/g12-nahw-kad-1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