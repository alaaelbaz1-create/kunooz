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nahw-kad-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Grammar: Kada &amp; Sisters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الكلمة والجملة [النحو]: كاد وأخواتها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الثانية — التدريبات والإعراب (ص58-60)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الأولى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يعيّنَ الفعلَ الناسخ واسمَه وخبرَه وحكمَ اقترانه بـ(أنْ) في الجمل والأبيات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يوظّفَ أفعالَ المقاربة والرجاء والشروع في جمل من إنشائه مراعيًا حكمَ الاقتران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يعربَ خبرَ «كاد وأخواتها» إعرابًا صحيحًا على ضوء النموذج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معنى «أوشك»؟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فعلين من أفعال الرجاء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حكم اقتران خبر أفعال الشروع بـ(أنْ)؟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غلق الهدف (1) — تدريب 1 (ص58): صِلْ ثم تحقّق</a:t>
            </a:r>
          </a:p>
        </p:txBody>
      </p:sp>
      <p:pic>
        <p:nvPicPr>
          <p:cNvPr id="5" name="Picture 4" descr="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067769"/>
            <a:ext cx="8191500" cy="2360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3552825"/>
            <a:ext cx="76962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6" b="1">
                <a:solidFill>
                  <a:srgbClr val="335693"/>
                </a:solidFill>
                <a:latin typeface="Cairo"/>
                <a:cs typeface="Cairo"/>
              </a:rPr>
              <a:t>كرب طلاب البعثة يعودون ← اقتربت عودة طلاب البعثة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914775"/>
            <a:ext cx="76962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6" b="1">
                <a:solidFill>
                  <a:srgbClr val="335693"/>
                </a:solidFill>
                <a:latin typeface="Cairo"/>
                <a:cs typeface="Cairo"/>
              </a:rPr>
              <a:t>حرى طلاب البعثة أن يعودوا ← نرجو أن يعود طلاب البعثة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4276725"/>
            <a:ext cx="76962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6" b="1">
                <a:solidFill>
                  <a:srgbClr val="335693"/>
                </a:solidFill>
                <a:latin typeface="Cairo"/>
                <a:cs typeface="Cairo"/>
              </a:rPr>
              <a:t>طفق طلاب البعثة يعودون ← بدأ طلاب البعثة في العودة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(2) — تدريب 2أ (ص58): ما المشكلة التي يطرحها الشاعر؟</a:t>
            </a:r>
          </a:p>
        </p:txBody>
      </p:sp>
      <p:pic>
        <p:nvPicPr>
          <p:cNvPr id="5" name="Picture 4" descr="t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36110"/>
            <a:ext cx="8191500" cy="2271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876675"/>
            <a:ext cx="81153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6" b="1">
                <a:solidFill>
                  <a:srgbClr val="335693"/>
                </a:solidFill>
                <a:latin typeface="Cairo"/>
                <a:cs typeface="Cairo"/>
              </a:rPr>
              <a:t>يعاني الشاعر همومًا وأرقًا يمنعانه النوم؛ فينتظر طلوع الفجر، ويتمنى غفوةً يجد فيها الحلم الممتع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(3) — تدريب 2ب (ص58): عيّن ثم تحقّق خليّةً خليّةً</a:t>
            </a:r>
          </a:p>
        </p:txBody>
      </p:sp>
      <p:pic>
        <p:nvPicPr>
          <p:cNvPr id="5" name="Picture 4" descr="t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339554"/>
            <a:ext cx="8191500" cy="2464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43650" y="1847850"/>
            <a:ext cx="141922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أوشك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0100" y="1847850"/>
            <a:ext cx="155257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الفجر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1847850"/>
            <a:ext cx="176212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جملة «أنْ يطلع»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9675" y="1847850"/>
            <a:ext cx="12763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المقاربة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650" y="2505075"/>
            <a:ext cx="141922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كاد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2505075"/>
            <a:ext cx="155257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الصباح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0" y="2505075"/>
            <a:ext cx="176212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جملة «يشقُّ الدُّجى»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9675" y="2505075"/>
            <a:ext cx="12763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المقاربة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3171825"/>
            <a:ext cx="141922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عسى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171825"/>
            <a:ext cx="155257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(أنا) الشاعر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0" y="3171825"/>
            <a:ext cx="176212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جملة «أجدُ الحلم الممتع»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9675" y="3171825"/>
            <a:ext cx="12763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الرجاء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(4) — تدريب 3 (ص59): أيّ الأبيات يتضمّن فعلًا منها؟</a:t>
            </a:r>
          </a:p>
        </p:txBody>
      </p:sp>
      <p:pic>
        <p:nvPicPr>
          <p:cNvPr id="5" name="Picture 4" descr="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27892"/>
            <a:ext cx="8191500" cy="22877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5325" y="1914525"/>
            <a:ext cx="5143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75" b="1">
                <a:solidFill>
                  <a:srgbClr val="C00000"/>
                </a:solidFill>
                <a:latin typeface="Cairo"/>
                <a:cs typeface="Cairo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2390775"/>
            <a:ext cx="5143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75" b="1">
                <a:solidFill>
                  <a:srgbClr val="1E7B34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867025"/>
            <a:ext cx="5143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75" b="1">
                <a:solidFill>
                  <a:srgbClr val="C00000"/>
                </a:solidFill>
                <a:latin typeface="Cairo"/>
                <a:cs typeface="Cairo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343275"/>
            <a:ext cx="5143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75" b="1">
                <a:solidFill>
                  <a:srgbClr val="1E7B34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ناقش: «أخذَ» في البيت الأول و«شرع» في الثالث بمعنى آخر غير الشروع — ثم اضغط للتحقق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(5) — تدريب 4 (ص59): عيّن الخبر وحكم الاقتران بـ(أنْ)</a:t>
            </a:r>
          </a:p>
        </p:txBody>
      </p:sp>
      <p:pic>
        <p:nvPicPr>
          <p:cNvPr id="5" name="Picture 4" descr="t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692" y="666750"/>
            <a:ext cx="6916615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00250" y="1314450"/>
            <a:ext cx="19621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الخبر: جملة «يفقهون قولًا» — الحكم: جائز (يقلّ الاقتران)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250" y="1952625"/>
            <a:ext cx="1962150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الخبر: جملة «أنْ يذهب» — الحكم: جائز (يكثر الاقتران)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2819400"/>
            <a:ext cx="19621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الخبر: جملة «يكون وراءه فرج قريب» — الحكم: جائز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3695700"/>
            <a:ext cx="19621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الخبر: «يشرح الدرس» — ممتنع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4124325"/>
            <a:ext cx="196215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75" b="1">
                <a:solidFill>
                  <a:srgbClr val="335693"/>
                </a:solidFill>
                <a:latin typeface="Cairo"/>
                <a:cs typeface="Cairo"/>
              </a:rPr>
              <a:t>الخبر: «يجيبون عن الأسئلة» — ممتنع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تدريب 5 (ص59) — إنتاج كتابي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أكمل بخبر مناسب مراعيًا حكم الاقتران بـ(أنْ)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تذكّر أولًا: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خبر كاد وأخواتها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جملة فعلية فعلها مضارع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9050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9621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كاد الطالب ......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— الاقتران بـ(أنْ) يقلّ: الأفصح جملة مضارعة بلا «أنْ»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479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7051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عسى البلاد ......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— الاقتران يكثر: يُستحسن «أنْ» + مضارع منصوب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3909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4480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75" b="1">
                <a:solidFill>
                  <a:srgbClr val="333333"/>
                </a:solidFill>
                <a:latin typeface="Cairo"/>
                <a:cs typeface="Cairo"/>
              </a:rPr>
              <a:t>بدأ الشاعر ......</a:t>
            </a:r>
            <a:r>
              <a:rPr sz="1075" b="0">
                <a:solidFill>
                  <a:srgbClr val="333333"/>
                </a:solidFill>
                <a:latin typeface="Cairo"/>
                <a:cs typeface="Cairo"/>
              </a:rPr>
              <a:t> — الاقتران ممتنع: مضارع بلا «أنْ» أبدًا</a:t>
            </a:r>
          </a:p>
          <a:p>
            <a:pPr algn="r" rtl="1">
              <a:lnSpc>
                <a:spcPct val="135000"/>
              </a:lnSpc>
            </a:pPr>
            <a:r>
              <a:rPr sz="1075" b="1">
                <a:solidFill>
                  <a:srgbClr val="333333"/>
                </a:solidFill>
                <a:latin typeface="Cairo"/>
                <a:cs typeface="Cairo"/>
              </a:rPr>
              <a:t>اخلولقت المشكلة ......</a:t>
            </a:r>
            <a:r>
              <a:rPr sz="1075" b="0">
                <a:solidFill>
                  <a:srgbClr val="333333"/>
                </a:solidFill>
                <a:latin typeface="Cairo"/>
                <a:cs typeface="Cairo"/>
              </a:rPr>
              <a:t> — الاقتران واجب: لا بد من «أنْ» + مضارع منصوب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41338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41910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C00000"/>
                </a:solidFill>
                <a:latin typeface="Cairo"/>
                <a:cs typeface="Cairo"/>
              </a:rPr>
              <a:t>اكتب جملك الأربع في دفترك، ثم قارنها بجمل زميلك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تدريب 6أ (ص60) — نموذج الإعراب: تأمّله جيّدًا</a:t>
            </a:r>
          </a:p>
        </p:txBody>
      </p:sp>
      <p:pic>
        <p:nvPicPr>
          <p:cNvPr id="5" name="Picture 4" descr="t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85386"/>
            <a:ext cx="8001000" cy="37917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لاحظ: المصدر المؤوَّل من (أنْ والفعل) في محل نصب خبر عسى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غلق الهدف (6) — تدريب 6ب (ص60): أعرب ثم تحقّق</a:t>
            </a:r>
          </a:p>
        </p:txBody>
      </p:sp>
      <p:pic>
        <p:nvPicPr>
          <p:cNvPr id="5" name="Picture 4" descr="t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276" y="666750"/>
            <a:ext cx="6043448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62175" y="1971675"/>
            <a:ext cx="40195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68" b="1">
                <a:solidFill>
                  <a:srgbClr val="335693"/>
                </a:solidFill>
                <a:latin typeface="Cairo"/>
                <a:cs typeface="Cairo"/>
              </a:rPr>
              <a:t>يكاد: فعل مضارع ناقص ناسخ مرفوع وعلامة رفعه الضمة الظاهرة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2175" y="2543175"/>
            <a:ext cx="40195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18" b="1">
                <a:solidFill>
                  <a:srgbClr val="335693"/>
                </a:solidFill>
                <a:latin typeface="Cairo"/>
                <a:cs typeface="Cairo"/>
              </a:rPr>
              <a:t>زيتها: اسم يكاد مرفوع وعلامة رفعه الضمة الظاهرة، والهاء ضمير مبني في محل جرّ مضاف إليه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2175" y="3009900"/>
            <a:ext cx="40195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18" b="1">
                <a:solidFill>
                  <a:srgbClr val="335693"/>
                </a:solidFill>
                <a:latin typeface="Cairo"/>
                <a:cs typeface="Cairo"/>
              </a:rPr>
              <a:t>يضيء: فعل مضارع مرفوع وعلامة رفعه الضمة الظاهرة، والجملة الفعلية في محل نصب خبر يكاد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2175" y="3486150"/>
            <a:ext cx="40195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68" b="1">
                <a:solidFill>
                  <a:srgbClr val="335693"/>
                </a:solidFill>
                <a:latin typeface="Cairo"/>
                <a:cs typeface="Cairo"/>
              </a:rPr>
              <a:t>نور: مبتدأ مرفوع وعلامة رفعه الضمة الظاهرة، والجار والمجرور «على نورٍ» في محل رفع خبره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2175" y="3971925"/>
            <a:ext cx="40195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00" b="1">
                <a:solidFill>
                  <a:srgbClr val="335693"/>
                </a:solidFill>
                <a:latin typeface="Cairo"/>
                <a:cs typeface="Cairo"/>
              </a:rPr>
              <a:t>يشاء: فعل مضارع مرفوع وعلامة رفعه الضمة الظاهرة، وفاعله ضمير مستتر تقديره «هو»، والجملة صلة الموصول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https://uw3vlhc2of5wm.kimi.pro/banks/g12-nahw-kad-2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