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qadiya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Qadiya: Literary Genres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القضية الأدبية: الأجناس الأدبية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الوحدة الأولى — ص 30-35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يوضّحَ مفهومَ الجنس الأدبي ويصنّفَ الأجناسَ الشعرية والنثرية في العصر الحديث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يستخرجَ خصائصَ كل جنس أدبي وأعلامَه ونماذجَه من الكتاب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يجيبَ عن تدريبات الكتاب (ص34-35) في دفتره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فنًّا أدبيًّا تعرفه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الفرق بين الشعر والنثر؟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توقّع: لماذا تعدّدت الأجناس الأدبية في العصر الحديث؟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التمهيد — ص30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ما الجنس الأدبي؟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الجِنْسُ (النَّوعُ) الأدبيُّ: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هو النوع الفني الذي يُصَبُّ فيه الأديبُ إبداعَه الأدبي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أمثلتُه: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الخطبة — المقالة — القصة — القصيدة — الملحمة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شغلَتْ قضيةُ الأجناس الأدبية تفكيرَ النُّقّاد في العصر القديم، وتعرّضت في العصر الحديث لتطور سريع — وتُعرف بـ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«الأنواع الأدبية»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75" b="1">
                <a:solidFill>
                  <a:srgbClr val="FFFFFF"/>
                </a:solidFill>
                <a:latin typeface="Cairo"/>
                <a:cs typeface="Cairo"/>
              </a:rPr>
              <a:t>تصنيف الأجناس في العصر الحديث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محوران رئيسان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أولًا — الأجناس الشعرية: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الشعر الغنائي — الشعر المسرحي — الشعر الملحمي </a:t>
            </a:r>
            <a:r>
              <a:rPr sz="1675" b="0">
                <a:solidFill>
                  <a:srgbClr val="335693"/>
                </a:solidFill>
                <a:latin typeface="Cairo"/>
                <a:cs typeface="Cairo"/>
              </a:rPr>
              <a:t>(ومن حيث الشكل: الشعر الحر بمراحله الثلاث)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ثانيًا — الأجناس النثرية: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الخطبة — المقال — المسرحية — القصة </a:t>
            </a:r>
            <a:r>
              <a:rPr sz="1675" b="0">
                <a:solidFill>
                  <a:srgbClr val="335693"/>
                </a:solidFill>
                <a:latin typeface="Cairo"/>
                <a:cs typeface="Cairo"/>
              </a:rPr>
              <a:t>(ومنها أيضًا: الرواية، السيرة، الخاطرة، أدب اليوميات والمذكرات، الرسالة)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25" b="1">
                <a:solidFill>
                  <a:srgbClr val="FFFFFF"/>
                </a:solidFill>
                <a:latin typeface="Cairo"/>
                <a:cs typeface="Cairo"/>
              </a:rPr>
              <a:t>1- الشعر الغنائي — ص30</a:t>
            </a:r>
          </a:p>
        </p:txBody>
      </p:sp>
      <p:pic>
        <p:nvPicPr>
          <p:cNvPr id="5" name="Picture 4" descr="ghin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0" y="628650"/>
            <a:ext cx="6921500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لاحظ التعريف ثم تأمّل نموذجه من شعر إيليا أبي ماضي حين عبّر عن ذاته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75" b="1">
                <a:solidFill>
                  <a:srgbClr val="FFFFFF"/>
                </a:solidFill>
                <a:latin typeface="Cairo"/>
                <a:cs typeface="Cairo"/>
              </a:rPr>
              <a:t>2- الشعر المسرحي — ص30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الشعر المسرحي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التعريف: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جنس أدبي حديث نسبيًّا، نشأ حين اتصلت الثقافة العربية بالثقافة الغربية عن طريق الترجمة والبعثات العلمية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أعلامه: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يُعَدُّ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أحمد شوقي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أبرزَ شعراء الشعر المسرحي العربي، وقد تأثّر فيه بشعراء فرنسا مثل «لامارتين» وشعراء الإنجليز مثل «شكسبير»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خصيصته: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المسرح الشعري نصٌّ يمكن تمثيله أمام الجمهور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75" b="1">
                <a:solidFill>
                  <a:srgbClr val="FFFFFF"/>
                </a:solidFill>
                <a:latin typeface="Cairo"/>
                <a:cs typeface="Cairo"/>
              </a:rPr>
              <a:t>3- الشعر الملحمي — ص31</a:t>
            </a:r>
          </a:p>
        </p:txBody>
      </p:sp>
      <p:pic>
        <p:nvPicPr>
          <p:cNvPr id="5" name="Picture 4" descr="milh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59" y="628650"/>
            <a:ext cx="6865681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خصائص الملحمة: بطل جليل المكانة — ميدان أحداث واسع — شجاعة فائقة خارقة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نموذج: ديوان مجد الإسلام (الإلياذة الإسلامية) — ص31</a:t>
            </a:r>
          </a:p>
        </p:txBody>
      </p:sp>
      <p:pic>
        <p:nvPicPr>
          <p:cNvPr id="5" name="Picture 4" descr="ba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16081"/>
            <a:ext cx="8001000" cy="2330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نظم أحمد محرم السيرةَ النبوية في ثلاثة آلاف بيت — هذا من قوله عن شهداء بدر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ومن حيث الشكل: الشعر الحر — ص31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مرّ الشعر الحر بثلاث مراحل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المرحلة الأولى: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التحلّل من القافية الموحدة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المرحلة الثانية: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التحلّل من أوزان الخليل والقافية الموحدة مع الالتزام بالتفعيلة =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شعر التفعيلة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— من أعلامه: أمين الريحاني، نازك الملائكة، بدر شاكر السياب، عبدالوهاب البياتي، محمود درويش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المرحلة الثالثة: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التحلّل من الوزن والقافية والتفعيلة =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قصيدة النثر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— من أعلامه: أدونيس (سوريا)، يوسف الخال (لبنان)، جبرا إبراهيم جبرا (فلسطين) — وتعتمد الرمز والأساطير والإشارات والتضمينات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ثانيًا: الأجناس النثرية — 1- الخطبة — ص32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الخطبة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التعريف: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فنُّ الإلقاء الشفهي في مواجهة الجماهير، وتهدف إلى استمالة الناس وإقناعهم — وهي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أقدم فنون النثر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تطوّرها: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كانت في القديم مشافهةً، أما اليوم فأصبحت في بعض الأوقات مكتوبة، وأخذ بعض الخطباء يمزجون بين المشافهة والمكتوب، وأخذت مسمًّى جديدًا هو </a:t>
            </a: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(الخطاب)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مجالاتها في العصر الحديث: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السياسة والحرب والدين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2- المقال — ص32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المقال: التعريف والأنواع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التعريف: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فنٌّ نثري حديث يعالج موضوعًا ما، أو يعرض قضيةً ما، من خلال منظور الكاتب — وقد تطوّر في الأدب العربي عن الرسالة الأدبية القديمة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مقال أدبي بحت: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قضية تدور في رأس الكاتب وتغذّت من أفكاره وملاحظاته — تظهر فيه شخصية الكاتب وعاطفته وكثرة الإيحاءات اللفظية وتنوّع الأساليب بين الخبر والإنشاء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مقال علمي بحت: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قضية علمية بعيدًا عن الأسلوب الأدبي — ألفاظ محددة الدلالة، فكرة واضحة، بلا مجاز ولا صور بيانية ولا إيحاءات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مقال علمي متأدب: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يعبّر عن الحقيقة العلمية بأسلوب أدبي واضح</a:t>
            </a:r>
          </a:p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مقال علمي ميسّر: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قضية علمية بأسلوب ميسّر بلا إغراق في المصطلحات والحقائق والأرقام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75" b="1">
                <a:solidFill>
                  <a:srgbClr val="FFFFFF"/>
                </a:solidFill>
                <a:latin typeface="Cairo"/>
                <a:cs typeface="Cairo"/>
              </a:rPr>
              <a:t>نموذج للمقال الأدبي — ص32</a:t>
            </a:r>
          </a:p>
        </p:txBody>
      </p:sp>
      <p:pic>
        <p:nvPicPr>
          <p:cNvPr id="5" name="Picture 4" descr="ra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655595"/>
            <a:ext cx="8191500" cy="1832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3686175"/>
            <a:ext cx="7829550" cy="828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سمات الأسلوب الأدبي فيه:</a:t>
            </a: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 بروز عاطفة الكاتب وشخصيته — الصور والإيحاءات (العظمة خُلق، تجمّع بين النفس...) — تنوّع الأساليب بين الخبر والإنشاء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تأمّل النموذج: ما سمات الأسلوب الأدبي فيه؟ ثم اضغط لإظهار الإجابة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3- المسرحية — ص33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المسرحية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التعريف: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جنس أدبي يُروى قصةً من خلال حوار الشخصيات وأفعالها، وتدور أحداثها على خشبة المسرح أمام الجمهور — ولم يعرفه الأدب العربي إلا في العصر الحديث بعد الاتصال بالثقافة الغربية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البداية: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على يد اللبناني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مارون النقاش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في القرن التاسع عشر متأثّرًا بالفرنسي «موليير» — ترجم «البخيل» إلى المسرح العربي، ثم كُتبت «الحسود السليط» و«أبو الحسن المغفل»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أول مسرح عربي: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أسّسه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أبو خليل القباني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في دمشق، وقدّم عروضًا من التاريخ العربي مثل «هارون الرشيد»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المسرح الشعري: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عن طريق </a:t>
            </a: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أحمد شوقي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صاحب «مصرع كليوباترا» و«مجنون ليلى»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4- القصة — ص33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القصة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التعريف: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جنس أدبي عام لأنواع متعددة، منها: الأقصوصة — القصة القصيرة — القصة المتوسطة — الرواية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من أعلامها: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محمد حسين هيكل، محمود تيمور، توفيق الحكيم، نجيب محفوظ، سليمان الشطي، زكريا تامر، عيسى الناعوري، يوسف إدريس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عناصرها الفنية: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الأحداث — الشخصيات — الزمان — المكان — العقدة — الحل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25" b="1">
                <a:solidFill>
                  <a:srgbClr val="333333"/>
                </a:solidFill>
                <a:latin typeface="Cairo"/>
                <a:cs typeface="Cairo"/>
              </a:rPr>
              <a:t>القصص القرآني</a:t>
            </a:r>
            <a:r>
              <a:rPr sz="1325" b="0">
                <a:solidFill>
                  <a:srgbClr val="333333"/>
                </a:solidFill>
                <a:latin typeface="Cairo"/>
                <a:cs typeface="Cairo"/>
              </a:rPr>
              <a:t> نموذج رائع متقدّم بعناصره الفنية (قصة يوسف عليه السلام) استلهمها الكُتّاب والنُّقّاد في وضع الإطار الفني لهذا الجنس — ومن الأنواع الأخرى: السيرة، الخاطرة، أدب اليوميات والمذكرات، الرسالة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غلق الهدف (1) — التدريبات: س1-2 (ص34)</a:t>
            </a:r>
          </a:p>
        </p:txBody>
      </p:sp>
      <p:pic>
        <p:nvPicPr>
          <p:cNvPr id="5" name="Picture 4" descr="t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75207"/>
            <a:ext cx="8191500" cy="1450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3086100"/>
            <a:ext cx="77724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١-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الجنس (النوع) الأدبي هو النوع الفني الذي يُصَبُّ فيه الأديب إبداعَه الأدبي، كالخطبة والمقالة والقصة والقصيدة والملحمة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3781425"/>
            <a:ext cx="77724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٢-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الشعر الغنائي: إيليا أبو ماضي — الشعر المسرحي: أحمد شوقي — الشعر الملحمي: أحمد محرم (الإلياذة الإسلامية)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75" b="1">
                <a:solidFill>
                  <a:srgbClr val="FFFFFF"/>
                </a:solidFill>
                <a:latin typeface="Cairo"/>
                <a:cs typeface="Cairo"/>
              </a:rPr>
              <a:t>غلق الهدف (2) — التدريبات: س3 (ص34)</a:t>
            </a:r>
          </a:p>
        </p:txBody>
      </p:sp>
      <p:pic>
        <p:nvPicPr>
          <p:cNvPr id="5" name="Picture 4" descr="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74447"/>
            <a:ext cx="8191500" cy="565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2571750"/>
            <a:ext cx="77724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المرحلة الأولى: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التحلّل من القافية الموحدة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3028950"/>
            <a:ext cx="77724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الثانية: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التحلّل من الأوزان والقافية مع الالتزام بالتفعيلة (شعر التفعيلة) — الريحاني، الملائكة، السياب، البياتي، درويش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3495675"/>
            <a:ext cx="77724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الثالثة: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التحلّل من الوزن والقافية والتفعيلة (قصيدة النثر) — أدونيس، يوسف الخال، جبرا إبراهيم جبرا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75" b="1">
                <a:solidFill>
                  <a:srgbClr val="FFFFFF"/>
                </a:solidFill>
                <a:latin typeface="Cairo"/>
                <a:cs typeface="Cairo"/>
              </a:rPr>
              <a:t>غلق الهدف (3) — التدريبات: س5 (ص35)</a:t>
            </a:r>
          </a:p>
        </p:txBody>
      </p:sp>
      <p:pic>
        <p:nvPicPr>
          <p:cNvPr id="5" name="Picture 4" descr="t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199426"/>
            <a:ext cx="8191500" cy="2744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2450" y="1790700"/>
            <a:ext cx="542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09800"/>
            <a:ext cx="542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1">
                <a:solidFill>
                  <a:srgbClr val="1E7B34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2657475"/>
            <a:ext cx="542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1">
                <a:solidFill>
                  <a:srgbClr val="1E7B34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095625"/>
            <a:ext cx="542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543300"/>
            <a:ext cx="5429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1">
                <a:solidFill>
                  <a:srgbClr val="1E7B34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(4) — التدريبات: س6 (ص35) — بالعودة إلى سورة يوسف</a:t>
            </a:r>
          </a:p>
        </p:txBody>
      </p:sp>
      <p:pic>
        <p:nvPicPr>
          <p:cNvPr id="5" name="Picture 4" descr="t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517749"/>
            <a:ext cx="8191500" cy="2108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1866900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25" b="0">
                <a:solidFill>
                  <a:srgbClr val="335693"/>
                </a:solidFill>
                <a:latin typeface="Cairo"/>
                <a:cs typeface="Cairo"/>
              </a:rPr>
              <a:t>رؤيا يوسف — إلقاؤه في الجُبّ — بيعه — فتنة امرأة العزيز — سجنه — تفسير رؤيا الملك — التمكين ولقاء الأهل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314575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يوسف — يعقوب — عزيز مصر — ملك مصر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771775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إخوة يوسف — امرأة العزيز — السيّارة — ساقي الملك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219450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زمن قديم غير محدّد (عصر الأنبياء)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غلق الهدف (5) — التدريبات: س6 (تابع)</a:t>
            </a:r>
          </a:p>
        </p:txBody>
      </p:sp>
      <p:pic>
        <p:nvPicPr>
          <p:cNvPr id="5" name="Picture 4" descr="t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666299"/>
            <a:ext cx="8191500" cy="1810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1714500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الجُبّ — بيت العزيز — السجن — قصر الملك (مصر)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162175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«يَا بُنَيَّ لَا تَقْصُصْ رُؤْيَاكَ عَلَى إِخْوَتِكَ فَيَكِيدُوا لَكَ كَيْدًا»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619375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حسد إخوة يوسف وتآمرهم عليه وفراقُه أباه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076575"/>
            <a:ext cx="38862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تمكين الله ليوسف في مصر واجتماع شمل الأسرة وتحقّق الرؤيا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تدريب 4 (ص34) — إنتاج كتابي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87" b="1">
                <a:solidFill>
                  <a:srgbClr val="335693"/>
                </a:solidFill>
                <a:latin typeface="Cairo"/>
                <a:cs typeface="Cairo"/>
              </a:rPr>
              <a:t>اكتب فقرة من خمسة أسطر عن «الأقمار الصناعية ودورها في الحياة والتكنولوجيا على كوكب الأرض»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خصائص الأسلوب العلمي (من ص32):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١- ألفاظ محددة الدلالة — فكرة واضحة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٢- الابتعاد عن المجاز والصور البيانية والإيحاءات والدلالات الأدبية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٣- الالتزام بالحقائق العلمية بعيدًا عن الأسلوب الأدبي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C00000"/>
                </a:solidFill>
                <a:latin typeface="Cairo"/>
                <a:cs typeface="Cairo"/>
              </a:rPr>
              <a:t>اكتب فقرتك في دفترك مراعيًا هذه الخصائص، ثم قارنها بفقرة زميلك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https://uw3vlhc2of5wm.kimi.pro/banks/g12-qadiya-1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