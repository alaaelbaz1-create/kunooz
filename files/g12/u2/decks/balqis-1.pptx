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uw3vlhc2of5wm.kimi.pro/banks/g12-balqis-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over.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334000" y="1428750"/>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Year 12</a:t>
            </a:r>
          </a:p>
        </p:txBody>
      </p:sp>
      <p:sp>
        <p:nvSpPr>
          <p:cNvPr id="4" name="TextBox 3"/>
          <p:cNvSpPr txBox="1"/>
          <p:nvPr/>
        </p:nvSpPr>
        <p:spPr>
          <a:xfrm>
            <a:off x="5334000" y="1857375"/>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Subject: Arabic</a:t>
            </a:r>
          </a:p>
        </p:txBody>
      </p:sp>
      <p:sp>
        <p:nvSpPr>
          <p:cNvPr id="5" name="TextBox 4"/>
          <p:cNvSpPr txBox="1"/>
          <p:nvPr/>
        </p:nvSpPr>
        <p:spPr>
          <a:xfrm>
            <a:off x="5334000" y="2286000"/>
            <a:ext cx="3429000" cy="419100"/>
          </a:xfrm>
          <a:prstGeom prst="rect">
            <a:avLst/>
          </a:prstGeom>
          <a:noFill/>
        </p:spPr>
        <p:txBody>
          <a:bodyPr wrap="square" lIns="0" rIns="0" tIns="0" bIns="0" anchor="ctr">
            <a:spAutoFit/>
          </a:bodyPr>
          <a:lstStyle/>
          <a:p>
            <a:pPr algn="ctr" rtl="1">
              <a:lnSpc>
                <a:spcPct val="135000"/>
              </a:lnSpc>
            </a:pPr>
            <a:r>
              <a:rPr sz="1512" b="1">
                <a:solidFill>
                  <a:srgbClr val="335693"/>
                </a:solidFill>
                <a:latin typeface="Cairo"/>
                <a:cs typeface="Cairo"/>
              </a:rPr>
              <a:t>Lesson: Reading: Bilqis - Drama Scene (1)</a:t>
            </a:r>
          </a:p>
        </p:txBody>
      </p:sp>
      <p:sp>
        <p:nvSpPr>
          <p:cNvPr id="6" name="TextBox 5"/>
          <p:cNvSpPr txBox="1"/>
          <p:nvPr/>
        </p:nvSpPr>
        <p:spPr>
          <a:xfrm>
            <a:off x="1143000" y="3048000"/>
            <a:ext cx="7620000" cy="857250"/>
          </a:xfrm>
          <a:prstGeom prst="rect">
            <a:avLst/>
          </a:prstGeom>
          <a:noFill/>
        </p:spPr>
        <p:txBody>
          <a:bodyPr wrap="square" lIns="0" rIns="0" tIns="0" bIns="0" anchor="ctr">
            <a:spAutoFit/>
          </a:bodyPr>
          <a:lstStyle/>
          <a:p>
            <a:pPr algn="ctr" rtl="1">
              <a:lnSpc>
                <a:spcPct val="125000"/>
              </a:lnSpc>
            </a:pPr>
            <a:r>
              <a:rPr sz="3562" b="1">
                <a:solidFill>
                  <a:srgbClr val="C00000"/>
                </a:solidFill>
                <a:latin typeface="Cairo"/>
                <a:cs typeface="Cairo"/>
              </a:rPr>
              <a:t>بلقيس </a:t>
            </a:r>
            <a:r>
              <a:rPr sz="3562" b="1">
                <a:solidFill>
                  <a:srgbClr val="C00000"/>
                </a:solidFill>
                <a:latin typeface="Cairo"/>
                <a:cs typeface="Cairo"/>
              </a:rPr>
              <a:t>(مشهد مسرحي)</a:t>
            </a:r>
          </a:p>
        </p:txBody>
      </p:sp>
      <p:sp>
        <p:nvSpPr>
          <p:cNvPr id="7" name="TextBox 6"/>
          <p:cNvSpPr txBox="1"/>
          <p:nvPr/>
        </p:nvSpPr>
        <p:spPr>
          <a:xfrm>
            <a:off x="1143000" y="3952875"/>
            <a:ext cx="7620000" cy="428625"/>
          </a:xfrm>
          <a:prstGeom prst="rect">
            <a:avLst/>
          </a:prstGeom>
          <a:noFill/>
        </p:spPr>
        <p:txBody>
          <a:bodyPr wrap="square" lIns="0" rIns="0" tIns="0" bIns="0" anchor="ctr">
            <a:spAutoFit/>
          </a:bodyPr>
          <a:lstStyle/>
          <a:p>
            <a:pPr algn="ctr" rtl="1">
              <a:lnSpc>
                <a:spcPct val="140000"/>
              </a:lnSpc>
            </a:pPr>
            <a:r>
              <a:rPr sz="1737" b="1">
                <a:solidFill>
                  <a:srgbClr val="335693"/>
                </a:solidFill>
                <a:latin typeface="Cairo"/>
                <a:cs typeface="Cairo"/>
              </a:rPr>
              <a:t>لتوفيق الحكيم — الوحدة الثانية — النص الثاني — الحصة الأولى — ص 88-91</a:t>
            </a:r>
          </a:p>
        </p:txBody>
      </p:sp>
      <p:sp>
        <p:nvSpPr>
          <p:cNvPr id="8" name="TextBox 7"/>
          <p:cNvSpPr txBox="1"/>
          <p:nvPr/>
        </p:nvSpPr>
        <p:spPr>
          <a:xfrm>
            <a:off x="1143000" y="4429125"/>
            <a:ext cx="7620000" cy="381000"/>
          </a:xfrm>
          <a:prstGeom prst="rect">
            <a:avLst/>
          </a:prstGeom>
          <a:noFill/>
        </p:spPr>
        <p:txBody>
          <a:bodyPr wrap="square" lIns="0" rIns="0" tIns="0" bIns="0" anchor="ctr">
            <a:spAutoFit/>
          </a:bodyPr>
          <a:lstStyle/>
          <a:p>
            <a:pPr algn="ctr" rtl="1">
              <a:lnSpc>
                <a:spcPct val="140000"/>
              </a:lnSpc>
            </a:pPr>
            <a:r>
              <a:rPr sz="1562" b="0">
                <a:solidFill>
                  <a:srgbClr val="555555"/>
                </a:solidFill>
                <a:latin typeface="Cairo"/>
                <a:cs typeface="Cairo"/>
              </a:rPr>
              <a:t>للدكتور أحمد كمال أبو المجد (بتصرف) — الوحدة الثانية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أهداف الحصة</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في نهاية هذه الحصة سيكون الطالب قادرًا على أن:</a:t>
            </a:r>
          </a:p>
        </p:txBody>
      </p:sp>
      <p:sp>
        <p:nvSpPr>
          <p:cNvPr id="6" name="Rounded Rectangle 5"/>
          <p:cNvSpPr/>
          <p:nvPr/>
        </p:nvSpPr>
        <p:spPr>
          <a:xfrm>
            <a:off x="857250" y="12001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573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1-</a:t>
            </a:r>
            <a:r>
              <a:rPr sz="1875" b="0">
                <a:solidFill>
                  <a:srgbClr val="333333"/>
                </a:solidFill>
                <a:latin typeface="Cairo"/>
                <a:cs typeface="Cairo"/>
              </a:rPr>
              <a:t> يبيّنَ موضوعَ المشهد المسرحي وقصتَه وخصائصَه الفنية (بين يدي النص)</a:t>
            </a:r>
          </a:p>
        </p:txBody>
      </p:sp>
      <p:sp>
        <p:nvSpPr>
          <p:cNvPr id="8" name="Rounded Rectangle 7"/>
          <p:cNvSpPr/>
          <p:nvPr/>
        </p:nvSpPr>
        <p:spPr>
          <a:xfrm>
            <a:off x="857250" y="21336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1907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2-</a:t>
            </a:r>
            <a:r>
              <a:rPr sz="1875" b="0">
                <a:solidFill>
                  <a:srgbClr val="333333"/>
                </a:solidFill>
                <a:latin typeface="Cairo"/>
                <a:cs typeface="Cairo"/>
              </a:rPr>
              <a:t> يتعرّفَ مؤلِّفَ المسرحية توفيقَ الحكيم وسيرتَه وأسلوبَه</a:t>
            </a:r>
          </a:p>
        </p:txBody>
      </p:sp>
      <p:sp>
        <p:nvSpPr>
          <p:cNvPr id="10" name="Rounded Rectangle 9"/>
          <p:cNvSpPr/>
          <p:nvPr/>
        </p:nvSpPr>
        <p:spPr>
          <a:xfrm>
            <a:off x="857250" y="30670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1242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3-</a:t>
            </a:r>
            <a:r>
              <a:rPr sz="1875" b="0">
                <a:solidFill>
                  <a:srgbClr val="333333"/>
                </a:solidFill>
                <a:latin typeface="Cairo"/>
                <a:cs typeface="Cairo"/>
              </a:rPr>
              <a:t> يقرأَ المشهدَ قراءةً جهريةً معبّرةً ممثِّلًا أدوارَ الشخصيات، ويشرحَ مفرداتِه</a:t>
            </a:r>
          </a:p>
        </p:txBody>
      </p:sp>
      <p:sp>
        <p:nvSpPr>
          <p:cNvPr id="12" name="Rounded Rectangle 11"/>
          <p:cNvSpPr/>
          <p:nvPr/>
        </p:nvSpPr>
        <p:spPr>
          <a:xfrm>
            <a:off x="857250" y="40005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40576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4-</a:t>
            </a:r>
            <a:r>
              <a:rPr sz="1875" b="0">
                <a:solidFill>
                  <a:srgbClr val="333333"/>
                </a:solidFill>
                <a:latin typeface="Cairo"/>
                <a:cs typeface="Cairo"/>
              </a:rPr>
              <a:t> يجيبَ عن أسئلة القراءة الاستكشافية (ص91) في دفتره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تدريب علاجي</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800" b="1">
                <a:solidFill>
                  <a:srgbClr val="335693"/>
                </a:solidFill>
                <a:latin typeface="Cairo"/>
                <a:cs typeface="Cairo"/>
              </a:rPr>
              <a:t>أسئلة تُنعش ذاكرتك… أجب في دفترك خلال 3 دقائق</a:t>
            </a:r>
          </a:p>
        </p:txBody>
      </p:sp>
      <p:sp>
        <p:nvSpPr>
          <p:cNvPr id="6" name="Rounded Rectangle 5"/>
          <p:cNvSpPr/>
          <p:nvPr/>
        </p:nvSpPr>
        <p:spPr>
          <a:xfrm>
            <a:off x="571500" y="1123950"/>
            <a:ext cx="8001000" cy="1085850"/>
          </a:xfrm>
          <a:prstGeom prst="roundRect">
            <a:avLst>
              <a:gd name="adj" fmla="val 12000"/>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1500" y="11239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12001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نقطة</a:t>
            </a:r>
          </a:p>
        </p:txBody>
      </p:sp>
      <p:sp>
        <p:nvSpPr>
          <p:cNvPr id="9" name="TextBox 8"/>
          <p:cNvSpPr txBox="1"/>
          <p:nvPr/>
        </p:nvSpPr>
        <p:spPr>
          <a:xfrm>
            <a:off x="1952625" y="12001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من رائد المسرح الذهني؟</a:t>
            </a:r>
          </a:p>
        </p:txBody>
      </p:sp>
      <p:sp>
        <p:nvSpPr>
          <p:cNvPr id="10" name="Rounded Rectangle 9"/>
          <p:cNvSpPr/>
          <p:nvPr/>
        </p:nvSpPr>
        <p:spPr>
          <a:xfrm>
            <a:off x="571500" y="2343150"/>
            <a:ext cx="8001000" cy="1085850"/>
          </a:xfrm>
          <a:prstGeom prst="roundRect">
            <a:avLst>
              <a:gd name="adj" fmla="val 12000"/>
            </a:avLst>
          </a:prstGeom>
          <a:solidFill>
            <a:srgbClr val="FCE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1500" y="23431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0550" y="24193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نقطتان</a:t>
            </a:r>
          </a:p>
        </p:txBody>
      </p:sp>
      <p:sp>
        <p:nvSpPr>
          <p:cNvPr id="13" name="TextBox 12"/>
          <p:cNvSpPr txBox="1"/>
          <p:nvPr/>
        </p:nvSpPr>
        <p:spPr>
          <a:xfrm>
            <a:off x="1952625" y="24193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اذكر مسرحية ذهنية واحدة</a:t>
            </a:r>
          </a:p>
        </p:txBody>
      </p:sp>
      <p:sp>
        <p:nvSpPr>
          <p:cNvPr id="14" name="Rounded Rectangle 13"/>
          <p:cNvSpPr/>
          <p:nvPr/>
        </p:nvSpPr>
        <p:spPr>
          <a:xfrm>
            <a:off x="571500" y="3562350"/>
            <a:ext cx="8001000" cy="1085850"/>
          </a:xfrm>
          <a:prstGeom prst="roundRect">
            <a:avLst>
              <a:gd name="adj" fmla="val 12000"/>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1500" y="35623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0550" y="36385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ثلاث نقاط</a:t>
            </a:r>
          </a:p>
        </p:txBody>
      </p:sp>
      <p:sp>
        <p:nvSpPr>
          <p:cNvPr id="17" name="TextBox 16"/>
          <p:cNvSpPr txBox="1"/>
          <p:nvPr/>
        </p:nvSpPr>
        <p:spPr>
          <a:xfrm>
            <a:off x="1952625" y="36385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توقّع: كيف تتصرّف ملكةٌ حكيمة أمام تهديد الحرب؟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بين يدي النص — ص88</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«سليمان الحكيم»: حدث تاريخي في ثوب مسرحي</a:t>
            </a:r>
          </a:p>
        </p:txBody>
      </p:sp>
      <p:sp>
        <p:nvSpPr>
          <p:cNvPr id="6" name="Rounded Rectangle 5"/>
          <p:cNvSpPr/>
          <p:nvPr/>
        </p:nvSpPr>
        <p:spPr>
          <a:xfrm>
            <a:off x="857250" y="11620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704850"/>
          </a:xfrm>
          <a:prstGeom prst="rect">
            <a:avLst/>
          </a:prstGeom>
          <a:noFill/>
        </p:spPr>
        <p:txBody>
          <a:bodyPr wrap="square" lIns="0" rIns="0" tIns="0" bIns="0" anchor="ctr">
            <a:spAutoFit/>
          </a:bodyPr>
          <a:lstStyle/>
          <a:p>
            <a:pPr algn="r" rtl="1">
              <a:lnSpc>
                <a:spcPct val="135000"/>
              </a:lnSpc>
            </a:pPr>
            <a:r>
              <a:rPr sz="1425" b="0">
                <a:solidFill>
                  <a:srgbClr val="333333"/>
                </a:solidFill>
                <a:latin typeface="Cairo"/>
                <a:cs typeface="Cairo"/>
              </a:rPr>
              <a:t>أحداث التاريخ </a:t>
            </a:r>
            <a:r>
              <a:rPr sz="1425" b="1">
                <a:solidFill>
                  <a:srgbClr val="333333"/>
                </a:solidFill>
                <a:latin typeface="Cairo"/>
                <a:cs typeface="Cairo"/>
              </a:rPr>
              <a:t>مورد عذب</a:t>
            </a:r>
            <a:r>
              <a:rPr sz="1425" b="0">
                <a:solidFill>
                  <a:srgbClr val="333333"/>
                </a:solidFill>
                <a:latin typeface="Cairo"/>
                <a:cs typeface="Cairo"/>
              </a:rPr>
              <a:t> لكثير من الأدباء؛ ينهلون منه لصنع أدب حيٍّ يبقى في نفوس قارئيه، ومسرحية «سليمان الحكيم» </a:t>
            </a:r>
            <a:r>
              <a:rPr sz="1425" b="1">
                <a:solidFill>
                  <a:srgbClr val="333333"/>
                </a:solidFill>
                <a:latin typeface="Cairo"/>
                <a:cs typeface="Cairo"/>
              </a:rPr>
              <a:t>إعادةُ تصويرٍ لحدث تاريخي في ثوب مسرحي</a:t>
            </a:r>
            <a:r>
              <a:rPr sz="1425" b="0">
                <a:solidFill>
                  <a:srgbClr val="333333"/>
                </a:solidFill>
                <a:latin typeface="Cairo"/>
                <a:cs typeface="Cairo"/>
              </a:rPr>
              <a:t> بشروطه وأدواته الفنية الخاصة</a:t>
            </a:r>
          </a:p>
        </p:txBody>
      </p:sp>
      <p:sp>
        <p:nvSpPr>
          <p:cNvPr id="8" name="Rounded Rectangle 7"/>
          <p:cNvSpPr/>
          <p:nvPr/>
        </p:nvSpPr>
        <p:spPr>
          <a:xfrm>
            <a:off x="857250" y="20955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152650"/>
            <a:ext cx="6953250" cy="704850"/>
          </a:xfrm>
          <a:prstGeom prst="rect">
            <a:avLst/>
          </a:prstGeom>
          <a:noFill/>
        </p:spPr>
        <p:txBody>
          <a:bodyPr wrap="square" lIns="0" rIns="0" tIns="0" bIns="0" anchor="ctr">
            <a:spAutoFit/>
          </a:bodyPr>
          <a:lstStyle/>
          <a:p>
            <a:pPr algn="r" rtl="1">
              <a:lnSpc>
                <a:spcPct val="135000"/>
              </a:lnSpc>
            </a:pPr>
            <a:r>
              <a:rPr sz="975" b="0">
                <a:solidFill>
                  <a:srgbClr val="333333"/>
                </a:solidFill>
                <a:latin typeface="Cairo"/>
                <a:cs typeface="Cairo"/>
              </a:rPr>
              <a:t>يحكي هذا المشهد قصةَ </a:t>
            </a:r>
            <a:r>
              <a:rPr sz="975" b="1">
                <a:solidFill>
                  <a:srgbClr val="333333"/>
                </a:solidFill>
                <a:latin typeface="Cairo"/>
                <a:cs typeface="Cairo"/>
              </a:rPr>
              <a:t>«بلقيس» ملكة سبأ</a:t>
            </a:r>
            <a:r>
              <a:rPr sz="975" b="0">
                <a:solidFill>
                  <a:srgbClr val="333333"/>
                </a:solidFill>
                <a:latin typeface="Cairo"/>
                <a:cs typeface="Cairo"/>
              </a:rPr>
              <a:t> في بلاد اليمن مع نبي الله سليمان عليه السلام؛ وكانت تلك الملكة نموذجًا رائعًا </a:t>
            </a:r>
            <a:r>
              <a:rPr sz="975" b="1">
                <a:solidFill>
                  <a:srgbClr val="333333"/>
                </a:solidFill>
                <a:latin typeface="Cairo"/>
                <a:cs typeface="Cairo"/>
              </a:rPr>
              <a:t>للمرأة الحكيمة والسياسية المحنَّكة</a:t>
            </a:r>
            <a:r>
              <a:rPr sz="975" b="0">
                <a:solidFill>
                  <a:srgbClr val="333333"/>
                </a:solidFill>
                <a:latin typeface="Cairo"/>
                <a:cs typeface="Cairo"/>
              </a:rPr>
              <a:t> التي قادت نفسها وقومها إلى حال يستوجبه التقدير السياسي للموقف، ويفرضه الفهم العميق للواقع، ويوجبه بُعدُ النظر في المآلات</a:t>
            </a:r>
          </a:p>
        </p:txBody>
      </p:sp>
      <p:sp>
        <p:nvSpPr>
          <p:cNvPr id="10" name="Rounded Rectangle 9"/>
          <p:cNvSpPr/>
          <p:nvPr/>
        </p:nvSpPr>
        <p:spPr>
          <a:xfrm>
            <a:off x="857250" y="30289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086100"/>
            <a:ext cx="6953250" cy="704850"/>
          </a:xfrm>
          <a:prstGeom prst="rect">
            <a:avLst/>
          </a:prstGeom>
          <a:noFill/>
        </p:spPr>
        <p:txBody>
          <a:bodyPr wrap="square" lIns="0" rIns="0" tIns="0" bIns="0" anchor="ctr">
            <a:spAutoFit/>
          </a:bodyPr>
          <a:lstStyle/>
          <a:p>
            <a:pPr algn="r" rtl="1">
              <a:lnSpc>
                <a:spcPct val="135000"/>
              </a:lnSpc>
            </a:pPr>
            <a:r>
              <a:rPr sz="1475" b="0">
                <a:solidFill>
                  <a:srgbClr val="333333"/>
                </a:solidFill>
                <a:latin typeface="Cairo"/>
                <a:cs typeface="Cairo"/>
              </a:rPr>
              <a:t>فأتت هي وقومها نبيَّ الله سليمان عليه السلام </a:t>
            </a:r>
            <a:r>
              <a:rPr sz="1475" b="1">
                <a:solidFill>
                  <a:srgbClr val="333333"/>
                </a:solidFill>
                <a:latin typeface="Cairo"/>
                <a:cs typeface="Cairo"/>
              </a:rPr>
              <a:t>مسلمين</a:t>
            </a:r>
            <a:r>
              <a:rPr sz="1475" b="0">
                <a:solidFill>
                  <a:srgbClr val="333333"/>
                </a:solidFill>
                <a:latin typeface="Cairo"/>
                <a:cs typeface="Cairo"/>
              </a:rPr>
              <a:t>، بعيدًا عن حرب تُدرَك فيها موازينُ القوى ومصيرُ المواجهة</a:t>
            </a:r>
          </a:p>
        </p:txBody>
      </p:sp>
      <p:sp>
        <p:nvSpPr>
          <p:cNvPr id="12" name="Rounded Rectangle 11"/>
          <p:cNvSpPr/>
          <p:nvPr/>
        </p:nvSpPr>
        <p:spPr>
          <a:xfrm>
            <a:off x="857250" y="39624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4019550"/>
            <a:ext cx="6953250" cy="704850"/>
          </a:xfrm>
          <a:prstGeom prst="rect">
            <a:avLst/>
          </a:prstGeom>
          <a:noFill/>
        </p:spPr>
        <p:txBody>
          <a:bodyPr wrap="square" lIns="0" rIns="0" tIns="0" bIns="0" anchor="ctr">
            <a:spAutoFit/>
          </a:bodyPr>
          <a:lstStyle/>
          <a:p>
            <a:pPr algn="r" rtl="1">
              <a:lnSpc>
                <a:spcPct val="135000"/>
              </a:lnSpc>
            </a:pPr>
            <a:r>
              <a:rPr sz="1475" b="1">
                <a:solidFill>
                  <a:srgbClr val="C00000"/>
                </a:solidFill>
                <a:latin typeface="Cairo"/>
                <a:cs typeface="Cairo"/>
              </a:rPr>
              <a:t>وهذا مشهد من المسرحية يعرض اجتماعًا للملكة «بلقيس» للتشاور مع رجال السياسة والجيش حول قرار الحرب أو السلام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التعريف بالكاتب — ص88</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توفيق إسماعيل الحكيم (1898م — 1987م)</a:t>
            </a:r>
          </a:p>
        </p:txBody>
      </p:sp>
      <p:sp>
        <p:nvSpPr>
          <p:cNvPr id="6" name="Rounded Rectangle 5"/>
          <p:cNvSpPr/>
          <p:nvPr/>
        </p:nvSpPr>
        <p:spPr>
          <a:xfrm>
            <a:off x="857250" y="1162050"/>
            <a:ext cx="7429500" cy="6286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514350"/>
          </a:xfrm>
          <a:prstGeom prst="rect">
            <a:avLst/>
          </a:prstGeom>
          <a:noFill/>
        </p:spPr>
        <p:txBody>
          <a:bodyPr wrap="square" lIns="0" rIns="0" tIns="0" bIns="0" anchor="ctr">
            <a:spAutoFit/>
          </a:bodyPr>
          <a:lstStyle/>
          <a:p>
            <a:pPr algn="r" rtl="1">
              <a:lnSpc>
                <a:spcPct val="135000"/>
              </a:lnSpc>
            </a:pPr>
            <a:r>
              <a:rPr sz="1175" b="0">
                <a:solidFill>
                  <a:srgbClr val="333333"/>
                </a:solidFill>
                <a:latin typeface="Cairo"/>
                <a:cs typeface="Cairo"/>
              </a:rPr>
              <a:t>أديب وروائي وكاتب مسرحي </a:t>
            </a:r>
            <a:r>
              <a:rPr sz="1175" b="1">
                <a:solidFill>
                  <a:srgbClr val="333333"/>
                </a:solidFill>
                <a:latin typeface="Cairo"/>
                <a:cs typeface="Cairo"/>
              </a:rPr>
              <a:t>مصري</a:t>
            </a:r>
            <a:r>
              <a:rPr sz="1175" b="0">
                <a:solidFill>
                  <a:srgbClr val="333333"/>
                </a:solidFill>
                <a:latin typeface="Cairo"/>
                <a:cs typeface="Cairo"/>
              </a:rPr>
              <a:t>، تخرج في كلية الحقوق عام 1925م، وهو من </a:t>
            </a:r>
            <a:r>
              <a:rPr sz="1175" b="1">
                <a:solidFill>
                  <a:srgbClr val="333333"/>
                </a:solidFill>
                <a:latin typeface="Cairo"/>
                <a:cs typeface="Cairo"/>
              </a:rPr>
              <a:t>رواد الأدب العربي في العصر الحديث</a:t>
            </a:r>
          </a:p>
        </p:txBody>
      </p:sp>
      <p:sp>
        <p:nvSpPr>
          <p:cNvPr id="8" name="Rounded Rectangle 7"/>
          <p:cNvSpPr/>
          <p:nvPr/>
        </p:nvSpPr>
        <p:spPr>
          <a:xfrm>
            <a:off x="857250" y="1905000"/>
            <a:ext cx="7429500" cy="6286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1962150"/>
            <a:ext cx="6953250" cy="514350"/>
          </a:xfrm>
          <a:prstGeom prst="rect">
            <a:avLst/>
          </a:prstGeom>
          <a:noFill/>
        </p:spPr>
        <p:txBody>
          <a:bodyPr wrap="square" lIns="0" rIns="0" tIns="0" bIns="0" anchor="ctr">
            <a:spAutoFit/>
          </a:bodyPr>
          <a:lstStyle/>
          <a:p>
            <a:pPr algn="r" rtl="1">
              <a:lnSpc>
                <a:spcPct val="135000"/>
              </a:lnSpc>
            </a:pPr>
            <a:r>
              <a:rPr sz="1675" b="0">
                <a:solidFill>
                  <a:srgbClr val="333333"/>
                </a:solidFill>
                <a:latin typeface="Cairo"/>
                <a:cs typeface="Cairo"/>
              </a:rPr>
              <a:t>ألّف نحو </a:t>
            </a:r>
            <a:r>
              <a:rPr sz="1675" b="1">
                <a:solidFill>
                  <a:srgbClr val="333333"/>
                </a:solidFill>
                <a:latin typeface="Cairo"/>
                <a:cs typeface="Cairo"/>
              </a:rPr>
              <a:t>(100) مسرحية و(62) كتابًا</a:t>
            </a:r>
            <a:r>
              <a:rPr sz="1675" b="0">
                <a:solidFill>
                  <a:srgbClr val="333333"/>
                </a:solidFill>
                <a:latin typeface="Cairo"/>
                <a:cs typeface="Cairo"/>
              </a:rPr>
              <a:t>، وتُرجمت كثير من مؤلفاته إلى أكثر من سبع لغات</a:t>
            </a:r>
          </a:p>
        </p:txBody>
      </p:sp>
      <p:sp>
        <p:nvSpPr>
          <p:cNvPr id="10" name="Rounded Rectangle 9"/>
          <p:cNvSpPr/>
          <p:nvPr/>
        </p:nvSpPr>
        <p:spPr>
          <a:xfrm>
            <a:off x="857250" y="2647950"/>
            <a:ext cx="7429500" cy="6286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2705100"/>
            <a:ext cx="6953250" cy="514350"/>
          </a:xfrm>
          <a:prstGeom prst="rect">
            <a:avLst/>
          </a:prstGeom>
          <a:noFill/>
        </p:spPr>
        <p:txBody>
          <a:bodyPr wrap="square" lIns="0" rIns="0" tIns="0" bIns="0" anchor="ctr">
            <a:spAutoFit/>
          </a:bodyPr>
          <a:lstStyle/>
          <a:p>
            <a:pPr algn="r" rtl="1">
              <a:lnSpc>
                <a:spcPct val="135000"/>
              </a:lnSpc>
            </a:pPr>
            <a:r>
              <a:rPr sz="1075" b="0">
                <a:solidFill>
                  <a:srgbClr val="333333"/>
                </a:solidFill>
                <a:latin typeface="Cairo"/>
                <a:cs typeface="Cairo"/>
              </a:rPr>
              <a:t>صدرت مسرحيته الأولى </a:t>
            </a:r>
            <a:r>
              <a:rPr sz="1075" b="1">
                <a:solidFill>
                  <a:srgbClr val="333333"/>
                </a:solidFill>
                <a:latin typeface="Cairo"/>
                <a:cs typeface="Cairo"/>
              </a:rPr>
              <a:t>«أهل الكهف» عام 1933م</a:t>
            </a:r>
            <a:r>
              <a:rPr sz="1075" b="0">
                <a:solidFill>
                  <a:srgbClr val="333333"/>
                </a:solidFill>
                <a:latin typeface="Cairo"/>
                <a:cs typeface="Cairo"/>
              </a:rPr>
              <a:t>، فعدّها النقاد بدايةَ ظهور ما يُسمّى </a:t>
            </a:r>
            <a:r>
              <a:rPr sz="1075" b="1">
                <a:solidFill>
                  <a:srgbClr val="333333"/>
                </a:solidFill>
                <a:latin typeface="Cairo"/>
                <a:cs typeface="Cairo"/>
              </a:rPr>
              <a:t>«المسرح الذهني»</a:t>
            </a:r>
            <a:r>
              <a:rPr sz="1075" b="0">
                <a:solidFill>
                  <a:srgbClr val="333333"/>
                </a:solidFill>
                <a:latin typeface="Cairo"/>
                <a:cs typeface="Cairo"/>
              </a:rPr>
              <a:t>، فعُدَّ بذلك </a:t>
            </a:r>
            <a:r>
              <a:rPr sz="1075" b="1">
                <a:solidFill>
                  <a:srgbClr val="333333"/>
                </a:solidFill>
                <a:latin typeface="Cairo"/>
                <a:cs typeface="Cairo"/>
              </a:rPr>
              <a:t>«رائد المسرح الذهني»</a:t>
            </a:r>
          </a:p>
        </p:txBody>
      </p:sp>
      <p:sp>
        <p:nvSpPr>
          <p:cNvPr id="12" name="Rounded Rectangle 11"/>
          <p:cNvSpPr/>
          <p:nvPr/>
        </p:nvSpPr>
        <p:spPr>
          <a:xfrm>
            <a:off x="857250" y="3390900"/>
            <a:ext cx="7429500" cy="6286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3448050"/>
            <a:ext cx="6953250" cy="514350"/>
          </a:xfrm>
          <a:prstGeom prst="rect">
            <a:avLst/>
          </a:prstGeom>
          <a:noFill/>
        </p:spPr>
        <p:txBody>
          <a:bodyPr wrap="square" lIns="0" rIns="0" tIns="0" bIns="0" anchor="ctr">
            <a:spAutoFit/>
          </a:bodyPr>
          <a:lstStyle/>
          <a:p>
            <a:pPr algn="r" rtl="1">
              <a:lnSpc>
                <a:spcPct val="135000"/>
              </a:lnSpc>
            </a:pPr>
            <a:r>
              <a:rPr sz="1125" b="0">
                <a:solidFill>
                  <a:srgbClr val="333333"/>
                </a:solidFill>
                <a:latin typeface="Cairo"/>
                <a:cs typeface="Cairo"/>
              </a:rPr>
              <a:t>نال العديد من الجوائز التقديرية: </a:t>
            </a:r>
            <a:r>
              <a:rPr sz="1125" b="1">
                <a:solidFill>
                  <a:srgbClr val="333333"/>
                </a:solidFill>
                <a:latin typeface="Cairo"/>
                <a:cs typeface="Cairo"/>
              </a:rPr>
              <a:t>قلادة الجمهورية</a:t>
            </a:r>
            <a:r>
              <a:rPr sz="1125" b="0">
                <a:solidFill>
                  <a:srgbClr val="333333"/>
                </a:solidFill>
                <a:latin typeface="Cairo"/>
                <a:cs typeface="Cairo"/>
              </a:rPr>
              <a:t>، و</a:t>
            </a:r>
            <a:r>
              <a:rPr sz="1125" b="1">
                <a:solidFill>
                  <a:srgbClr val="333333"/>
                </a:solidFill>
                <a:latin typeface="Cairo"/>
                <a:cs typeface="Cairo"/>
              </a:rPr>
              <a:t>جائزة الدولة التقديرية في الآداب</a:t>
            </a:r>
            <a:r>
              <a:rPr sz="1125" b="0">
                <a:solidFill>
                  <a:srgbClr val="333333"/>
                </a:solidFill>
                <a:latin typeface="Cairo"/>
                <a:cs typeface="Cairo"/>
              </a:rPr>
              <a:t>، و</a:t>
            </a:r>
            <a:r>
              <a:rPr sz="1125" b="1">
                <a:solidFill>
                  <a:srgbClr val="333333"/>
                </a:solidFill>
                <a:latin typeface="Cairo"/>
                <a:cs typeface="Cairo"/>
              </a:rPr>
              <a:t>وسام العلوم والفنون من الدرجة الأولى</a:t>
            </a:r>
          </a:p>
        </p:txBody>
      </p:sp>
      <p:sp>
        <p:nvSpPr>
          <p:cNvPr id="14" name="Rounded Rectangle 13"/>
          <p:cNvSpPr/>
          <p:nvPr/>
        </p:nvSpPr>
        <p:spPr>
          <a:xfrm>
            <a:off x="857250" y="4133850"/>
            <a:ext cx="7429500" cy="6286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5375" y="4191000"/>
            <a:ext cx="6953250" cy="514350"/>
          </a:xfrm>
          <a:prstGeom prst="rect">
            <a:avLst/>
          </a:prstGeom>
          <a:noFill/>
        </p:spPr>
        <p:txBody>
          <a:bodyPr wrap="square" lIns="0" rIns="0" tIns="0" bIns="0" anchor="ctr">
            <a:spAutoFit/>
          </a:bodyPr>
          <a:lstStyle/>
          <a:p>
            <a:pPr algn="r" rtl="1">
              <a:lnSpc>
                <a:spcPct val="135000"/>
              </a:lnSpc>
            </a:pPr>
            <a:r>
              <a:rPr sz="1075" b="1">
                <a:solidFill>
                  <a:srgbClr val="333333"/>
                </a:solidFill>
                <a:latin typeface="Cairo"/>
                <a:cs typeface="Cairo"/>
              </a:rPr>
              <a:t>أسلوبه:</a:t>
            </a:r>
            <a:r>
              <a:rPr sz="1075" b="0">
                <a:solidFill>
                  <a:srgbClr val="333333"/>
                </a:solidFill>
                <a:latin typeface="Cairo"/>
                <a:cs typeface="Cairo"/>
              </a:rPr>
              <a:t> مزج بين الرمز والواقع في ثوب فريد من الخيال والعمق، مع سهولة اللفظ وعذوبته، والتكثيف الشديد، والقدرة على حشد رائع المعاني بموجز المباني، وتصويرٌ بالشمول والإحاطة متعدد الزوايا متنوع المرايا كاشف عن كثير من الخبايا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قراءة جهرية معبّرة (1) — المشهد: في سبأ، الملكة على عرشها — ص89</a:t>
            </a:r>
          </a:p>
        </p:txBody>
      </p:sp>
      <p:pic>
        <p:nvPicPr>
          <p:cNvPr id="5" name="Picture 4" descr="mash1a.png"/>
          <p:cNvPicPr>
            <a:picLocks noChangeAspect="1"/>
          </p:cNvPicPr>
          <p:nvPr/>
        </p:nvPicPr>
        <p:blipFill>
          <a:blip r:embed="rId4"/>
          <a:stretch>
            <a:fillRect/>
          </a:stretch>
        </p:blipFill>
        <p:spPr>
          <a:xfrm>
            <a:off x="1413342" y="628650"/>
            <a:ext cx="6317316" cy="3905250"/>
          </a:xfrm>
          <a:prstGeom prst="rect">
            <a:avLst/>
          </a:prstGeom>
        </p:spPr>
      </p:pic>
      <p:sp>
        <p:nvSpPr>
          <p:cNvPr id="6" name="TextBox 5"/>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0">
                <a:solidFill>
                  <a:srgbClr val="333333"/>
                </a:solidFill>
                <a:latin typeface="Cairo"/>
                <a:cs typeface="Cairo"/>
              </a:rPr>
              <a:t>يقرأ الطلاب المشهد قراءة جهرية معبّرة عن المعنى، ممثِّلين أدوار الشخصيات: بلقيس — الوزير الأول — رئيس الجيش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قراءة جهرية معبّرة (2) — صوت العقل وقوة الجيش — ص89</a:t>
            </a:r>
          </a:p>
        </p:txBody>
      </p:sp>
      <p:pic>
        <p:nvPicPr>
          <p:cNvPr id="5" name="Picture 4" descr="mash1b.png"/>
          <p:cNvPicPr>
            <a:picLocks noChangeAspect="1"/>
          </p:cNvPicPr>
          <p:nvPr/>
        </p:nvPicPr>
        <p:blipFill>
          <a:blip r:embed="rId4"/>
          <a:stretch>
            <a:fillRect/>
          </a:stretch>
        </p:blipFill>
        <p:spPr>
          <a:xfrm>
            <a:off x="962105" y="628650"/>
            <a:ext cx="7219790" cy="3905250"/>
          </a:xfrm>
          <a:prstGeom prst="rect">
            <a:avLst/>
          </a:prstGeom>
        </p:spPr>
      </p:pic>
      <p:sp>
        <p:nvSpPr>
          <p:cNvPr id="6" name="TextBox 5"/>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0">
                <a:solidFill>
                  <a:srgbClr val="333333"/>
                </a:solidFill>
                <a:latin typeface="Cairo"/>
                <a:cs typeface="Cairo"/>
              </a:rPr>
              <a:t>يقرأ الطلاب المشهد قراءة جهرية معبّرة عن المعنى، ممثِّلين أدوار الشخصيات: بلقيس — الوزير الأول — رئيس الجيش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قراءة جهرية معبّرة (3) — وصول الرسل وردّ الهدية — ص90</a:t>
            </a:r>
          </a:p>
        </p:txBody>
      </p:sp>
      <p:pic>
        <p:nvPicPr>
          <p:cNvPr id="5" name="Picture 4" descr="mash2a.png"/>
          <p:cNvPicPr>
            <a:picLocks noChangeAspect="1"/>
          </p:cNvPicPr>
          <p:nvPr/>
        </p:nvPicPr>
        <p:blipFill>
          <a:blip r:embed="rId4"/>
          <a:stretch>
            <a:fillRect/>
          </a:stretch>
        </p:blipFill>
        <p:spPr>
          <a:xfrm>
            <a:off x="1669449" y="628650"/>
            <a:ext cx="5805101" cy="3905250"/>
          </a:xfrm>
          <a:prstGeom prst="rect">
            <a:avLst/>
          </a:prstGeom>
        </p:spPr>
      </p:pic>
      <p:sp>
        <p:nvSpPr>
          <p:cNvPr id="6" name="TextBox 5"/>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0">
                <a:solidFill>
                  <a:srgbClr val="333333"/>
                </a:solidFill>
                <a:latin typeface="Cairo"/>
                <a:cs typeface="Cairo"/>
              </a:rPr>
              <a:t>يقرأ الطلاب المشهد قراءة جهرية معبّرة عن المعنى، ممثِّلين أدوار الشخصيات: بلقيس — الرسول — الوزير الأول — رئيس الجيش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قراءة جهرية معبّرة (4) — استقرار الرأي على السلام — ص90</a:t>
            </a:r>
          </a:p>
        </p:txBody>
      </p:sp>
      <p:pic>
        <p:nvPicPr>
          <p:cNvPr id="5" name="Picture 4" descr="mash2b.png"/>
          <p:cNvPicPr>
            <a:picLocks noChangeAspect="1"/>
          </p:cNvPicPr>
          <p:nvPr/>
        </p:nvPicPr>
        <p:blipFill>
          <a:blip r:embed="rId4"/>
          <a:stretch>
            <a:fillRect/>
          </a:stretch>
        </p:blipFill>
        <p:spPr>
          <a:xfrm>
            <a:off x="1708150" y="628650"/>
            <a:ext cx="5727700" cy="3905250"/>
          </a:xfrm>
          <a:prstGeom prst="rect">
            <a:avLst/>
          </a:prstGeom>
        </p:spPr>
      </p:pic>
      <p:sp>
        <p:nvSpPr>
          <p:cNvPr id="6" name="TextBox 5"/>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0">
                <a:solidFill>
                  <a:srgbClr val="333333"/>
                </a:solidFill>
                <a:latin typeface="Cairo"/>
                <a:cs typeface="Cairo"/>
              </a:rPr>
              <a:t>المصدر: مسرحية «سليمان الحكيم» لتوفيق الحكيم، دار مصر للطباعة، ص35، بتصرف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425" b="1">
                <a:solidFill>
                  <a:srgbClr val="FFFFFF"/>
                </a:solidFill>
                <a:latin typeface="Cairo"/>
                <a:cs typeface="Cairo"/>
              </a:rPr>
              <a:t>لغة النص: المفردات — ص89-90</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مفردات المشهد من هوامش الكتاب</a:t>
            </a:r>
          </a:p>
        </p:txBody>
      </p:sp>
      <p:sp>
        <p:nvSpPr>
          <p:cNvPr id="6" name="Rounded Rectangle 5"/>
          <p:cNvSpPr/>
          <p:nvPr/>
        </p:nvSpPr>
        <p:spPr>
          <a:xfrm>
            <a:off x="857250" y="11620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مَليًّا:</a:t>
            </a:r>
            <a:r>
              <a:rPr sz="1875" b="0">
                <a:solidFill>
                  <a:srgbClr val="333333"/>
                </a:solidFill>
                <a:latin typeface="Cairo"/>
                <a:cs typeface="Cairo"/>
              </a:rPr>
              <a:t> مدة طويلة  —  </a:t>
            </a:r>
            <a:r>
              <a:rPr sz="1875" b="1">
                <a:solidFill>
                  <a:srgbClr val="333333"/>
                </a:solidFill>
                <a:latin typeface="Cairo"/>
                <a:cs typeface="Cairo"/>
              </a:rPr>
              <a:t>نُذْعِنُ:</a:t>
            </a:r>
            <a:r>
              <a:rPr sz="1875" b="0">
                <a:solidFill>
                  <a:srgbClr val="333333"/>
                </a:solidFill>
                <a:latin typeface="Cairo"/>
                <a:cs typeface="Cairo"/>
              </a:rPr>
              <a:t> نخضع، ننقاد، نذل</a:t>
            </a:r>
          </a:p>
        </p:txBody>
      </p:sp>
      <p:sp>
        <p:nvSpPr>
          <p:cNvPr id="8" name="Rounded Rectangle 7"/>
          <p:cNvSpPr/>
          <p:nvPr/>
        </p:nvSpPr>
        <p:spPr>
          <a:xfrm>
            <a:off x="857250" y="20955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1526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الشَّأْو:</a:t>
            </a:r>
            <a:r>
              <a:rPr sz="1875" b="0">
                <a:solidFill>
                  <a:srgbClr val="333333"/>
                </a:solidFill>
                <a:latin typeface="Cairo"/>
                <a:cs typeface="Cairo"/>
              </a:rPr>
              <a:t> الشأن  —  </a:t>
            </a:r>
            <a:r>
              <a:rPr sz="1875" b="1">
                <a:solidFill>
                  <a:srgbClr val="333333"/>
                </a:solidFill>
                <a:latin typeface="Cairo"/>
                <a:cs typeface="Cairo"/>
              </a:rPr>
              <a:t>وبال:</a:t>
            </a:r>
            <a:r>
              <a:rPr sz="1875" b="0">
                <a:solidFill>
                  <a:srgbClr val="333333"/>
                </a:solidFill>
                <a:latin typeface="Cairo"/>
                <a:cs typeface="Cairo"/>
              </a:rPr>
              <a:t> فساد</a:t>
            </a:r>
          </a:p>
        </p:txBody>
      </p:sp>
      <p:sp>
        <p:nvSpPr>
          <p:cNvPr id="10" name="Rounded Rectangle 9"/>
          <p:cNvSpPr/>
          <p:nvPr/>
        </p:nvSpPr>
        <p:spPr>
          <a:xfrm>
            <a:off x="857250" y="30289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0861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جَثَمَ:</a:t>
            </a:r>
            <a:r>
              <a:rPr sz="1875" b="0">
                <a:solidFill>
                  <a:srgbClr val="333333"/>
                </a:solidFill>
                <a:latin typeface="Cairo"/>
                <a:cs typeface="Cairo"/>
              </a:rPr>
              <a:t> لزم مكانه فلم يبرح، أو لصق بالأرض</a:t>
            </a:r>
          </a:p>
        </p:txBody>
      </p:sp>
      <p:sp>
        <p:nvSpPr>
          <p:cNvPr id="12" name="Rounded Rectangle 11"/>
          <p:cNvSpPr/>
          <p:nvPr/>
        </p:nvSpPr>
        <p:spPr>
          <a:xfrm>
            <a:off x="857250" y="39624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4019550"/>
            <a:ext cx="6953250" cy="704850"/>
          </a:xfrm>
          <a:prstGeom prst="rect">
            <a:avLst/>
          </a:prstGeom>
          <a:noFill/>
        </p:spPr>
        <p:txBody>
          <a:bodyPr wrap="square" lIns="0" rIns="0" tIns="0" bIns="0" anchor="ctr">
            <a:spAutoFit/>
          </a:bodyPr>
          <a:lstStyle/>
          <a:p>
            <a:pPr algn="r" rtl="1">
              <a:lnSpc>
                <a:spcPct val="135000"/>
              </a:lnSpc>
            </a:pPr>
            <a:r>
              <a:rPr sz="1675" b="1">
                <a:solidFill>
                  <a:srgbClr val="333333"/>
                </a:solidFill>
                <a:latin typeface="Cairo"/>
                <a:cs typeface="Cairo"/>
              </a:rPr>
              <a:t>الجُمُّيز:</a:t>
            </a:r>
            <a:r>
              <a:rPr sz="1675" b="0">
                <a:solidFill>
                  <a:srgbClr val="333333"/>
                </a:solidFill>
                <a:latin typeface="Cairo"/>
                <a:cs typeface="Cairo"/>
              </a:rPr>
              <a:t> ثمار تشبه التين  —  </a:t>
            </a:r>
            <a:r>
              <a:rPr sz="1675" b="1">
                <a:solidFill>
                  <a:srgbClr val="333333"/>
                </a:solidFill>
                <a:latin typeface="Cairo"/>
                <a:cs typeface="Cairo"/>
              </a:rPr>
              <a:t>مَذْوَد:</a:t>
            </a:r>
            <a:r>
              <a:rPr sz="1675" b="0">
                <a:solidFill>
                  <a:srgbClr val="333333"/>
                </a:solidFill>
                <a:latin typeface="Cairo"/>
                <a:cs typeface="Cairo"/>
              </a:rPr>
              <a:t> مَذْوَد الدواب: المكان الذي يوضع فيه علف الدواب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575" b="1">
                <a:solidFill>
                  <a:srgbClr val="FFFFFF"/>
                </a:solidFill>
                <a:latin typeface="Cairo"/>
                <a:cs typeface="Cairo"/>
              </a:rPr>
              <a:t>القراءة الاستكشافية — ص91</a:t>
            </a:r>
          </a:p>
        </p:txBody>
      </p:sp>
      <p:pic>
        <p:nvPicPr>
          <p:cNvPr id="5" name="Picture 4" descr="istk.png"/>
          <p:cNvPicPr>
            <a:picLocks noChangeAspect="1"/>
          </p:cNvPicPr>
          <p:nvPr/>
        </p:nvPicPr>
        <p:blipFill>
          <a:blip r:embed="rId4"/>
          <a:stretch>
            <a:fillRect/>
          </a:stretch>
        </p:blipFill>
        <p:spPr>
          <a:xfrm>
            <a:off x="476250" y="742950"/>
            <a:ext cx="8191500" cy="2457450"/>
          </a:xfrm>
          <a:prstGeom prst="rect">
            <a:avLst/>
          </a:prstGeom>
        </p:spPr>
      </p:pic>
      <p:sp>
        <p:nvSpPr>
          <p:cNvPr id="6" name="TextBox 5"/>
          <p:cNvSpPr txBox="1"/>
          <p:nvPr/>
        </p:nvSpPr>
        <p:spPr>
          <a:xfrm>
            <a:off x="590550" y="3371850"/>
            <a:ext cx="7962900" cy="295275"/>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1- دلالة العنوان:</a:t>
            </a:r>
            <a:r>
              <a:rPr sz="1218" b="0">
                <a:solidFill>
                  <a:srgbClr val="335693"/>
                </a:solidFill>
                <a:latin typeface="Cairo"/>
                <a:cs typeface="Cairo"/>
              </a:rPr>
              <a:t> «بلقيس» بطلةُ المشهد ملكةُ سبأ، و«مشهد مسرحي» يحدّد جنسَ النص (نص مسرحي حواري)</a:t>
            </a:r>
          </a:p>
        </p:txBody>
      </p:sp>
      <p:sp>
        <p:nvSpPr>
          <p:cNvPr id="7" name="TextBox 6"/>
          <p:cNvSpPr txBox="1"/>
          <p:nvPr/>
        </p:nvSpPr>
        <p:spPr>
          <a:xfrm>
            <a:off x="590550" y="3743325"/>
            <a:ext cx="7962900" cy="295275"/>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2- سيرة الكاتب:</a:t>
            </a:r>
            <a:r>
              <a:rPr sz="1218" b="0">
                <a:solidFill>
                  <a:srgbClr val="335693"/>
                </a:solidFill>
                <a:latin typeface="Cairo"/>
                <a:cs typeface="Cairo"/>
              </a:rPr>
              <a:t> توفيق الحكيم (1898-1987م) أديب وكاتب مسرحي مصري، رائدُ المسرح الذهني</a:t>
            </a:r>
          </a:p>
        </p:txBody>
      </p:sp>
      <p:sp>
        <p:nvSpPr>
          <p:cNvPr id="8" name="TextBox 7"/>
          <p:cNvSpPr txBox="1"/>
          <p:nvPr/>
        </p:nvSpPr>
        <p:spPr>
          <a:xfrm>
            <a:off x="590550" y="4114800"/>
            <a:ext cx="7962900" cy="295275"/>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3- نوع النص:</a:t>
            </a:r>
            <a:r>
              <a:rPr sz="1218" b="0">
                <a:solidFill>
                  <a:srgbClr val="335693"/>
                </a:solidFill>
                <a:latin typeface="Cairo"/>
                <a:cs typeface="Cairo"/>
              </a:rPr>
              <a:t> نص مسرحي — مشهد من مسرحية «سليمان الحكيم» — نثر فني حواري</a:t>
            </a:r>
          </a:p>
        </p:txBody>
      </p:sp>
      <p:sp>
        <p:nvSpPr>
          <p:cNvPr id="9" name="TextBox 8"/>
          <p:cNvSpPr txBox="1"/>
          <p:nvPr/>
        </p:nvSpPr>
        <p:spPr>
          <a:xfrm>
            <a:off x="590550" y="4486275"/>
            <a:ext cx="7962900" cy="295275"/>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4- الشخصيات:</a:t>
            </a:r>
            <a:r>
              <a:rPr sz="1218" b="0">
                <a:solidFill>
                  <a:srgbClr val="335693"/>
                </a:solidFill>
                <a:latin typeface="Cairo"/>
                <a:cs typeface="Cairo"/>
              </a:rPr>
              <a:t> بلقيس، الوزير الأول، رئيس الجيش، الرسل، أحد الأتباع، والملك سليمان (مذكور غائب)</a:t>
            </a:r>
          </a:p>
        </p:txBody>
      </p:sp>
      <p:sp>
        <p:nvSpPr>
          <p:cNvPr id="10" name="TextBox 9"/>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غلق الهدف</a:t>
            </a:r>
          </a:p>
        </p:txBody>
      </p:sp>
      <p:sp>
        <p:nvSpPr>
          <p:cNvPr id="5" name="Rounded Rectangle 4"/>
          <p:cNvSpPr/>
          <p:nvPr/>
        </p:nvSpPr>
        <p:spPr>
          <a:xfrm>
            <a:off x="857250" y="666750"/>
            <a:ext cx="7429500" cy="8382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375" y="723900"/>
            <a:ext cx="6953250" cy="723900"/>
          </a:xfrm>
          <a:prstGeom prst="rect">
            <a:avLst/>
          </a:prstGeom>
          <a:noFill/>
        </p:spPr>
        <p:txBody>
          <a:bodyPr wrap="square" lIns="0" rIns="0" tIns="0" bIns="0" anchor="ctr">
            <a:spAutoFit/>
          </a:bodyPr>
          <a:lstStyle/>
          <a:p>
            <a:pPr algn="r" rtl="1">
              <a:lnSpc>
                <a:spcPct val="135000"/>
              </a:lnSpc>
            </a:pPr>
            <a:r>
              <a:rPr sz="1775" b="1">
                <a:solidFill>
                  <a:srgbClr val="333333"/>
                </a:solidFill>
                <a:latin typeface="Cairo"/>
                <a:cs typeface="Cairo"/>
              </a:rPr>
              <a:t>الهدف:</a:t>
            </a:r>
            <a:r>
              <a:rPr sz="1775" b="0">
                <a:solidFill>
                  <a:srgbClr val="333333"/>
                </a:solidFill>
                <a:latin typeface="Cairo"/>
                <a:cs typeface="Cairo"/>
              </a:rPr>
              <a:t> أن يقرأ المشهد قراءة جهرية ممثلًا الأدوار ويجيب عن أسئلة الاستكشاف</a:t>
            </a:r>
          </a:p>
        </p:txBody>
      </p:sp>
      <p:sp>
        <p:nvSpPr>
          <p:cNvPr id="7" name="Rounded Rectangle 6"/>
          <p:cNvSpPr/>
          <p:nvPr/>
        </p:nvSpPr>
        <p:spPr>
          <a:xfrm>
            <a:off x="857250" y="1676400"/>
            <a:ext cx="7429500" cy="2552700"/>
          </a:xfrm>
          <a:prstGeom prst="roundRect">
            <a:avLst>
              <a:gd name="adj" fmla="val 10000"/>
            </a:avLst>
          </a:prstGeom>
          <a:solidFill>
            <a:srgbClr val="FFF7E8"/>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5375" y="1790700"/>
            <a:ext cx="6953250" cy="2324100"/>
          </a:xfrm>
          <a:prstGeom prst="rect">
            <a:avLst/>
          </a:prstGeom>
          <a:noFill/>
        </p:spPr>
        <p:txBody>
          <a:bodyPr wrap="square" lIns="0" rIns="0" tIns="0" bIns="0" anchor="t">
            <a:spAutoFit/>
          </a:bodyPr>
          <a:lstStyle/>
          <a:p>
            <a:pPr algn="r" rtl="1">
              <a:lnSpc>
                <a:spcPct val="145000"/>
              </a:lnSpc>
            </a:pPr>
            <a:r>
              <a:rPr sz="1818" b="1">
                <a:solidFill>
                  <a:srgbClr val="333333"/>
                </a:solidFill>
                <a:latin typeface="Cairo"/>
                <a:cs typeface="Cairo"/>
              </a:rPr>
              <a:t>تحقّق من تحقّق الهدف:</a:t>
            </a:r>
          </a:p>
          <a:p>
            <a:pPr algn="r" rtl="1">
              <a:lnSpc>
                <a:spcPct val="145000"/>
              </a:lnSpc>
            </a:pPr>
            <a:r>
              <a:rPr sz="1818" b="1">
                <a:solidFill>
                  <a:srgbClr val="333333"/>
                </a:solidFill>
                <a:latin typeface="Cairo"/>
                <a:cs typeface="Cairo"/>
              </a:rPr>
              <a:t>تتقمّص كل مجموعة أدوارَ المشهد (بلقيس — الوزير الأول — رئيس الجيش — الرسول)، وتؤدي حوارًا قصيرًا منه أمام زملائها بتعبير مناسب</a:t>
            </a:r>
          </a:p>
          <a:p>
            <a:pPr algn="r" rtl="1">
              <a:lnSpc>
                <a:spcPct val="145000"/>
              </a:lnSpc>
            </a:pPr>
            <a:r>
              <a:rPr sz="1818" b="1">
                <a:solidFill>
                  <a:srgbClr val="C00000"/>
                </a:solidFill>
                <a:latin typeface="Cairo"/>
                <a:cs typeface="Cairo"/>
              </a:rPr>
              <a:t>الواجب المنزلي:</a:t>
            </a:r>
            <a:r>
              <a:rPr sz="1818" b="0">
                <a:solidFill>
                  <a:srgbClr val="C00000"/>
                </a:solidFill>
                <a:latin typeface="Cairo"/>
                <a:cs typeface="Cairo"/>
              </a:rPr>
              <a:t> اقرأ المشهد قراءة صامتة مستعينًا بالهوامش، ولخّص موقف كل شخصية من الحرب في سطر واحد</a:t>
            </a:r>
          </a:p>
        </p:txBody>
      </p:sp>
      <p:sp>
        <p:nvSpPr>
          <p:cNvPr id="9" name="TextBox 8"/>
          <p:cNvSpPr txBox="1"/>
          <p:nvPr/>
        </p:nvSpPr>
        <p:spPr>
          <a:xfrm>
            <a:off x="571500" y="4362450"/>
            <a:ext cx="8001000" cy="342900"/>
          </a:xfrm>
          <a:prstGeom prst="rect">
            <a:avLst/>
          </a:prstGeom>
          <a:noFill/>
        </p:spPr>
        <p:txBody>
          <a:bodyPr wrap="square" lIns="0" rIns="0" tIns="0" bIns="0" anchor="ctr">
            <a:spAutoFit/>
          </a:bodyPr>
          <a:lstStyle/>
          <a:p>
            <a:pPr algn="ctr" rtl="1">
              <a:lnSpc>
                <a:spcPct val="135000"/>
              </a:lnSpc>
            </a:pPr>
            <a:r>
              <a:rPr sz="1437" b="1">
                <a:solidFill>
                  <a:srgbClr val="C00000"/>
                </a:solidFill>
                <a:latin typeface="Cairo"/>
                <a:cs typeface="Cairo"/>
              </a:rPr>
              <a:t>ينفّذ الطلاب النشاط فرديًّا أو ثنائيًّا، ثم يُناقش جماعيًّا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30000"/>
              </a:lnSpc>
            </a:pPr>
            <a:r>
              <a:rPr sz="1425" b="1">
                <a:solidFill>
                  <a:srgbClr val="FFFFFF"/>
                </a:solidFill>
                <a:latin typeface="Cairo"/>
                <a:cs typeface="Cairo"/>
              </a:rPr>
              <a:t>الختام: لعبة الدرس على منصة كنوز</a:t>
            </a:r>
          </a:p>
        </p:txBody>
      </p:sp>
      <p:sp>
        <p:nvSpPr>
          <p:cNvPr id="5" name="TextBox 4"/>
          <p:cNvSpPr txBox="1"/>
          <p:nvPr/>
        </p:nvSpPr>
        <p:spPr>
          <a:xfrm>
            <a:off x="571500" y="666750"/>
            <a:ext cx="8001000" cy="476250"/>
          </a:xfrm>
          <a:prstGeom prst="rect">
            <a:avLst/>
          </a:prstGeom>
          <a:noFill/>
        </p:spPr>
        <p:txBody>
          <a:bodyPr wrap="none" lIns="0" rIns="0" tIns="0" bIns="0" anchor="ctr">
            <a:spAutoFit/>
          </a:bodyPr>
          <a:lstStyle/>
          <a:p>
            <a:pPr algn="ctr" rtl="1">
              <a:lnSpc>
                <a:spcPct val="120000"/>
              </a:lnSpc>
            </a:pPr>
            <a:r>
              <a:rPr sz="2812" b="1">
                <a:solidFill>
                  <a:srgbClr val="335693"/>
                </a:solidFill>
                <a:latin typeface="Cairo"/>
                <a:cs typeface="Cairo"/>
              </a:rPr>
              <a:t>🎮 العب لعبة هذا الدرس الآن</a:t>
            </a:r>
          </a:p>
        </p:txBody>
      </p:sp>
      <p:sp>
        <p:nvSpPr>
          <p:cNvPr id="6" name="TextBox 5"/>
          <p:cNvSpPr txBox="1"/>
          <p:nvPr/>
        </p:nvSpPr>
        <p:spPr>
          <a:xfrm>
            <a:off x="571500" y="1181100"/>
            <a:ext cx="8001000" cy="323850"/>
          </a:xfrm>
          <a:prstGeom prst="rect">
            <a:avLst/>
          </a:prstGeom>
          <a:noFill/>
        </p:spPr>
        <p:txBody>
          <a:bodyPr wrap="none" lIns="0" rIns="0" tIns="0" bIns="0" anchor="ctr">
            <a:spAutoFit/>
          </a:bodyPr>
          <a:lstStyle/>
          <a:p>
            <a:pPr algn="ctr" rtl="1">
              <a:lnSpc>
                <a:spcPct val="120000"/>
              </a:lnSpc>
            </a:pPr>
            <a:r>
              <a:rPr sz="1687" b="0">
                <a:solidFill>
                  <a:srgbClr val="333333"/>
                </a:solidFill>
                <a:latin typeface="Cairo"/>
                <a:cs typeface="Cairo"/>
              </a:rPr>
              <a:t>امسح الرابط أو افتحه من منصة الصف — أسئلة خُصّت لهذا الدرس</a:t>
            </a:r>
          </a:p>
        </p:txBody>
      </p:sp>
      <p:sp>
        <p:nvSpPr>
          <p:cNvPr id="7" name="Rounded Rectangle 6"/>
          <p:cNvSpPr/>
          <p:nvPr/>
        </p:nvSpPr>
        <p:spPr>
          <a:xfrm>
            <a:off x="1428750" y="1666875"/>
            <a:ext cx="6286500" cy="74295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9250" y="1790700"/>
            <a:ext cx="5905500" cy="514350"/>
          </a:xfrm>
          <a:prstGeom prst="rect">
            <a:avLst/>
          </a:prstGeom>
          <a:noFill/>
        </p:spPr>
        <p:txBody>
          <a:bodyPr wrap="none" lIns="0" rIns="0" tIns="0" bIns="0" anchor="ctr">
            <a:spAutoFit/>
          </a:bodyPr>
          <a:lstStyle/>
          <a:p>
            <a:pPr algn="ctr" rtl="1"/>
            <a:r>
              <a:rPr sz="2200" b="1" u="sng">
                <a:solidFill>
                  <a:srgbClr val="C00000"/>
                </a:solidFill>
                <a:latin typeface="Cairo"/>
                <a:hlinkClick r:id="rId4"/>
              </a:rPr>
              <a:t>https://uw3vlhc2of5wm.kimi.pro/banks/g12-balqis-1</a:t>
            </a:r>
          </a:p>
        </p:txBody>
      </p:sp>
      <p:sp>
        <p:nvSpPr>
          <p:cNvPr id="9" name="TextBox 8"/>
          <p:cNvSpPr txBox="1"/>
          <p:nvPr/>
        </p:nvSpPr>
        <p:spPr>
          <a:xfrm>
            <a:off x="1428750" y="2457450"/>
            <a:ext cx="6286500" cy="247650"/>
          </a:xfrm>
          <a:prstGeom prst="rect">
            <a:avLst/>
          </a:prstGeom>
          <a:noFill/>
        </p:spPr>
        <p:txBody>
          <a:bodyPr wrap="none" lIns="0" rIns="0" tIns="0" bIns="0" anchor="ctr">
            <a:spAutoFit/>
          </a:bodyPr>
          <a:lstStyle/>
          <a:p>
            <a:pPr algn="ctr" rtl="1">
              <a:lnSpc>
                <a:spcPct val="110000"/>
              </a:lnSpc>
            </a:pPr>
            <a:r>
              <a:rPr sz="1406" b="0">
                <a:solidFill>
                  <a:srgbClr val="333333"/>
                </a:solidFill>
                <a:latin typeface="Cairo"/>
                <a:cs typeface="Cairo"/>
              </a:rPr>
              <a:t>انسخ الرابط في متصفح جهازك اللوحي مباشرة</a:t>
            </a:r>
          </a:p>
        </p:txBody>
      </p:sp>
      <p:sp>
        <p:nvSpPr>
          <p:cNvPr id="10" name="Rounded Rectangle 9"/>
          <p:cNvSpPr/>
          <p:nvPr/>
        </p:nvSpPr>
        <p:spPr>
          <a:xfrm>
            <a:off x="1428750" y="2857500"/>
            <a:ext cx="6286500" cy="102870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9250" y="2971800"/>
            <a:ext cx="5905500" cy="304800"/>
          </a:xfrm>
          <a:prstGeom prst="rect">
            <a:avLst/>
          </a:prstGeom>
          <a:noFill/>
        </p:spPr>
        <p:txBody>
          <a:bodyPr wrap="none" lIns="0" rIns="0" tIns="0" bIns="0" anchor="ctr">
            <a:spAutoFit/>
          </a:bodyPr>
          <a:lstStyle/>
          <a:p>
            <a:pPr algn="ctr" rtl="1">
              <a:lnSpc>
                <a:spcPct val="120000"/>
              </a:lnSpc>
            </a:pPr>
            <a:r>
              <a:rPr sz="1875" b="1">
                <a:solidFill>
                  <a:srgbClr val="335693"/>
                </a:solidFill>
                <a:latin typeface="Cairo"/>
                <a:cs typeface="Cairo"/>
              </a:rPr>
              <a:t>🎓 للمراجعة في المنزل: تدرّب فرديًا</a:t>
            </a:r>
          </a:p>
        </p:txBody>
      </p:sp>
      <p:sp>
        <p:nvSpPr>
          <p:cNvPr id="12" name="TextBox 11"/>
          <p:cNvSpPr txBox="1"/>
          <p:nvPr/>
        </p:nvSpPr>
        <p:spPr>
          <a:xfrm>
            <a:off x="1619250" y="3314700"/>
            <a:ext cx="5905500" cy="495300"/>
          </a:xfrm>
          <a:prstGeom prst="rect">
            <a:avLst/>
          </a:prstGeom>
          <a:noFill/>
        </p:spPr>
        <p:txBody>
          <a:bodyPr wrap="square" lIns="0" rIns="0" tIns="0" bIns="0" anchor="ctr">
            <a:spAutoFit/>
          </a:bodyPr>
          <a:lstStyle/>
          <a:p>
            <a:pPr algn="ctr" rtl="1">
              <a:lnSpc>
                <a:spcPct val="130000"/>
              </a:lnSpc>
            </a:pPr>
            <a:r>
              <a:rPr sz="1243" b="0">
                <a:solidFill>
                  <a:srgbClr val="333333"/>
                </a:solidFill>
                <a:latin typeface="Cairo"/>
                <a:cs typeface="Cairo"/>
              </a:rPr>
              <a:t>من صفحة اللعبة اضغط «تدرّب فرديًا» — العب وحدك بلا معلم، وتعرّف مستواك بعد كل تدريب</a:t>
            </a:r>
          </a:p>
        </p:txBody>
      </p:sp>
      <p:sp>
        <p:nvSpPr>
          <p:cNvPr id="13" name="TextBox 12"/>
          <p:cNvSpPr txBox="1"/>
          <p:nvPr/>
        </p:nvSpPr>
        <p:spPr>
          <a:xfrm>
            <a:off x="1143000" y="4048125"/>
            <a:ext cx="6858000" cy="381000"/>
          </a:xfrm>
          <a:prstGeom prst="rect">
            <a:avLst/>
          </a:prstGeom>
          <a:noFill/>
        </p:spPr>
        <p:txBody>
          <a:bodyPr wrap="none" lIns="0" rIns="0" tIns="0" bIns="0" anchor="ctr">
            <a:spAutoFit/>
          </a:bodyPr>
          <a:lstStyle/>
          <a:p>
            <a:pPr algn="ctr" rtl="1">
              <a:lnSpc>
                <a:spcPct val="120000"/>
              </a:lnSpc>
            </a:pPr>
            <a:r>
              <a:rPr sz="1781" b="1">
                <a:solidFill>
                  <a:srgbClr val="C00000"/>
                </a:solidFill>
                <a:latin typeface="Cairo"/>
                <a:cs typeface="Cairo"/>
              </a:rPr>
              <a:t>🏆 أنهِ اللعبة وستعرف المستوى الذي وصلت إليه في هذا الدرس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