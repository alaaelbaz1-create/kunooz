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balqis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12" b="1">
                <a:solidFill>
                  <a:srgbClr val="335693"/>
                </a:solidFill>
                <a:latin typeface="Cairo"/>
                <a:cs typeface="Cairo"/>
              </a:rPr>
              <a:t>Lesson: Reading: Bilqis - Drama Scene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بلقيس (مشهد مسرحي)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لتوفيق الحكيم — الوحدة الثانية — النص الثاني — الحصة الثانية — ص 91-92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الاستيعاب ولغة النص والفهم والتحليل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بنهاية هذه الحصة سأكون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يجيبَ عن أسئلة الاستيعاب إجابة مستندة إلى نص المشهد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يستنتجَ معاني الكلمات من سياقها، ويحدّدَ المفرد والمضاد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يفرّقَ بين (أصغى) و(أصغي) ويوظّفهما توظيفًا صحيحًا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يحلّلَ مواقف الشخصيات ومهارات الحاكم في إدارة الأزمة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نوع نص «بلقيس»؟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شخصيتين من شخصيات المشهد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بم انتهى المشهد في الحصة الماضية؟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ثانيًا — ص91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اقرأ المشهد المسرحي قراءة جهرية معبّرة عن المعنى، ممثّلة للشخصيات والحوار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نوزّع الأدوار من جديد: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بلقيس — الوزير الأول — رئيس الجيش — الرسول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تذكّر قواعد القراءة المسرحية: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نبرة صوت تناسب الشخصية (حكمة بلقيس — حسم رئيس الجيش — رويّة الوزير)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انتبه: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قراءة القصيحات (الإرشادات بين القوسين) لا تُقرأ بصوت مرتفع — تُمثَّل حركةً وموقفًا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القراءة الاستيعابية (1-2) — ص91</a:t>
            </a:r>
          </a:p>
        </p:txBody>
      </p:sp>
      <p:pic>
        <p:nvPicPr>
          <p:cNvPr id="5" name="Picture 4" descr="is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40365"/>
            <a:ext cx="8191500" cy="1005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981200"/>
            <a:ext cx="81153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68" b="1">
                <a:solidFill>
                  <a:srgbClr val="335693"/>
                </a:solidFill>
                <a:latin typeface="Cairo"/>
                <a:cs typeface="Cairo"/>
              </a:rPr>
              <a:t>1-</a:t>
            </a:r>
            <a:r>
              <a:rPr sz="868" b="0">
                <a:solidFill>
                  <a:srgbClr val="335693"/>
                </a:solidFill>
                <a:latin typeface="Cairo"/>
                <a:cs typeface="Cairo"/>
              </a:rPr>
              <a:t> اجتمعت بهم </a:t>
            </a:r>
            <a:r>
              <a:rPr sz="868" b="1">
                <a:solidFill>
                  <a:srgbClr val="335693"/>
                </a:solidFill>
                <a:latin typeface="Cairo"/>
                <a:cs typeface="Cairo"/>
              </a:rPr>
              <a:t>للتشاور واتخاذ القرار</a:t>
            </a:r>
            <a:r>
              <a:rPr sz="868" b="0">
                <a:solidFill>
                  <a:srgbClr val="335693"/>
                </a:solidFill>
                <a:latin typeface="Cairo"/>
                <a:cs typeface="Cairo"/>
              </a:rPr>
              <a:t> في أمر كتاب «سليمان» الذي ألقاه الهدهد: «لقد أفسحت لكم في الوقت لتفكروا مليًّا... وآن الأوان فيما أرى أن تقطعوا برأي» — الحرب أم السلام؟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457450"/>
            <a:ext cx="81153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8" b="1">
                <a:solidFill>
                  <a:srgbClr val="335693"/>
                </a:solidFill>
                <a:latin typeface="Cairo"/>
                <a:cs typeface="Cairo"/>
              </a:rPr>
              <a:t>2-</a:t>
            </a:r>
            <a:r>
              <a:rPr sz="1118" b="0">
                <a:solidFill>
                  <a:srgbClr val="335693"/>
                </a:solidFill>
                <a:latin typeface="Cairo"/>
                <a:cs typeface="Cairo"/>
              </a:rPr>
              <a:t> </a:t>
            </a:r>
            <a:r>
              <a:rPr sz="1118" b="1">
                <a:solidFill>
                  <a:srgbClr val="335693"/>
                </a:solidFill>
                <a:latin typeface="Cairo"/>
                <a:cs typeface="Cairo"/>
              </a:rPr>
              <a:t>رجال الجيش (رئيس الجيش):</a:t>
            </a:r>
            <a:r>
              <a:rPr sz="1118" b="0">
                <a:solidFill>
                  <a:srgbClr val="335693"/>
                </a:solidFill>
                <a:latin typeface="Cairo"/>
                <a:cs typeface="Cairo"/>
              </a:rPr>
              <a:t> الحرب — «نحن أولو بأس شديد، ولنا جيش قوي؛ فلماذا نُذعن لسليمان؟» / </a:t>
            </a:r>
            <a:r>
              <a:rPr sz="1118" b="1">
                <a:solidFill>
                  <a:srgbClr val="335693"/>
                </a:solidFill>
                <a:latin typeface="Cairo"/>
                <a:cs typeface="Cairo"/>
              </a:rPr>
              <a:t>رجال السياسة (الوزير الأول):</a:t>
            </a:r>
            <a:r>
              <a:rPr sz="1118" b="0">
                <a:solidFill>
                  <a:srgbClr val="335693"/>
                </a:solidFill>
                <a:latin typeface="Cairo"/>
                <a:cs typeface="Cairo"/>
              </a:rPr>
              <a:t> الرأي موكول إلى الملكة يثقون بحكمتها، مع الميل إلى السلام وتغليب صوت العقل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القراءة الاستيعابية (3-4) — ص91</a:t>
            </a:r>
          </a:p>
        </p:txBody>
      </p:sp>
      <p:pic>
        <p:nvPicPr>
          <p:cNvPr id="5" name="Picture 4" descr="is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80184"/>
            <a:ext cx="8191500" cy="744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619250"/>
            <a:ext cx="81153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68" b="1">
                <a:solidFill>
                  <a:srgbClr val="335693"/>
                </a:solidFill>
                <a:latin typeface="Cairo"/>
                <a:cs typeface="Cairo"/>
              </a:rPr>
              <a:t>3-</a:t>
            </a:r>
            <a:r>
              <a:rPr sz="1068" b="0">
                <a:solidFill>
                  <a:srgbClr val="335693"/>
                </a:solidFill>
                <a:latin typeface="Cairo"/>
                <a:cs typeface="Cairo"/>
              </a:rPr>
              <a:t> لم يقبل سليمان الهدايا وردّها: «لا حاجة بي إلى هديتكم ولا وقع لها عندي... ولنأتينكم بجيش جرّار إذا لم تأتِ هذه الملكة إليّ وتعرض أمرها عليّ» — </a:t>
            </a:r>
            <a:r>
              <a:rPr sz="1068" b="1">
                <a:solidFill>
                  <a:srgbClr val="335693"/>
                </a:solidFill>
                <a:latin typeface="Cairo"/>
                <a:cs typeface="Cairo"/>
              </a:rPr>
              <a:t>فسّره رئيس الجيش:</a:t>
            </a:r>
            <a:r>
              <a:rPr sz="1068" b="0">
                <a:solidFill>
                  <a:srgbClr val="335693"/>
                </a:solidFill>
                <a:latin typeface="Cairo"/>
                <a:cs typeface="Cairo"/>
              </a:rPr>
              <a:t> ملك قويّ يستضعف بلادًا طمعًا فيها / </a:t>
            </a:r>
            <a:r>
              <a:rPr sz="1068" b="1">
                <a:solidFill>
                  <a:srgbClr val="335693"/>
                </a:solidFill>
                <a:latin typeface="Cairo"/>
                <a:cs typeface="Cairo"/>
              </a:rPr>
              <a:t>وبلقيس:</a:t>
            </a:r>
            <a:r>
              <a:rPr sz="1068" b="0">
                <a:solidFill>
                  <a:srgbClr val="335693"/>
                </a:solidFill>
                <a:latin typeface="Cairo"/>
                <a:cs typeface="Cairo"/>
              </a:rPr>
              <a:t> لعله ملك غنيّ يستضيف ملكة طمعًا في صداقتها / </a:t>
            </a:r>
            <a:r>
              <a:rPr sz="1068" b="1">
                <a:solidFill>
                  <a:srgbClr val="335693"/>
                </a:solidFill>
                <a:latin typeface="Cairo"/>
                <a:cs typeface="Cairo"/>
              </a:rPr>
              <a:t>والوزير الأول:</a:t>
            </a:r>
            <a:r>
              <a:rPr sz="1068" b="0">
                <a:solidFill>
                  <a:srgbClr val="335693"/>
                </a:solidFill>
                <a:latin typeface="Cairo"/>
                <a:cs typeface="Cairo"/>
              </a:rPr>
              <a:t> «ما السياسة إلا هذه: براعة تفسير المقاصد، وفهم المرامي تبعًا لمقتضى الحال»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438400"/>
            <a:ext cx="81153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68" b="1">
                <a:solidFill>
                  <a:srgbClr val="335693"/>
                </a:solidFill>
                <a:latin typeface="Cairo"/>
                <a:cs typeface="Cairo"/>
              </a:rPr>
              <a:t>4-</a:t>
            </a:r>
            <a:r>
              <a:rPr sz="968" b="0">
                <a:solidFill>
                  <a:srgbClr val="335693"/>
                </a:solidFill>
                <a:latin typeface="Cairo"/>
                <a:cs typeface="Cairo"/>
              </a:rPr>
              <a:t> استقرّ رأيها على </a:t>
            </a:r>
            <a:r>
              <a:rPr sz="968" b="1">
                <a:solidFill>
                  <a:srgbClr val="335693"/>
                </a:solidFill>
                <a:latin typeface="Cairo"/>
                <a:cs typeface="Cairo"/>
              </a:rPr>
              <a:t>السلام وقبول دعوته:</a:t>
            </a:r>
            <a:r>
              <a:rPr sz="968" b="0">
                <a:solidFill>
                  <a:srgbClr val="335693"/>
                </a:solidFill>
                <a:latin typeface="Cairo"/>
                <a:cs typeface="Cairo"/>
              </a:rPr>
              <a:t> «ما من بأس مطلقًا في أن نلبّي دعوته الكريمة وأن أقبل زيارته شاكرة؛ فلا شيء أحبّ إليّ من رؤية مملكة سليمان العظيم»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لغة النص (1) — ص91: اختر الإجابة الصحيحة</a:t>
            </a:r>
          </a:p>
        </p:txBody>
      </p:sp>
      <p:pic>
        <p:nvPicPr>
          <p:cNvPr id="5" name="Picture 4" descr="lu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97923"/>
            <a:ext cx="8191500" cy="26808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33925" y="2143125"/>
            <a:ext cx="285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1">
                <a:solidFill>
                  <a:srgbClr val="C00000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3362325"/>
            <a:ext cx="285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6" b="1">
                <a:solidFill>
                  <a:srgbClr val="C00000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لغة النص (2) — ص91: معنى (عرض) حسب سياقها</a:t>
            </a:r>
          </a:p>
        </p:txBody>
      </p:sp>
      <p:pic>
        <p:nvPicPr>
          <p:cNvPr id="5" name="Picture 4" descr="lu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17839"/>
            <a:ext cx="8191500" cy="19361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171575"/>
            <a:ext cx="282892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متاعُها وزينتُها العاجلةُ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609725"/>
            <a:ext cx="14097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335693"/>
                </a:solidFill>
                <a:latin typeface="Cairo"/>
                <a:cs typeface="Cairo"/>
              </a:rPr>
              <a:t>تُظهِرُه وتُطلِعُني عليه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000250"/>
            <a:ext cx="55816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قدّمَه إليه وبيّنَه له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371725"/>
            <a:ext cx="46863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أظهرَهم لها وأبرزَهم للحساب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لغة النص (3) — ص92: استنتج المعاني من سياقها</a:t>
            </a:r>
          </a:p>
        </p:txBody>
      </p:sp>
      <p:pic>
        <p:nvPicPr>
          <p:cNvPr id="5" name="Picture 4" descr="lu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35602"/>
            <a:ext cx="8191500" cy="22340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1543050"/>
            <a:ext cx="32194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تقطعوا برأي: </a:t>
            </a: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تبتُّوا الأمرَ وقرّروه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066925"/>
            <a:ext cx="32194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خَطَرَ لي: </a:t>
            </a: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طرأ على ذهني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581275"/>
            <a:ext cx="321945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لا وَقْعَ لها عندي: </a:t>
            </a: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لا قيمةَ لها ولا أثرَ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لغة النص (4) — ص92: الفرق بين (أصغى - أصغي)</a:t>
            </a:r>
          </a:p>
        </p:txBody>
      </p:sp>
      <p:pic>
        <p:nvPicPr>
          <p:cNvPr id="5" name="Picture 4" descr="lu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58982"/>
            <a:ext cx="8191500" cy="9680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1962150"/>
            <a:ext cx="81153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أصغى: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فعلٌ ماضٍ بمعنى 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استمع وأنصتَ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(أصغى إلى الحديث = أمال سمعَه له) / 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أُصغي: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مضارعُه بمعنى 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أستمع</a:t>
            </a: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 — وفي كلام بلقيس: «إنما أريد أن أُصغيَ إلى صوت عقولكم» = أن أستمعَ إليه وأعملَ به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الفهم والتحليل (1) — ص92: فنّ إدارة الأزمة</a:t>
            </a:r>
          </a:p>
        </p:txBody>
      </p:sp>
      <p:pic>
        <p:nvPicPr>
          <p:cNvPr id="5" name="Picture 4" descr="fahm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10058"/>
            <a:ext cx="8191500" cy="1265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1352550"/>
            <a:ext cx="57340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الوزير الأول:</a:t>
            </a: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 إدارتُها بالحكمة والرويّة وتغليبِ صوتِ العقل والسلمِ، والتفكيرِ والتدبيرِ الجماعيِّ قبل القرار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1838325"/>
            <a:ext cx="57340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335693"/>
                </a:solidFill>
                <a:latin typeface="Cairo"/>
                <a:cs typeface="Cairo"/>
              </a:rPr>
              <a:t>رئيس الجيش:</a:t>
            </a:r>
            <a:r>
              <a:rPr sz="1125" b="0">
                <a:solidFill>
                  <a:srgbClr val="335693"/>
                </a:solidFill>
                <a:latin typeface="Cairo"/>
                <a:cs typeface="Cairo"/>
              </a:rPr>
              <a:t> إدارتُها بالقوّةِ والبأسِ والحربِ، والإصرارِ على القتال ما دام الجيشُ قويًّا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الفهم والتحليل (2) — ص92: مهارات الحاكم الشخصية</a:t>
            </a:r>
          </a:p>
        </p:txBody>
      </p:sp>
      <p:pic>
        <p:nvPicPr>
          <p:cNvPr id="5" name="Picture 4" descr="fah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29108"/>
            <a:ext cx="8191500" cy="1265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1257300"/>
            <a:ext cx="78200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من قول الوزير: </a:t>
            </a: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١- التفكير والتدبير: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«رؤوسًا فوق المناكب تستطيع أن تفكّر وتدبّر» </a:t>
            </a: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٢- النفس المضيئة (البصيرة والإحساس):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«لك نفسٌ تضيء الظلمات وإحساسٌ» </a:t>
            </a: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٣- الذكاء وحسن التصرّف في الأزمات: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«وذكاءٌ طالما هدياك إلى ما ينبغي أن يُصنع في أحرج الأزمات»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الفهم والتحليل (3) — ص92: موقف بلقيس من الحرب وسياستها</a:t>
            </a:r>
          </a:p>
        </p:txBody>
      </p:sp>
      <p:pic>
        <p:nvPicPr>
          <p:cNvPr id="5" name="Picture 4" descr="fah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34303"/>
            <a:ext cx="8191500" cy="1303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1228725"/>
            <a:ext cx="7820025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موقفها: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رافضٌ للحرب — «إن الحرب وبال»، و«قوة الجيش لا تبرّر الإسراع إلى استعماله في كل حين، لا شيء خيرٌ من السلام» / </a:t>
            </a: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رأيي في سياستها (نموذج):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سياسةٌ حكيمةٌ رشيدة: تستشير رجالاتها وتصغي إلى عقولهم، وتغلّب مصلحة الوطن والسلم على العنتريات، وتقبَل الحوار بدل الدمار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يحلّل مواقف الشخصيات ويستنتج المعاني من سياقها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81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818" b="1">
                <a:solidFill>
                  <a:srgbClr val="333333"/>
                </a:solidFill>
                <a:latin typeface="Cairo"/>
                <a:cs typeface="Cairo"/>
              </a:rPr>
              <a:t>نشاط الختام:</a:t>
            </a:r>
            <a:r>
              <a:rPr sz="1818" b="0">
                <a:solidFill>
                  <a:srgbClr val="333333"/>
                </a:solidFill>
                <a:latin typeface="Cairo"/>
                <a:cs typeface="Cairo"/>
              </a:rPr>
              <a:t> أيّ الرجلين كنتَ تتبنّى رأيَه لو كنتَ من رجالات بلقيس؟ علّل بجملتين في دفترك</a:t>
            </a:r>
          </a:p>
          <a:p>
            <a:pPr algn="r" rtl="1">
              <a:lnSpc>
                <a:spcPct val="145000"/>
              </a:lnSpc>
            </a:pPr>
            <a:r>
              <a:rPr sz="1818" b="1">
                <a:solidFill>
                  <a:srgbClr val="333333"/>
                </a:solidFill>
                <a:latin typeface="Cairo"/>
                <a:cs typeface="Cairo"/>
              </a:rPr>
              <a:t>الواجب المنزلي:</a:t>
            </a:r>
            <a:r>
              <a:rPr sz="1818" b="0">
                <a:solidFill>
                  <a:srgbClr val="333333"/>
                </a:solidFill>
                <a:latin typeface="Cairo"/>
                <a:cs typeface="Cairo"/>
              </a:rPr>
              <a:t> حلّ أسئلة الفهم والتحليل (4-6) ص92 كتابةً في الدفتر — سنصحّحها بداية الحصة القادمة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https://uw3vlhc2of5wm.kimi.pro/banks/g12-balqis-2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