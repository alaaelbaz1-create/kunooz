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balqis-3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12" b="1">
                <a:solidFill>
                  <a:srgbClr val="335693"/>
                </a:solidFill>
                <a:latin typeface="Cairo"/>
                <a:cs typeface="Cairo"/>
              </a:rPr>
              <a:t>Lesson: Reading: Bilqis - Drama Scene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بلقيس (مشهد مسرحي)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لتوفيق الحكيم — الوحدة الثانية — النص الثاني — الحصة الثالثة — ص 92-94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الفهم والتحليل والبلاغة وخصائص المشهد المسرحي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بنهاية هذه الحصة سأكون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يحلّلَ المرضَ السياسي الذي كشفه الحوار ودوافعَه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يستنتجَ صفات الشخصيات مستدلًّا بأقوالها وأفعالها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يحدّدَ موضع الحلّ في المسرحية وعبارات التناصّ مع الآيات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يميّزَ التشبيه والاستعارة والمحسّن البديعي وخصائص المشهد المسرحي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موقف بلقيس من الحرب؟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مهارتين من مهارات الحاكم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بم نصح الوزيرُ مولاتَه؟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الفهم والتحليل (4) — ص92: المرض الخطير عند بعض أهل السياسة</a:t>
            </a:r>
          </a:p>
        </p:txBody>
      </p:sp>
      <p:pic>
        <p:nvPicPr>
          <p:cNvPr id="5" name="Picture 4" descr="fahm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26510"/>
            <a:ext cx="8191500" cy="1042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257300"/>
            <a:ext cx="811530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المرض: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الاغترارُ بالقوّة والاندفاعُ إلى الحرب دون تدبيرٍ ولا تقديرٍ للعواقب — تجسّده إصرارُ رئيس الجيش على القتال / </a:t>
            </a: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دوافعُه: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الغرورُ بالبأس والجيش، وضيقُ الأفق، وإغفالُ مصلحة الوطن ومصيرِ شعبه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الفهم والتحليل (5) — ص92: الغرض الذي يهدف إليه الكاتب</a:t>
            </a:r>
          </a:p>
        </p:txBody>
      </p:sp>
      <p:pic>
        <p:nvPicPr>
          <p:cNvPr id="5" name="Picture 4" descr="fahm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95338"/>
            <a:ext cx="8191500" cy="819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743075"/>
            <a:ext cx="81153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الاعتبارُ بالتاريخ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— استلهامُ قصة بلقيس وسليمان لاستخلاص درسٍ خالد: تغليبُ صوت العقل والسلمِ على الاندفاعِ إلى الحرب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الفهم والتحليل (6) — ص92: عنوان جديد للمشهد (إنتاجي)</a:t>
            </a:r>
          </a:p>
        </p:txBody>
      </p:sp>
      <p:pic>
        <p:nvPicPr>
          <p:cNvPr id="5" name="Picture 4" descr="fahm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81916"/>
            <a:ext cx="8191500" cy="8936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133475"/>
            <a:ext cx="81153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68" b="1">
                <a:solidFill>
                  <a:srgbClr val="335693"/>
                </a:solidFill>
                <a:latin typeface="Cairo"/>
                <a:cs typeface="Cairo"/>
              </a:rPr>
              <a:t>نموذج:</a:t>
            </a:r>
            <a:r>
              <a:rPr sz="1168" b="0">
                <a:solidFill>
                  <a:srgbClr val="335693"/>
                </a:solidFill>
                <a:latin typeface="Cairo"/>
                <a:cs typeface="Cairo"/>
              </a:rPr>
              <a:t> «صوتُ العقل في قاعة العرش» — لأنه يجسّد لبَّ المشهد: انتصارُ حكمة بلقيس ورويّتها على دعاة الحرب (تُقبل عناوين الطلاب المعلَّلة)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الفهم والتحليل (7) — ص93: صفات الشخصيات مع الدليل</a:t>
            </a:r>
          </a:p>
        </p:txBody>
      </p:sp>
      <p:pic>
        <p:nvPicPr>
          <p:cNvPr id="5" name="Picture 4" descr="fahm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218" y="571500"/>
            <a:ext cx="6787563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95750" y="1552575"/>
            <a:ext cx="2457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بلقيس:</a:t>
            </a:r>
            <a:r>
              <a:rPr sz="1031" b="0">
                <a:solidFill>
                  <a:srgbClr val="335693"/>
                </a:solidFill>
                <a:latin typeface="Cairo"/>
                <a:cs typeface="Cairo"/>
              </a:rPr>
              <a:t> حكيمةٌ رزينةٌ محبّةٌ للسلام، تستشيرُ قومَها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4450" y="1552575"/>
            <a:ext cx="2647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1" b="0">
                <a:solidFill>
                  <a:srgbClr val="335693"/>
                </a:solidFill>
                <a:latin typeface="Cairo"/>
                <a:cs typeface="Cairo"/>
              </a:rPr>
              <a:t>«إنما أريد أن أصغيَ إلى صوتِ عقولكم» / «إن الحربُ وبال»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0" y="2266950"/>
            <a:ext cx="2457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الوزير الأول:</a:t>
            </a:r>
            <a:r>
              <a:rPr sz="1031" b="0">
                <a:solidFill>
                  <a:srgbClr val="335693"/>
                </a:solidFill>
                <a:latin typeface="Cairo"/>
                <a:cs typeface="Cairo"/>
              </a:rPr>
              <a:t> راجحُ العقلِ، مخلصُ النصيحةِ، فطنٌ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450" y="2266950"/>
            <a:ext cx="2647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1" b="0">
                <a:solidFill>
                  <a:srgbClr val="335693"/>
                </a:solidFill>
                <a:latin typeface="Cairo"/>
                <a:cs typeface="Cairo"/>
              </a:rPr>
              <a:t>«ما السياسةُ إلا هذه: براعةُ تفسيرِ المقاصدِ، وفهمُ المرامي تبعًا لمقتضى الحال»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0" y="2981325"/>
            <a:ext cx="2457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رئيس الجيش:</a:t>
            </a:r>
            <a:r>
              <a:rPr sz="1031" b="0">
                <a:solidFill>
                  <a:srgbClr val="335693"/>
                </a:solidFill>
                <a:latin typeface="Cairo"/>
                <a:cs typeface="Cairo"/>
              </a:rPr>
              <a:t> اندفاعيٌّ مغترٌّ بالقوةِ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50" y="2981325"/>
            <a:ext cx="2647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1" b="0">
                <a:solidFill>
                  <a:srgbClr val="335693"/>
                </a:solidFill>
                <a:latin typeface="Cairo"/>
                <a:cs typeface="Cairo"/>
              </a:rPr>
              <a:t>«نحن أولو بأسٍ شديدٍ، ولنا جيشٌ قويٌّ؛ فلماذا نُذعِنُ لسليمان؟»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0" y="3705225"/>
            <a:ext cx="2457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الملك سليمان:</a:t>
            </a:r>
            <a:r>
              <a:rPr sz="1031" b="0">
                <a:solidFill>
                  <a:srgbClr val="335693"/>
                </a:solidFill>
                <a:latin typeface="Cairo"/>
                <a:cs typeface="Cairo"/>
              </a:rPr>
              <a:t> قويٌّ مهيبٌ واثقٌ (مذكورٌ غائبٌ)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4450" y="3705225"/>
            <a:ext cx="26479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1" b="0">
                <a:solidFill>
                  <a:srgbClr val="335693"/>
                </a:solidFill>
                <a:latin typeface="Cairo"/>
                <a:cs typeface="Cairo"/>
              </a:rPr>
              <a:t>ردُّه الهديةَ: «لا حاجةَ بي إلى هديتكم... ولنأتينكم بجيشٍ جرّارٍ»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س8 — ص93: أين يكون (الحل) في المسرحية؟</a:t>
            </a:r>
          </a:p>
        </p:txBody>
      </p:sp>
      <p:pic>
        <p:nvPicPr>
          <p:cNvPr id="5" name="Picture 4" descr="s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39932"/>
            <a:ext cx="8191500" cy="9680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304925"/>
            <a:ext cx="81153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8" b="0">
                <a:solidFill>
                  <a:srgbClr val="335693"/>
                </a:solidFill>
                <a:latin typeface="Cairo"/>
                <a:cs typeface="Cairo"/>
              </a:rPr>
              <a:t>في </a:t>
            </a:r>
            <a:r>
              <a:rPr sz="1118" b="1">
                <a:solidFill>
                  <a:srgbClr val="335693"/>
                </a:solidFill>
                <a:latin typeface="Cairo"/>
                <a:cs typeface="Cairo"/>
              </a:rPr>
              <a:t>الجزء الأخير (النهاية)</a:t>
            </a:r>
            <a:r>
              <a:rPr sz="1118" b="0">
                <a:solidFill>
                  <a:srgbClr val="335693"/>
                </a:solidFill>
                <a:latin typeface="Cairo"/>
                <a:cs typeface="Cairo"/>
              </a:rPr>
              <a:t> — حيث تُحلُّ العقدةُ وينفرجُ الصراع؛ وفي مشهدنا: استقرارُ رأي بلقيس على السلام وقبولِ دعوةِ سليمان بعد ذروة التوتر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س9 — ص93: العبارة المتناصّة مع الآية (النمل: 34)</a:t>
            </a:r>
          </a:p>
        </p:txBody>
      </p:sp>
      <p:pic>
        <p:nvPicPr>
          <p:cNvPr id="5" name="Picture 4" descr="s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69793"/>
            <a:ext cx="8191500" cy="1489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724025"/>
            <a:ext cx="81153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18" b="0">
                <a:solidFill>
                  <a:srgbClr val="335693"/>
                </a:solidFill>
                <a:latin typeface="Cairo"/>
                <a:cs typeface="Cairo"/>
              </a:rPr>
              <a:t>قولُ بلقيس: «إن الحربَ وبال... </a:t>
            </a:r>
            <a:r>
              <a:rPr sz="1018" b="1">
                <a:solidFill>
                  <a:srgbClr val="335693"/>
                </a:solidFill>
                <a:latin typeface="Cairo"/>
                <a:cs typeface="Cairo"/>
              </a:rPr>
              <a:t>فإذا ظَفِرَ بنا ودخل ديارنا خرّبها ودمّرها، وأذلَّ أهلها</a:t>
            </a:r>
            <a:r>
              <a:rPr sz="1018" b="0">
                <a:solidFill>
                  <a:srgbClr val="335693"/>
                </a:solidFill>
                <a:latin typeface="Cairo"/>
                <a:cs typeface="Cairo"/>
              </a:rPr>
              <a:t>» — تناصٌّ مع: «إنَّ الملوكَ إذا دخَلوا قريةً أفسَدوها وجعَلوا أعِزَّةَ أهلِها أذِلَّة»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س9 — ص93: العبارة المتناصّة مع الآية (النمل: 37)</a:t>
            </a:r>
          </a:p>
        </p:txBody>
      </p:sp>
      <p:pic>
        <p:nvPicPr>
          <p:cNvPr id="5" name="Picture 4" descr="s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59402"/>
            <a:ext cx="8191500" cy="1414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562100"/>
            <a:ext cx="81153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18" b="0">
                <a:solidFill>
                  <a:srgbClr val="335693"/>
                </a:solidFill>
                <a:latin typeface="Cairo"/>
                <a:cs typeface="Cairo"/>
              </a:rPr>
              <a:t>رسالةُ سليمان مع الرسل: «</a:t>
            </a:r>
            <a:r>
              <a:rPr sz="1018" b="1">
                <a:solidFill>
                  <a:srgbClr val="335693"/>
                </a:solidFill>
                <a:latin typeface="Cairo"/>
                <a:cs typeface="Cairo"/>
              </a:rPr>
              <a:t>ارجعوا إلى بلقيس وقومها، ولنأتينكم بجيشٍ جرّارٍ</a:t>
            </a:r>
            <a:r>
              <a:rPr sz="1018" b="0">
                <a:solidFill>
                  <a:srgbClr val="335693"/>
                </a:solidFill>
                <a:latin typeface="Cairo"/>
                <a:cs typeface="Cairo"/>
              </a:rPr>
              <a:t>، إذا لم تأتِ هذه الملكةُ إليّ وتعرضْ أمرَها عليّ» — تناصٌّ مع: «ارجِع إليهم فَلَنأتِيَنَّهم بجنودٍ لا قِبَلَ لهم بها»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س10 (أ) — ص93: «الفضة والذهب لديهم مثل الحجارة»</a:t>
            </a:r>
          </a:p>
        </p:txBody>
      </p:sp>
      <p:pic>
        <p:nvPicPr>
          <p:cNvPr id="5" name="Picture 4" descr="s1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13930"/>
            <a:ext cx="8191500" cy="2420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1866900"/>
            <a:ext cx="43910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تشبيهٌ مفردٌ مؤكَّدٌ صريحٌ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0" y="228600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الفضةُ والذهبُ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600" y="2286000"/>
            <a:ext cx="1562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الحجارةُ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2286000"/>
            <a:ext cx="15621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مثل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2657475"/>
            <a:ext cx="5810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تصويرُ وفرةِ المال عند سليمان حتى استوى عنده النفيسُ والرخيص — إيحاءٌ بعظمةِ ملكِه وقوّتِه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س10 (ب) — ص94: «أن لك نفسًا تضيء الظلمات»</a:t>
            </a:r>
          </a:p>
        </p:txBody>
      </p:sp>
      <p:pic>
        <p:nvPicPr>
          <p:cNvPr id="5" name="Picture 4" descr="s1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99655"/>
            <a:ext cx="8191500" cy="20106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876425"/>
            <a:ext cx="81153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نوعها: استعارةٌ مكنيّة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— شبّه النفسَ البصيرةَ بمصباحٍ يضيء، وحذف المشبَّهَ به ورمز إليه بـ«تضيء»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324100"/>
            <a:ext cx="81153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أثرُها: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تصويرُ حكمةِ بلقيس وبصيرتِها نورًا يبدّد ظلامَ الحيرةِ والأزمات — تعظيمٌ لشأن عقلِها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س10 (ج) — ص94: «ملكٌ قويٌّ يستضعف بلادًا طمعًا فيها»</a:t>
            </a:r>
          </a:p>
        </p:txBody>
      </p:sp>
      <p:pic>
        <p:nvPicPr>
          <p:cNvPr id="5" name="Picture 4" descr="s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51176"/>
            <a:ext cx="8191500" cy="1526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771650"/>
            <a:ext cx="81153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المحسِّن البديعي: طباقٌ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— بين (قويٌّ) و(يستضعِفُ)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124075"/>
            <a:ext cx="81153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أثرُه: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إبرازُ التناقضِ وتوضيحُ المعنى وتقويةُ الحجّةِ في نقدِ منطقِ الحرب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س11 — ص94: ثلاث من خصائص المشهد المسرحي مع الدليل</a:t>
            </a:r>
          </a:p>
        </p:txBody>
      </p:sp>
      <p:pic>
        <p:nvPicPr>
          <p:cNvPr id="5" name="Picture 4" descr="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85426"/>
            <a:ext cx="8191500" cy="22486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57825" y="1362075"/>
            <a:ext cx="23717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الحوارُ المسرحيُّ بين الشخصيات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1362075"/>
            <a:ext cx="46196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0">
                <a:solidFill>
                  <a:srgbClr val="335693"/>
                </a:solidFill>
                <a:latin typeface="Cairo"/>
                <a:cs typeface="Cairo"/>
              </a:rPr>
              <a:t>تبادلُ الأدوار والكلامِ بين بلقيس والوزيرِ الأول ورئيسِ الجيش والرسول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7825" y="1895475"/>
            <a:ext cx="23717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القصيحات (إرشاداتٌ بين قوسين)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1895475"/>
            <a:ext cx="46196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0">
                <a:solidFill>
                  <a:srgbClr val="335693"/>
                </a:solidFill>
                <a:latin typeface="Cairo"/>
                <a:cs typeface="Cairo"/>
              </a:rPr>
              <a:t>«(يدخل الرسلُ ويتقدّم كبيرُهم إلى الملكة بالتحية ويقدّم الهدية)»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7825" y="2419350"/>
            <a:ext cx="23717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وحدةُ المكان والزمان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2419350"/>
            <a:ext cx="46196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0">
                <a:solidFill>
                  <a:srgbClr val="335693"/>
                </a:solidFill>
                <a:latin typeface="Cairo"/>
                <a:cs typeface="Cairo"/>
              </a:rPr>
              <a:t>المشهدُ كلُّه في قاعةِ العرشِ في زمنٍ واحدٍ متصلٍ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س12 — ص94: مضاف إليه + ممنوع من الصرف + الوزن</a:t>
            </a:r>
          </a:p>
        </p:txBody>
      </p:sp>
      <p:pic>
        <p:nvPicPr>
          <p:cNvPr id="5" name="Picture 4" descr="s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77" y="571500"/>
            <a:ext cx="7435645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" y="1257300"/>
            <a:ext cx="465772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«بأسٍ»</a:t>
            </a: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 (أولو بأسٍ) — أو «الجيشِ» في «رئيس الجيشِ»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1552575"/>
            <a:ext cx="465772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«سليمان»</a:t>
            </a: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 — علمٌ أعجميٌّ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2886075"/>
            <a:ext cx="46577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نُذْعِنُ على وزن </a:t>
            </a: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نُفْعِلُ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314700"/>
            <a:ext cx="46577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بَأْسٌ على وزن </a:t>
            </a: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فَعْلٌ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25" b="1">
                <a:solidFill>
                  <a:srgbClr val="FFFFFF"/>
                </a:solidFill>
                <a:latin typeface="Cairo"/>
                <a:cs typeface="Cairo"/>
              </a:rPr>
              <a:t>التعبير والمشاركة — ص94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خطاب أمام زملائك: فوائد السلام وأهميته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المهمة: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اكتب خطابًا قصيرًا تلقيه أمام زملائك تبيّن فيه فوائد السلام وأهميته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عناصر خطابك: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١- مقدمة تشوّق السامعين ٢- فوائد السلام للأفراد والأمم (بناء لا هدم — نماء لا دمار) ٣- خاتمة مؤثرة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C00000"/>
                </a:solidFill>
                <a:latin typeface="Cairo"/>
                <a:cs typeface="Cairo"/>
              </a:rPr>
              <a:t>اختم خطابك بمقولة «بلقيس»:</a:t>
            </a:r>
            <a:r>
              <a:rPr sz="1475" b="0">
                <a:solidFill>
                  <a:srgbClr val="C00000"/>
                </a:solidFill>
                <a:latin typeface="Cairo"/>
                <a:cs typeface="Cairo"/>
              </a:rPr>
              <a:t> «لا شيء خيرٌ من السلام إذا جثمتْ خلفه قوةُ الجيشِ تحميه وترعاه»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يستمع الزملاء بإصغاء، ويصفّقون لكل خطيب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يميّز خصائص المشهد المسرحي وأساليبه البلاغية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868" b="1">
                <a:solidFill>
                  <a:srgbClr val="333333"/>
                </a:solidFill>
                <a:latin typeface="Cairo"/>
                <a:cs typeface="Cairo"/>
              </a:rPr>
              <a:t>نشاط الختام:</a:t>
            </a:r>
            <a:r>
              <a:rPr sz="1868" b="0">
                <a:solidFill>
                  <a:srgbClr val="333333"/>
                </a:solidFill>
                <a:latin typeface="Cairo"/>
                <a:cs typeface="Cairo"/>
              </a:rPr>
              <a:t> لخّص في ثلاث جمل: لماذا تُعدّ بلقيس نموذجًا للحاكم الحكيم؟</a:t>
            </a:r>
          </a:p>
          <a:p>
            <a:pPr algn="r" rtl="1">
              <a:lnSpc>
                <a:spcPct val="145000"/>
              </a:lnSpc>
            </a:pPr>
            <a:r>
              <a:rPr sz="1868" b="1">
                <a:solidFill>
                  <a:srgbClr val="333333"/>
                </a:solidFill>
                <a:latin typeface="Cairo"/>
                <a:cs typeface="Cairo"/>
              </a:rPr>
              <a:t>الواجب المنزلي:</a:t>
            </a:r>
            <a:r>
              <a:rPr sz="1868" b="0">
                <a:solidFill>
                  <a:srgbClr val="333333"/>
                </a:solidFill>
                <a:latin typeface="Cairo"/>
                <a:cs typeface="Cairo"/>
              </a:rPr>
              <a:t> كتابة الخطاب كاملًا في الدفتر (مهمة التعبير والمشاركة ص94) — يُلقيه أفضلُ الخطباء في الحصة القادمة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https://uw3vlhc2of5wm.kimi.pro/banks/g12-balqis-3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