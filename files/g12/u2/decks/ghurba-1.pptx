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ghurba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62" b="1">
                <a:solidFill>
                  <a:srgbClr val="335693"/>
                </a:solidFill>
                <a:latin typeface="Cairo"/>
                <a:cs typeface="Cairo"/>
              </a:rPr>
              <a:t>Lesson: Reading: Ghurba wa Hanin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غربة وحنين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لمحمود سامي البارودي — الوحدة الثانية — الحصة الأولى — ص 80-82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يبيّنَ مناسبةَ القصيدة ومكانَ نظمها (سرنديب) ودلالةَ عنوانها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يقرأَ المقطعين (أ، ب) قراءةً جهريةً معبّرةً ويشرحَ مفرداتِهما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يجيبَ عن أسئلة القراءة الاستكشافية (ص82) في دفتره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من رائد مدرسة الإحياء؟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سمتين من سماتها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توقّع: بمَ يشعر الشاعر في المنفى؟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بين يدي النص — ص80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شعر البارودي مرآة حياته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شُعر البارودي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مرآةٌ لحياته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، فكل قصيدة في ديوانه صورةٌ لحالة نفسية من حالات هذا الشاعر الملهم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شعره صورةٌ لروحه المتقدة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بالحماسة وحب الأوطان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، ومرآةٌ للبيئة التي أحاطت به، وصدًى للنهضة المتوثبة في الحياة حوله، وللثورة التي تمخضت عنها تلك النهضة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وللنكسة التي أصابت النهضة والثورةَ كلتيهما، والتي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نُقل الشاعر بسببها من وطنه إلى منفاه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، فأنشد قصيدته وهو في «سرنديب» يشكو فيها آلام الغربة، ويحنُّ من خلالها إلى وطنه الذي حُرمه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لكن هذا الوطن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لم يغِب لحظةً عن جفونه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، ولم يَبرح أبدًا عنه حسُّه، فعاش والأمل بالعودة معقود بين عينيه: </a:t>
            </a:r>
            <a:r>
              <a:rPr sz="1475" b="1">
                <a:solidFill>
                  <a:srgbClr val="C00000"/>
                </a:solidFill>
                <a:latin typeface="Cairo"/>
                <a:cs typeface="Cairo"/>
              </a:rPr>
              <a:t>«فكل داجية يومًا لإشراق»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إضاءة — ص80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سرنديب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الاسم الذي أطلقه العرب قديمًا على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جزيرة سيلان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الواقعة جنوب الهند، والمعروفة اليوم باسم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(سريلانكا)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إليها نُفي البارودي بعد فشل الثورة العرابية، وفيها نظم قصيدته «غربة وحنين»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التعريف بالشاعر — ص80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محمود سامي البارودي (1839م — 1904م)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75" b="0">
                <a:solidFill>
                  <a:srgbClr val="333333"/>
                </a:solidFill>
                <a:latin typeface="Cairo"/>
                <a:cs typeface="Cairo"/>
              </a:rPr>
              <a:t>شاعر </a:t>
            </a:r>
            <a:r>
              <a:rPr sz="1075" b="1">
                <a:solidFill>
                  <a:srgbClr val="333333"/>
                </a:solidFill>
                <a:latin typeface="Cairo"/>
                <a:cs typeface="Cairo"/>
              </a:rPr>
              <a:t>مصري، شركسي الأصل</a:t>
            </a:r>
            <a:r>
              <a:rPr sz="1075" b="0">
                <a:solidFill>
                  <a:srgbClr val="333333"/>
                </a:solidFill>
                <a:latin typeface="Cairo"/>
                <a:cs typeface="Cairo"/>
              </a:rPr>
              <a:t>؛ تعلم في المدرسة الحربية، ورحل إلى الآستانة، وأتقن اللغة الفارسية والتركية والإنجليزية، وتقلد مناصب عدة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75" b="0">
                <a:solidFill>
                  <a:srgbClr val="333333"/>
                </a:solidFill>
                <a:latin typeface="Cairo"/>
                <a:cs typeface="Cairo"/>
              </a:rPr>
              <a:t>لما قامت الثورة العرابية ضد الإنجليز </a:t>
            </a:r>
            <a:r>
              <a:rPr sz="1075" b="1">
                <a:solidFill>
                  <a:srgbClr val="333333"/>
                </a:solidFill>
                <a:latin typeface="Cairo"/>
                <a:cs typeface="Cairo"/>
              </a:rPr>
              <a:t>كان في صفوف الثائرين</a:t>
            </a:r>
            <a:r>
              <a:rPr sz="1075" b="0">
                <a:solidFill>
                  <a:srgbClr val="333333"/>
                </a:solidFill>
                <a:latin typeface="Cairo"/>
                <a:cs typeface="Cairo"/>
              </a:rPr>
              <a:t>، فقُبض عليه وسُجن، وحُكم عليه بالإعدام، ثم خُفف الحكم إلى </a:t>
            </a:r>
            <a:r>
              <a:rPr sz="1075" b="1">
                <a:solidFill>
                  <a:srgbClr val="333333"/>
                </a:solidFill>
                <a:latin typeface="Cairo"/>
                <a:cs typeface="Cairo"/>
              </a:rPr>
              <a:t>النفي إلى جزيرة سيلان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بقي في منفاه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أكثر من سبعة عشر عامًا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، ثم عُفي عنه، فعاد إلى وطنه مصر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175" b="1">
                <a:solidFill>
                  <a:srgbClr val="333333"/>
                </a:solidFill>
                <a:latin typeface="Cairo"/>
                <a:cs typeface="Cairo"/>
              </a:rPr>
              <a:t>رائد مدرسة «الإحياء»</a:t>
            </a:r>
            <a:r>
              <a:rPr sz="1175" b="0">
                <a:solidFill>
                  <a:srgbClr val="333333"/>
                </a:solidFill>
                <a:latin typeface="Cairo"/>
                <a:cs typeface="Cairo"/>
              </a:rPr>
              <a:t> التي أعادت الشعر العربي إلى عصور القوة، ويمتاز شعره بالقوة والجزالة، ولُقّب </a:t>
            </a:r>
            <a:r>
              <a:rPr sz="1175" b="1">
                <a:solidFill>
                  <a:srgbClr val="333333"/>
                </a:solidFill>
                <a:latin typeface="Cairo"/>
                <a:cs typeface="Cairo"/>
              </a:rPr>
              <a:t>«رب السيف والقلم»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له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ديوان شعر مطبوع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، وله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(مختارات البارودي)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في أربعة أجزاء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قراءة جهرية معبّرة — المقطع (أ): الأبيات 1-4 — ص81</a:t>
            </a:r>
          </a:p>
        </p:txBody>
      </p:sp>
      <p:pic>
        <p:nvPicPr>
          <p:cNvPr id="5" name="Picture 4" descr="jahr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62493"/>
            <a:ext cx="8001000" cy="2837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يقرأ الطلاب قراءة جهرية معبّرة، ويستعينون بهوامش الكتاب على ضبط المفردات ومعانيها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قراءة جهرية معبّرة — المقطع (ب): الأبيات 5-7 — ص81</a:t>
            </a:r>
          </a:p>
        </p:txBody>
      </p:sp>
      <p:pic>
        <p:nvPicPr>
          <p:cNvPr id="5" name="Picture 4" descr="jahr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48563"/>
            <a:ext cx="8001000" cy="2465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يقرأ الطلاب قراءة جهرية معبّرة، ويستعينون بهوامش الكتاب على ضبط المفردات ومعانيها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لغة النص: المفردات — ص81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مفردات المقطعين (أ، ب) من هوامش الكتاب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رَاقِ: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اسم فاعل من رَقَّ؛ أي عوّده، أو قرأ عليه بعض الأدعية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إيراق: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سهاد وسهر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أرعى نجوم الليل: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أراقبها وأنتظر مغيبها — وهذا كناية عن الأرق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قِثَّة: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قمة الجبل قمته أعلاه، جمعها: قِثَن قِنان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75" b="1">
                <a:solidFill>
                  <a:srgbClr val="FFFFFF"/>
                </a:solidFill>
                <a:latin typeface="Cairo"/>
                <a:cs typeface="Cairo"/>
              </a:rPr>
              <a:t>القراءة الاستكشافية — ص82</a:t>
            </a:r>
          </a:p>
        </p:txBody>
      </p:sp>
      <p:pic>
        <p:nvPicPr>
          <p:cNvPr id="5" name="Picture 4" descr="ist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70239"/>
            <a:ext cx="8191500" cy="1526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550" y="2543175"/>
            <a:ext cx="79629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1- دلالة العنوان: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«غربة وحنين» يدل على موضوع القصيدة: شكوى الشاعر آلامَ الغربة عن وطنه والحنينَ إليه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3000375"/>
            <a:ext cx="79629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2- المناسبة: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نُفي الشاعر إلى «سرنديب» (سيلان) بعد نكسة الثورة العرابية، فأنشدها في منفاه يشكو الغربة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3457575"/>
            <a:ext cx="79629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3- الشاعر وإنتاجه: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محمود سامي البارودي رائد مدرسة الإحياء؛ له ديوان مطبوع، و«مختارات البارودي» في أربعة أجزاء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914775"/>
            <a:ext cx="79629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1">
                <a:solidFill>
                  <a:srgbClr val="335693"/>
                </a:solidFill>
                <a:latin typeface="Cairo"/>
                <a:cs typeface="Cairo"/>
              </a:rPr>
              <a:t>4- الكلمات الجديدة:</a:t>
            </a: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 ينظّمها الطالب في معجمه اللغوي (مثل: رَاقٍ، إيراق، قِثَّة...)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أن يبيّن مناسبة القصيدة ومكان نظمها ويقرأ المقطعين (أ، ب) قراءة معبّرة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7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768" b="1">
                <a:solidFill>
                  <a:srgbClr val="333333"/>
                </a:solidFill>
                <a:latin typeface="Cairo"/>
                <a:cs typeface="Cairo"/>
              </a:rPr>
              <a:t>يلخّص الطالب في جملتين:</a:t>
            </a:r>
            <a:r>
              <a:rPr sz="1768" b="0">
                <a:solidFill>
                  <a:srgbClr val="333333"/>
                </a:solidFill>
                <a:latin typeface="Cairo"/>
                <a:cs typeface="Cairo"/>
              </a:rPr>
              <a:t> لماذا نظم البارودي قصيدة «غربة وحنين»؟ وأين كان؟</a:t>
            </a:r>
          </a:p>
          <a:p>
            <a:pPr algn="r" rtl="1">
              <a:lnSpc>
                <a:spcPct val="145000"/>
              </a:lnSpc>
            </a:pPr>
            <a:r>
              <a:rPr sz="1768" b="1">
                <a:solidFill>
                  <a:srgbClr val="333333"/>
                </a:solidFill>
                <a:latin typeface="Cairo"/>
                <a:cs typeface="Cairo"/>
              </a:rPr>
              <a:t>ثم يتوقّع:</a:t>
            </a:r>
            <a:r>
              <a:rPr sz="1768" b="0">
                <a:solidFill>
                  <a:srgbClr val="333333"/>
                </a:solidFill>
                <a:latin typeface="Cairo"/>
                <a:cs typeface="Cairo"/>
              </a:rPr>
              <a:t> كيف سيعبّر الشاعر عن حنينه إلى وطنه في المقطعين (ج، د)؟</a:t>
            </a:r>
          </a:p>
          <a:p>
            <a:pPr algn="r" rtl="1">
              <a:lnSpc>
                <a:spcPct val="145000"/>
              </a:lnSpc>
            </a:pPr>
            <a:r>
              <a:rPr sz="1768" b="1">
                <a:solidFill>
                  <a:srgbClr val="C00000"/>
                </a:solidFill>
                <a:latin typeface="Cairo"/>
                <a:cs typeface="Cairo"/>
              </a:rPr>
              <a:t>الواجب المنزلي:</a:t>
            </a:r>
            <a:r>
              <a:rPr sz="1768" b="0">
                <a:solidFill>
                  <a:srgbClr val="C00000"/>
                </a:solidFill>
                <a:latin typeface="Cairo"/>
                <a:cs typeface="Cairo"/>
              </a:rPr>
              <a:t> اقرأ الأبيات 1-7 غيبًا محاولًا، وسجّل في معجمك كلمتين جديدتين من هوامش ص81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https://uw3vlhc2of5wm.kimi.pro/banks/g12-ghurba-1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