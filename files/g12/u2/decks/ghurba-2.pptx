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ghurba-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62" b="1">
                <a:solidFill>
                  <a:srgbClr val="335693"/>
                </a:solidFill>
                <a:latin typeface="Cairo"/>
                <a:cs typeface="Cairo"/>
              </a:rPr>
              <a:t>Lesson: Reading: Ghurba wa Hanin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غربة وحنين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لمحمود سامي البارودي — الوحدة الثانية — الحصة الثانية — ص 81-84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الثانية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يقرأَ المقطعين (ج، د) قراءةً جهريةً معبّرةً ويشرحَ مفرداتِهما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يجيبَ عن أسئلة الاستيعاب (ص82) في دفتره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يوضّحَ معاني الكلمات من خلال سياقها (لغة النص 1-2)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معنى «إيراق»؟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كنية «أرعى نجوم الليل»؟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تلُّ بيتًا من المقطع (أ) أو (ب)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قراءة جهرية معبّرة — المقطع (ج): الأبيات 8-12 — ص81</a:t>
            </a:r>
          </a:p>
        </p:txBody>
      </p:sp>
      <p:pic>
        <p:nvPicPr>
          <p:cNvPr id="5" name="Picture 4" descr="jah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720577"/>
            <a:ext cx="8001000" cy="37213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يقرأ الطلاب قراءة جهرية معبّرة، ويستعينون بهوامش الكتاب على ضبط المفردات ومعانيها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قراءة جهرية معبّرة — المقطع (د): الأبيات 13-16 — ص81</a:t>
            </a:r>
          </a:p>
        </p:txBody>
      </p:sp>
      <p:pic>
        <p:nvPicPr>
          <p:cNvPr id="5" name="Picture 4" descr="jahr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22941"/>
            <a:ext cx="8001000" cy="31166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يقرأ الطلاب قراءة جهرية معبّرة، ويستعينون بهوامش الكتاب على ضبط المفردات ومعانيها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625" b="1">
                <a:solidFill>
                  <a:srgbClr val="FFFFFF"/>
                </a:solidFill>
                <a:latin typeface="Cairo"/>
                <a:cs typeface="Cairo"/>
              </a:rPr>
              <a:t>لغة النص: المفردات — ص81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مفردات المقطعين (ج، د) من هوامش الكتاب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بائقة: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داهية وبلية وشر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9050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9621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أعفاق: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جمع عِفْق، وهو الماء الكثير، أو المطر الكثير العام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479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27051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غروب: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جمع غَرْب، وهي الدموع حين تخرج وتسيل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3909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34480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1">
                <a:solidFill>
                  <a:srgbClr val="333333"/>
                </a:solidFill>
                <a:latin typeface="Cairo"/>
                <a:cs typeface="Cairo"/>
              </a:rPr>
              <a:t>أماق:</a:t>
            </a:r>
            <a:r>
              <a:rPr sz="1575" b="0">
                <a:solidFill>
                  <a:srgbClr val="333333"/>
                </a:solidFill>
                <a:latin typeface="Cairo"/>
                <a:cs typeface="Cairo"/>
              </a:rPr>
              <a:t> جمع مَوْق أو مَاق، وهو طرف العين مما يلي الأنف، وهو مجرى الدمع من العين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41338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41910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داجية: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ظلمة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الاستيعاب (1-2) — ص82</a:t>
            </a:r>
          </a:p>
        </p:txBody>
      </p:sp>
      <p:pic>
        <p:nvPicPr>
          <p:cNvPr id="5" name="Picture 4" descr="ist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42530"/>
            <a:ext cx="8191500" cy="11914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2209800"/>
            <a:ext cx="7962900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1- القضية:</a:t>
            </a: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 الغربة عن الوطن وآلامُها، والحنينُ إليه، والأملُ بالعودة إليه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3114675"/>
            <a:ext cx="7962900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2- آلام الغربة:</a:t>
            </a: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 الحزنُ المتواصل، والسهرُ والأرق (الإيراق)، ومراقبةُ النجوم ليلًا، والبكاءُ حتى تسيل الدموع (الغروب)، وشدةُ الشوق إلى الأهل والديار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الاستيعاب (3-4) — ص82</a:t>
            </a:r>
          </a:p>
        </p:txBody>
      </p:sp>
      <p:pic>
        <p:nvPicPr>
          <p:cNvPr id="5" name="Picture 4" descr="ist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14388"/>
            <a:ext cx="8191500" cy="819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876425"/>
            <a:ext cx="79629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3- الأماكن:</a:t>
            </a: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 مرعى جياده، ومأوى جيرته، ومجامعُ قومه، وديارُ أهله الكرام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2828925"/>
            <a:ext cx="79629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4- الأمل:</a:t>
            </a: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 يقينُه بالفرج بعد الضيق والعودة إلى الوطن: «لا بُدَّ لِلضِّيقِ بَعْدَ اليَأْسِ مِنْ فَرَجٍ / وكُلُّ دَاجِيَةٍ يَوْمًا لإِشْرَاقِ»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75" b="1">
                <a:solidFill>
                  <a:srgbClr val="FFFFFF"/>
                </a:solidFill>
                <a:latin typeface="Cairo"/>
                <a:cs typeface="Cairo"/>
              </a:rPr>
              <a:t>لغة النص (1) — ص82: مرادف «البَيْن»</a:t>
            </a:r>
          </a:p>
        </p:txBody>
      </p:sp>
      <p:pic>
        <p:nvPicPr>
          <p:cNvPr id="5" name="Picture 4" descr="lu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736023"/>
            <a:ext cx="8191500" cy="2271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29125" y="2924175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00" b="1">
                <a:solidFill>
                  <a:srgbClr val="C00000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لغة النص (2) — ص83: المعنى بحسب السياق</a:t>
            </a:r>
          </a:p>
        </p:txBody>
      </p:sp>
      <p:pic>
        <p:nvPicPr>
          <p:cNvPr id="5" name="Picture 4" descr="lu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69371"/>
            <a:ext cx="8191500" cy="22617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50" y="1428750"/>
            <a:ext cx="542925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براني: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الظاهر على الوجه الذي تبدو آثارُه ولا يُخفى (من البَرَان: الظهور)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2000250"/>
            <a:ext cx="542925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رَعَتْ: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أقلقت وأفزعت وأتعبت — راعت كبدي أي ملأتها وجَدًا وفزعًا من الشوق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609850"/>
            <a:ext cx="542925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إشفاقي: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خوفي ووجلي وحرصي عليهم — أشدُّ الخوف ممزوجًا بالحنوّ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2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25" b="0">
                <a:solidFill>
                  <a:srgbClr val="333333"/>
                </a:solidFill>
                <a:latin typeface="Cairo"/>
                <a:cs typeface="Cairo"/>
              </a:rPr>
              <a:t> أن يجيب عن أسئلة الاستيعاب ويوضّح معاني الكلمات من خلال سياقها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66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668" b="1">
                <a:solidFill>
                  <a:srgbClr val="333333"/>
                </a:solidFill>
                <a:latin typeface="Cairo"/>
                <a:cs typeface="Cairo"/>
              </a:rPr>
              <a:t>يلخّص الطالب في جملة واحدة:</a:t>
            </a:r>
            <a:r>
              <a:rPr sz="1668" b="0">
                <a:solidFill>
                  <a:srgbClr val="333333"/>
                </a:solidFill>
                <a:latin typeface="Cairo"/>
                <a:cs typeface="Cairo"/>
              </a:rPr>
              <a:t> ما القضية التي عالجها الشاعر؟ وما الأمل الذي ختم به قصيدته؟</a:t>
            </a:r>
          </a:p>
          <a:p>
            <a:pPr algn="r" rtl="1">
              <a:lnSpc>
                <a:spcPct val="145000"/>
              </a:lnSpc>
            </a:pPr>
            <a:r>
              <a:rPr sz="1668" b="1">
                <a:solidFill>
                  <a:srgbClr val="333333"/>
                </a:solidFill>
                <a:latin typeface="Cairo"/>
                <a:cs typeface="Cairo"/>
              </a:rPr>
              <a:t>ثم يعبّر بأسلوبه:</a:t>
            </a:r>
            <a:r>
              <a:rPr sz="1668" b="0">
                <a:solidFill>
                  <a:srgbClr val="333333"/>
                </a:solidFill>
                <a:latin typeface="Cairo"/>
                <a:cs typeface="Cairo"/>
              </a:rPr>
              <a:t> أعد صياغة البيت الأخير «لا بُدَّ لِلضِّيقِ...» بلغتك اليومية</a:t>
            </a:r>
          </a:p>
          <a:p>
            <a:pPr algn="r" rtl="1">
              <a:lnSpc>
                <a:spcPct val="145000"/>
              </a:lnSpc>
            </a:pPr>
            <a:r>
              <a:rPr sz="1668" b="1">
                <a:solidFill>
                  <a:srgbClr val="C00000"/>
                </a:solidFill>
                <a:latin typeface="Cairo"/>
                <a:cs typeface="Cairo"/>
              </a:rPr>
              <a:t>الواجب المنزلي:</a:t>
            </a:r>
            <a:r>
              <a:rPr sz="1668" b="0">
                <a:solidFill>
                  <a:srgbClr val="C00000"/>
                </a:solidFill>
                <a:latin typeface="Cairo"/>
                <a:cs typeface="Cairo"/>
              </a:rPr>
              <a:t> اقرأ الأبيات 8-16 غيبًا محاولًا، وحُلَّ سؤال الفهم (1) ص84 في دفترك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https://uw3vlhc2of5wm.kimi.pro/banks/g12-ghurba-2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