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uw3vlhc2of5wm.kimi.pro/banks/g12-ghurba-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cover.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334000" y="1428750"/>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Year 12</a:t>
            </a:r>
          </a:p>
        </p:txBody>
      </p:sp>
      <p:sp>
        <p:nvSpPr>
          <p:cNvPr id="4" name="TextBox 3"/>
          <p:cNvSpPr txBox="1"/>
          <p:nvPr/>
        </p:nvSpPr>
        <p:spPr>
          <a:xfrm>
            <a:off x="5334000" y="1857375"/>
            <a:ext cx="3429000" cy="381000"/>
          </a:xfrm>
          <a:prstGeom prst="rect">
            <a:avLst/>
          </a:prstGeom>
          <a:noFill/>
        </p:spPr>
        <p:txBody>
          <a:bodyPr wrap="square" lIns="0" rIns="0" tIns="0" bIns="0" anchor="ctr">
            <a:spAutoFit/>
          </a:bodyPr>
          <a:lstStyle/>
          <a:p>
            <a:pPr algn="ctr" rtl="1">
              <a:lnSpc>
                <a:spcPct val="135000"/>
              </a:lnSpc>
            </a:pPr>
            <a:r>
              <a:rPr sz="1600" b="1">
                <a:solidFill>
                  <a:srgbClr val="335693"/>
                </a:solidFill>
                <a:latin typeface="Cairo"/>
                <a:cs typeface="Cairo"/>
              </a:rPr>
              <a:t>Subject: Arabic</a:t>
            </a:r>
          </a:p>
        </p:txBody>
      </p:sp>
      <p:sp>
        <p:nvSpPr>
          <p:cNvPr id="5" name="TextBox 4"/>
          <p:cNvSpPr txBox="1"/>
          <p:nvPr/>
        </p:nvSpPr>
        <p:spPr>
          <a:xfrm>
            <a:off x="5334000" y="2286000"/>
            <a:ext cx="3429000" cy="419100"/>
          </a:xfrm>
          <a:prstGeom prst="rect">
            <a:avLst/>
          </a:prstGeom>
          <a:noFill/>
        </p:spPr>
        <p:txBody>
          <a:bodyPr wrap="square" lIns="0" rIns="0" tIns="0" bIns="0" anchor="ctr">
            <a:spAutoFit/>
          </a:bodyPr>
          <a:lstStyle/>
          <a:p>
            <a:pPr algn="ctr" rtl="1">
              <a:lnSpc>
                <a:spcPct val="135000"/>
              </a:lnSpc>
            </a:pPr>
            <a:r>
              <a:rPr sz="1662" b="1">
                <a:solidFill>
                  <a:srgbClr val="335693"/>
                </a:solidFill>
                <a:latin typeface="Cairo"/>
                <a:cs typeface="Cairo"/>
              </a:rPr>
              <a:t>Lesson: Reading: Ghurba wa Hanin (3)</a:t>
            </a:r>
          </a:p>
        </p:txBody>
      </p:sp>
      <p:sp>
        <p:nvSpPr>
          <p:cNvPr id="6" name="TextBox 5"/>
          <p:cNvSpPr txBox="1"/>
          <p:nvPr/>
        </p:nvSpPr>
        <p:spPr>
          <a:xfrm>
            <a:off x="1143000" y="3048000"/>
            <a:ext cx="7620000" cy="857250"/>
          </a:xfrm>
          <a:prstGeom prst="rect">
            <a:avLst/>
          </a:prstGeom>
          <a:noFill/>
        </p:spPr>
        <p:txBody>
          <a:bodyPr wrap="square" lIns="0" rIns="0" tIns="0" bIns="0" anchor="ctr">
            <a:spAutoFit/>
          </a:bodyPr>
          <a:lstStyle/>
          <a:p>
            <a:pPr algn="ctr" rtl="1">
              <a:lnSpc>
                <a:spcPct val="125000"/>
              </a:lnSpc>
            </a:pPr>
            <a:r>
              <a:rPr sz="3562" b="1">
                <a:solidFill>
                  <a:srgbClr val="C00000"/>
                </a:solidFill>
                <a:latin typeface="Cairo"/>
                <a:cs typeface="Cairo"/>
              </a:rPr>
              <a:t>غربة وحنين</a:t>
            </a:r>
          </a:p>
        </p:txBody>
      </p:sp>
      <p:sp>
        <p:nvSpPr>
          <p:cNvPr id="7" name="TextBox 6"/>
          <p:cNvSpPr txBox="1"/>
          <p:nvPr/>
        </p:nvSpPr>
        <p:spPr>
          <a:xfrm>
            <a:off x="1143000" y="3952875"/>
            <a:ext cx="7620000" cy="428625"/>
          </a:xfrm>
          <a:prstGeom prst="rect">
            <a:avLst/>
          </a:prstGeom>
          <a:noFill/>
        </p:spPr>
        <p:txBody>
          <a:bodyPr wrap="square" lIns="0" rIns="0" tIns="0" bIns="0" anchor="ctr">
            <a:spAutoFit/>
          </a:bodyPr>
          <a:lstStyle/>
          <a:p>
            <a:pPr algn="ctr" rtl="1">
              <a:lnSpc>
                <a:spcPct val="140000"/>
              </a:lnSpc>
            </a:pPr>
            <a:r>
              <a:rPr sz="1737" b="1">
                <a:solidFill>
                  <a:srgbClr val="335693"/>
                </a:solidFill>
                <a:latin typeface="Cairo"/>
                <a:cs typeface="Cairo"/>
              </a:rPr>
              <a:t>لمحمود سامي البارودي — الوحدة الثانية — الحصة الثالثة — ص 83-86</a:t>
            </a:r>
          </a:p>
        </p:txBody>
      </p:sp>
      <p:sp>
        <p:nvSpPr>
          <p:cNvPr id="8" name="TextBox 7"/>
          <p:cNvSpPr txBox="1"/>
          <p:nvPr/>
        </p:nvSpPr>
        <p:spPr>
          <a:xfrm>
            <a:off x="1143000" y="4429125"/>
            <a:ext cx="7620000" cy="381000"/>
          </a:xfrm>
          <a:prstGeom prst="rect">
            <a:avLst/>
          </a:prstGeom>
          <a:noFill/>
        </p:spPr>
        <p:txBody>
          <a:bodyPr wrap="square" lIns="0" rIns="0" tIns="0" bIns="0" anchor="ctr">
            <a:spAutoFit/>
          </a:bodyPr>
          <a:lstStyle/>
          <a:p>
            <a:pPr algn="ctr" rtl="1">
              <a:lnSpc>
                <a:spcPct val="140000"/>
              </a:lnSpc>
            </a:pPr>
            <a:r>
              <a:rPr sz="1562" b="0">
                <a:solidFill>
                  <a:srgbClr val="555555"/>
                </a:solidFill>
                <a:latin typeface="Cairo"/>
                <a:cs typeface="Cairo"/>
              </a:rPr>
              <a:t>للدكتور أحمد كمال أبو المجد (بتصرف) — الوحدة الثانية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أهداف الحصة</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في نهاية هذه الحصة سيكون الطالب قادرًا على أن:</a:t>
            </a:r>
          </a:p>
        </p:txBody>
      </p:sp>
      <p:sp>
        <p:nvSpPr>
          <p:cNvPr id="6" name="Rounded Rectangle 5"/>
          <p:cNvSpPr/>
          <p:nvPr/>
        </p:nvSpPr>
        <p:spPr>
          <a:xfrm>
            <a:off x="857250" y="12001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57300"/>
            <a:ext cx="6953250" cy="762000"/>
          </a:xfrm>
          <a:prstGeom prst="rect">
            <a:avLst/>
          </a:prstGeom>
          <a:noFill/>
        </p:spPr>
        <p:txBody>
          <a:bodyPr wrap="square" lIns="0" rIns="0" tIns="0" bIns="0" anchor="ctr">
            <a:spAutoFit/>
          </a:bodyPr>
          <a:lstStyle/>
          <a:p>
            <a:pPr algn="r" rtl="1">
              <a:lnSpc>
                <a:spcPct val="135000"/>
              </a:lnSpc>
            </a:pPr>
            <a:r>
              <a:rPr sz="1625" b="1">
                <a:solidFill>
                  <a:srgbClr val="333333"/>
                </a:solidFill>
                <a:latin typeface="Cairo"/>
                <a:cs typeface="Cairo"/>
              </a:rPr>
              <a:t>1-</a:t>
            </a:r>
            <a:r>
              <a:rPr sz="1625" b="0">
                <a:solidFill>
                  <a:srgbClr val="333333"/>
                </a:solidFill>
                <a:latin typeface="Cairo"/>
                <a:cs typeface="Cairo"/>
              </a:rPr>
              <a:t> يفرّقَ بين «الصَّبْا» و«الصَّبَا»، ويشرحَ دلالةَ الصيغ، ويوظّفَ الكلماتِ في سياقات من إنشائه</a:t>
            </a:r>
          </a:p>
        </p:txBody>
      </p:sp>
      <p:sp>
        <p:nvSpPr>
          <p:cNvPr id="8" name="Rounded Rectangle 7"/>
          <p:cNvSpPr/>
          <p:nvPr/>
        </p:nvSpPr>
        <p:spPr>
          <a:xfrm>
            <a:off x="857250" y="21907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247900"/>
            <a:ext cx="6953250" cy="76200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2-</a:t>
            </a:r>
            <a:r>
              <a:rPr sz="1875" b="0">
                <a:solidFill>
                  <a:srgbClr val="333333"/>
                </a:solidFill>
                <a:latin typeface="Cairo"/>
                <a:cs typeface="Cairo"/>
              </a:rPr>
              <a:t> يحدّدَ الأفكارَ الرئيسةَ للمقاطع والأبيات، ويحلّلَ العاطفةَ والمبدأَ في النص</a:t>
            </a:r>
          </a:p>
        </p:txBody>
      </p:sp>
      <p:sp>
        <p:nvSpPr>
          <p:cNvPr id="10" name="Rounded Rectangle 9"/>
          <p:cNvSpPr/>
          <p:nvPr/>
        </p:nvSpPr>
        <p:spPr>
          <a:xfrm>
            <a:off x="857250" y="3181350"/>
            <a:ext cx="7429500" cy="8763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238500"/>
            <a:ext cx="6953250" cy="762000"/>
          </a:xfrm>
          <a:prstGeom prst="rect">
            <a:avLst/>
          </a:prstGeom>
          <a:noFill/>
        </p:spPr>
        <p:txBody>
          <a:bodyPr wrap="square" lIns="0" rIns="0" tIns="0" bIns="0" anchor="ctr">
            <a:spAutoFit/>
          </a:bodyPr>
          <a:lstStyle/>
          <a:p>
            <a:pPr algn="r" rtl="1">
              <a:lnSpc>
                <a:spcPct val="135000"/>
              </a:lnSpc>
            </a:pPr>
            <a:r>
              <a:rPr sz="1675" b="1">
                <a:solidFill>
                  <a:srgbClr val="333333"/>
                </a:solidFill>
                <a:latin typeface="Cairo"/>
                <a:cs typeface="Cairo"/>
              </a:rPr>
              <a:t>3-</a:t>
            </a:r>
            <a:r>
              <a:rPr sz="1675" b="0">
                <a:solidFill>
                  <a:srgbClr val="333333"/>
                </a:solidFill>
                <a:latin typeface="Cairo"/>
                <a:cs typeface="Cairo"/>
              </a:rPr>
              <a:t> يتذوّقَ الصورَ والأساليبَ والإيقاعَ، ويدلّلَ على سمات المدرسة الإحيائية في القصيدة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تدريب علاجي</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800" b="1">
                <a:solidFill>
                  <a:srgbClr val="335693"/>
                </a:solidFill>
                <a:latin typeface="Cairo"/>
                <a:cs typeface="Cairo"/>
              </a:rPr>
              <a:t>أسئلة تُنعش ذاكرتك… أجب في دفترك خلال 3 دقائق</a:t>
            </a:r>
          </a:p>
        </p:txBody>
      </p:sp>
      <p:sp>
        <p:nvSpPr>
          <p:cNvPr id="6" name="Rounded Rectangle 5"/>
          <p:cNvSpPr/>
          <p:nvPr/>
        </p:nvSpPr>
        <p:spPr>
          <a:xfrm>
            <a:off x="571500" y="1123950"/>
            <a:ext cx="8001000" cy="1085850"/>
          </a:xfrm>
          <a:prstGeom prst="roundRect">
            <a:avLst>
              <a:gd name="adj" fmla="val 12000"/>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1500" y="11239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12001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نقطة</a:t>
            </a:r>
          </a:p>
        </p:txBody>
      </p:sp>
      <p:sp>
        <p:nvSpPr>
          <p:cNvPr id="9" name="TextBox 8"/>
          <p:cNvSpPr txBox="1"/>
          <p:nvPr/>
        </p:nvSpPr>
        <p:spPr>
          <a:xfrm>
            <a:off x="1952625" y="12001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ما مرادف «البَيْن»؟</a:t>
            </a:r>
          </a:p>
        </p:txBody>
      </p:sp>
      <p:sp>
        <p:nvSpPr>
          <p:cNvPr id="10" name="Rounded Rectangle 9"/>
          <p:cNvSpPr/>
          <p:nvPr/>
        </p:nvSpPr>
        <p:spPr>
          <a:xfrm>
            <a:off x="571500" y="2343150"/>
            <a:ext cx="8001000" cy="1085850"/>
          </a:xfrm>
          <a:prstGeom prst="roundRect">
            <a:avLst>
              <a:gd name="adj" fmla="val 12000"/>
            </a:avLst>
          </a:prstGeom>
          <a:solidFill>
            <a:srgbClr val="FCE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1500" y="23431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0550" y="24193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نقطتان</a:t>
            </a:r>
          </a:p>
        </p:txBody>
      </p:sp>
      <p:sp>
        <p:nvSpPr>
          <p:cNvPr id="13" name="TextBox 12"/>
          <p:cNvSpPr txBox="1"/>
          <p:nvPr/>
        </p:nvSpPr>
        <p:spPr>
          <a:xfrm>
            <a:off x="1952625" y="24193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ما معنى «غروب»؟</a:t>
            </a:r>
          </a:p>
        </p:txBody>
      </p:sp>
      <p:sp>
        <p:nvSpPr>
          <p:cNvPr id="14" name="Rounded Rectangle 13"/>
          <p:cNvSpPr/>
          <p:nvPr/>
        </p:nvSpPr>
        <p:spPr>
          <a:xfrm>
            <a:off x="571500" y="3562350"/>
            <a:ext cx="8001000" cy="1085850"/>
          </a:xfrm>
          <a:prstGeom prst="roundRect">
            <a:avLst>
              <a:gd name="adj" fmla="val 12000"/>
            </a:avLst>
          </a:prstGeom>
          <a:solidFill>
            <a:srgbClr val="F4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71500" y="3562350"/>
            <a:ext cx="1238250" cy="1085850"/>
          </a:xfrm>
          <a:prstGeom prst="roundRect">
            <a:avLst>
              <a:gd name="adj" fmla="val 12000"/>
            </a:avLst>
          </a:prstGeom>
          <a:solidFill>
            <a:srgbClr val="BF9E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0550" y="3638550"/>
            <a:ext cx="1200150" cy="933450"/>
          </a:xfrm>
          <a:prstGeom prst="rect">
            <a:avLst/>
          </a:prstGeom>
          <a:noFill/>
        </p:spPr>
        <p:txBody>
          <a:bodyPr wrap="square" lIns="0" rIns="0" tIns="0" bIns="0" anchor="ctr">
            <a:spAutoFit/>
          </a:bodyPr>
          <a:lstStyle/>
          <a:p>
            <a:pPr algn="ctr" rtl="1">
              <a:lnSpc>
                <a:spcPct val="135000"/>
              </a:lnSpc>
            </a:pPr>
            <a:r>
              <a:rPr sz="1781" b="1">
                <a:solidFill>
                  <a:srgbClr val="FFFFFF"/>
                </a:solidFill>
                <a:latin typeface="Cairo"/>
                <a:cs typeface="Cairo"/>
              </a:rPr>
              <a:t>ثلاث نقاط</a:t>
            </a:r>
          </a:p>
        </p:txBody>
      </p:sp>
      <p:sp>
        <p:nvSpPr>
          <p:cNvPr id="17" name="TextBox 16"/>
          <p:cNvSpPr txBox="1"/>
          <p:nvPr/>
        </p:nvSpPr>
        <p:spPr>
          <a:xfrm>
            <a:off x="1952625" y="3638550"/>
            <a:ext cx="6477000" cy="933450"/>
          </a:xfrm>
          <a:prstGeom prst="rect">
            <a:avLst/>
          </a:prstGeom>
          <a:noFill/>
        </p:spPr>
        <p:txBody>
          <a:bodyPr wrap="square" lIns="0" rIns="0" tIns="0" bIns="0" anchor="ctr">
            <a:spAutoFit/>
          </a:bodyPr>
          <a:lstStyle/>
          <a:p>
            <a:pPr algn="r" rtl="1">
              <a:lnSpc>
                <a:spcPct val="135000"/>
              </a:lnSpc>
            </a:pPr>
            <a:r>
              <a:rPr sz="1968" b="1">
                <a:solidFill>
                  <a:srgbClr val="333333"/>
                </a:solidFill>
                <a:latin typeface="Cairo"/>
                <a:cs typeface="Cairo"/>
              </a:rPr>
              <a:t>تلُّ بيتًا من المقطع (ج) أو (د)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975" b="1">
                <a:solidFill>
                  <a:srgbClr val="FFFFFF"/>
                </a:solidFill>
                <a:latin typeface="Cairo"/>
                <a:cs typeface="Cairo"/>
              </a:rPr>
              <a:t>لغة النص (3) — ص83: الفرق بين «الصَّبْا» و«الصَّبَا»</a:t>
            </a:r>
          </a:p>
        </p:txBody>
      </p:sp>
      <p:pic>
        <p:nvPicPr>
          <p:cNvPr id="5" name="Picture 4" descr="lug3.png"/>
          <p:cNvPicPr>
            <a:picLocks noChangeAspect="1"/>
          </p:cNvPicPr>
          <p:nvPr/>
        </p:nvPicPr>
        <p:blipFill>
          <a:blip r:embed="rId4"/>
          <a:stretch>
            <a:fillRect/>
          </a:stretch>
        </p:blipFill>
        <p:spPr>
          <a:xfrm>
            <a:off x="476250" y="705283"/>
            <a:ext cx="8191500" cy="2494684"/>
          </a:xfrm>
          <a:prstGeom prst="rect">
            <a:avLst/>
          </a:prstGeom>
        </p:spPr>
      </p:pic>
      <p:sp>
        <p:nvSpPr>
          <p:cNvPr id="6" name="TextBox 5"/>
          <p:cNvSpPr txBox="1"/>
          <p:nvPr/>
        </p:nvSpPr>
        <p:spPr>
          <a:xfrm>
            <a:off x="885825" y="2124075"/>
            <a:ext cx="5505450"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الصَّبْا:</a:t>
            </a:r>
            <a:r>
              <a:rPr sz="1218" b="0">
                <a:solidFill>
                  <a:srgbClr val="335693"/>
                </a:solidFill>
                <a:latin typeface="Cairo"/>
                <a:cs typeface="Cairo"/>
              </a:rPr>
              <a:t> الميلُ والهوى وهيجانُ الغرام — ميلُ القلب إلى المحبوب</a:t>
            </a:r>
          </a:p>
        </p:txBody>
      </p:sp>
      <p:sp>
        <p:nvSpPr>
          <p:cNvPr id="7" name="TextBox 6"/>
          <p:cNvSpPr txBox="1"/>
          <p:nvPr/>
        </p:nvSpPr>
        <p:spPr>
          <a:xfrm>
            <a:off x="885825" y="2514600"/>
            <a:ext cx="5505450"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الصَّبَا:</a:t>
            </a:r>
            <a:r>
              <a:rPr sz="1218" b="0">
                <a:solidFill>
                  <a:srgbClr val="335693"/>
                </a:solidFill>
                <a:latin typeface="Cairo"/>
                <a:cs typeface="Cairo"/>
              </a:rPr>
              <a:t> الريحُ الليِّنةُ التي تهبُّ من جهة الشرق (الصُّبْح)</a:t>
            </a:r>
          </a:p>
        </p:txBody>
      </p:sp>
      <p:sp>
        <p:nvSpPr>
          <p:cNvPr id="8" name="TextBox 7"/>
          <p:cNvSpPr txBox="1"/>
          <p:nvPr/>
        </p:nvSpPr>
        <p:spPr>
          <a:xfrm>
            <a:off x="885825" y="2943225"/>
            <a:ext cx="5505450" cy="285750"/>
          </a:xfrm>
          <a:prstGeom prst="rect">
            <a:avLst/>
          </a:prstGeom>
          <a:noFill/>
        </p:spPr>
        <p:txBody>
          <a:bodyPr wrap="square" lIns="0" rIns="0" tIns="0" bIns="0" anchor="ctr">
            <a:spAutoFit/>
          </a:bodyPr>
          <a:lstStyle/>
          <a:p>
            <a:pPr algn="r" rtl="1">
              <a:lnSpc>
                <a:spcPct val="125000"/>
              </a:lnSpc>
            </a:pPr>
            <a:r>
              <a:rPr sz="1118" b="1">
                <a:solidFill>
                  <a:srgbClr val="335693"/>
                </a:solidFill>
                <a:latin typeface="Cairo"/>
                <a:cs typeface="Cairo"/>
              </a:rPr>
              <a:t>أنسبهما:</a:t>
            </a:r>
            <a:r>
              <a:rPr sz="1118" b="0">
                <a:solidFill>
                  <a:srgbClr val="335693"/>
                </a:solidFill>
                <a:latin typeface="Cairo"/>
                <a:cs typeface="Cairo"/>
              </a:rPr>
              <a:t> «الصَّبَا» الريح — جعلها الشاعر رسولًا يبلّغ ذوي رحمه وفاءه: «يا بريدَ الصَّبَا بلِّغْ ذوي رَحِمي»</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925" b="1">
                <a:solidFill>
                  <a:srgbClr val="FFFFFF"/>
                </a:solidFill>
                <a:latin typeface="Cairo"/>
                <a:cs typeface="Cairo"/>
              </a:rPr>
              <a:t>لغة النص (4) — ص83: دلالة صيغة (تذكَّرتُ - تحدَّرتُ)</a:t>
            </a:r>
          </a:p>
        </p:txBody>
      </p:sp>
      <p:pic>
        <p:nvPicPr>
          <p:cNvPr id="5" name="Picture 4" descr="lug4.png"/>
          <p:cNvPicPr>
            <a:picLocks noChangeAspect="1"/>
          </p:cNvPicPr>
          <p:nvPr/>
        </p:nvPicPr>
        <p:blipFill>
          <a:blip r:embed="rId4"/>
          <a:stretch>
            <a:fillRect/>
          </a:stretch>
        </p:blipFill>
        <p:spPr>
          <a:xfrm>
            <a:off x="476250" y="757670"/>
            <a:ext cx="8191500" cy="1265959"/>
          </a:xfrm>
          <a:prstGeom prst="rect">
            <a:avLst/>
          </a:prstGeom>
        </p:spPr>
      </p:pic>
      <p:sp>
        <p:nvSpPr>
          <p:cNvPr id="6" name="TextBox 5"/>
          <p:cNvSpPr txBox="1"/>
          <p:nvPr/>
        </p:nvSpPr>
        <p:spPr>
          <a:xfrm>
            <a:off x="590550" y="2228850"/>
            <a:ext cx="7962900" cy="781050"/>
          </a:xfrm>
          <a:prstGeom prst="rect">
            <a:avLst/>
          </a:prstGeom>
          <a:noFill/>
        </p:spPr>
        <p:txBody>
          <a:bodyPr wrap="square" lIns="0" rIns="0" tIns="0" bIns="0" anchor="ctr">
            <a:spAutoFit/>
          </a:bodyPr>
          <a:lstStyle/>
          <a:p>
            <a:pPr algn="r" rtl="1">
              <a:lnSpc>
                <a:spcPct val="125000"/>
              </a:lnSpc>
            </a:pPr>
            <a:r>
              <a:rPr sz="1312" b="0">
                <a:solidFill>
                  <a:srgbClr val="335693"/>
                </a:solidFill>
                <a:latin typeface="Cairo"/>
                <a:cs typeface="Cairo"/>
              </a:rPr>
              <a:t>صيغة </a:t>
            </a:r>
            <a:r>
              <a:rPr sz="1312" b="1">
                <a:solidFill>
                  <a:srgbClr val="335693"/>
                </a:solidFill>
                <a:latin typeface="Cairo"/>
                <a:cs typeface="Cairo"/>
              </a:rPr>
              <a:t>(تَفَعَّلَ)</a:t>
            </a:r>
            <a:r>
              <a:rPr sz="1312" b="0">
                <a:solidFill>
                  <a:srgbClr val="335693"/>
                </a:solidFill>
                <a:latin typeface="Cairo"/>
                <a:cs typeface="Cairo"/>
              </a:rPr>
              <a:t> في الفعلين تفيد </a:t>
            </a:r>
            <a:r>
              <a:rPr sz="1312" b="1">
                <a:solidFill>
                  <a:srgbClr val="335693"/>
                </a:solidFill>
                <a:latin typeface="Cairo"/>
                <a:cs typeface="Cairo"/>
              </a:rPr>
              <a:t>التدرُّج والتتابُع</a:t>
            </a:r>
            <a:r>
              <a:rPr sz="1312" b="0">
                <a:solidFill>
                  <a:srgbClr val="335693"/>
                </a:solidFill>
                <a:latin typeface="Cairo"/>
                <a:cs typeface="Cairo"/>
              </a:rPr>
              <a:t>: تذكَّرتُ = جعلت نفسي أتذكّر الأيام شيئًا فشيئًا، وتحدَّرتْ = انحدرت الدموعُ وتتابعت قطراتُها — تصويرٌ لاستسلام الشاعر لذكرياته وانهيار دموعه</a:t>
            </a:r>
          </a:p>
        </p:txBody>
      </p:sp>
      <p:sp>
        <p:nvSpPr>
          <p:cNvPr id="7" name="TextBox 6"/>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لغة النص (5) — ص83: توظيف الكلمتين في سياق مختلف (إنتاجي)</a:t>
            </a:r>
          </a:p>
        </p:txBody>
      </p:sp>
      <p:pic>
        <p:nvPicPr>
          <p:cNvPr id="5" name="Picture 4" descr="lug5.png"/>
          <p:cNvPicPr>
            <a:picLocks noChangeAspect="1"/>
          </p:cNvPicPr>
          <p:nvPr/>
        </p:nvPicPr>
        <p:blipFill>
          <a:blip r:embed="rId4"/>
          <a:stretch>
            <a:fillRect/>
          </a:stretch>
        </p:blipFill>
        <p:spPr>
          <a:xfrm>
            <a:off x="476250" y="747280"/>
            <a:ext cx="8191500" cy="2010641"/>
          </a:xfrm>
          <a:prstGeom prst="rect">
            <a:avLst/>
          </a:prstGeom>
        </p:spPr>
      </p:pic>
      <p:sp>
        <p:nvSpPr>
          <p:cNvPr id="6" name="TextBox 5"/>
          <p:cNvSpPr txBox="1"/>
          <p:nvPr/>
        </p:nvSpPr>
        <p:spPr>
          <a:xfrm>
            <a:off x="885825" y="2105025"/>
            <a:ext cx="5505450"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عليلًا:</a:t>
            </a:r>
            <a:r>
              <a:rPr sz="1218" b="0">
                <a:solidFill>
                  <a:srgbClr val="335693"/>
                </a:solidFill>
                <a:latin typeface="Cairo"/>
                <a:cs typeface="Cairo"/>
              </a:rPr>
              <a:t> «عاد الغائبُ إلى أهله عليلًا بعد طول الغربة» (نموذج إجابة)</a:t>
            </a:r>
          </a:p>
        </p:txBody>
      </p:sp>
      <p:sp>
        <p:nvSpPr>
          <p:cNvPr id="7" name="TextBox 6"/>
          <p:cNvSpPr txBox="1"/>
          <p:nvPr/>
        </p:nvSpPr>
        <p:spPr>
          <a:xfrm>
            <a:off x="885825" y="2476500"/>
            <a:ext cx="5505450"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غروب:</a:t>
            </a:r>
            <a:r>
              <a:rPr sz="1218" b="0">
                <a:solidFill>
                  <a:srgbClr val="335693"/>
                </a:solidFill>
                <a:latin typeface="Cairo"/>
                <a:cs typeface="Cairo"/>
              </a:rPr>
              <a:t> «ذرفَ الطفلُ غروبَ عينيه عند فراق أُمِّه» (نموذج إجابة)</a:t>
            </a:r>
          </a:p>
        </p:txBody>
      </p:sp>
      <p:sp>
        <p:nvSpPr>
          <p:cNvPr id="8" name="TextBox 7"/>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75" b="1">
                <a:solidFill>
                  <a:srgbClr val="FFFFFF"/>
                </a:solidFill>
                <a:latin typeface="Cairo"/>
                <a:cs typeface="Cairo"/>
              </a:rPr>
              <a:t>الفهم والتحليل (1) — ص84: الفكرة الرئيسة لكل مقطع</a:t>
            </a:r>
          </a:p>
        </p:txBody>
      </p:sp>
      <p:pic>
        <p:nvPicPr>
          <p:cNvPr id="5" name="Picture 4" descr="fahm1.png"/>
          <p:cNvPicPr>
            <a:picLocks noChangeAspect="1"/>
          </p:cNvPicPr>
          <p:nvPr/>
        </p:nvPicPr>
        <p:blipFill>
          <a:blip r:embed="rId4"/>
          <a:stretch>
            <a:fillRect/>
          </a:stretch>
        </p:blipFill>
        <p:spPr>
          <a:xfrm>
            <a:off x="476250" y="596710"/>
            <a:ext cx="8191500" cy="2235579"/>
          </a:xfrm>
          <a:prstGeom prst="rect">
            <a:avLst/>
          </a:prstGeom>
        </p:spPr>
      </p:pic>
      <p:sp>
        <p:nvSpPr>
          <p:cNvPr id="6" name="TextBox 5"/>
          <p:cNvSpPr txBox="1"/>
          <p:nvPr/>
        </p:nvSpPr>
        <p:spPr>
          <a:xfrm>
            <a:off x="676275" y="1162050"/>
            <a:ext cx="5829300" cy="4286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الأول (1-4):</a:t>
            </a:r>
            <a:r>
              <a:rPr sz="1125" b="0">
                <a:solidFill>
                  <a:srgbClr val="335693"/>
                </a:solidFill>
                <a:latin typeface="Cairo"/>
                <a:cs typeface="Cairo"/>
              </a:rPr>
              <a:t> شكوى الشاعر شدّةَ الوجد والحزن وفراقَ الأحبّة: «حتى جرى البينُ فاستولى على الباقي»</a:t>
            </a:r>
          </a:p>
        </p:txBody>
      </p:sp>
      <p:sp>
        <p:nvSpPr>
          <p:cNvPr id="7" name="TextBox 6"/>
          <p:cNvSpPr txBox="1"/>
          <p:nvPr/>
        </p:nvSpPr>
        <p:spPr>
          <a:xfrm>
            <a:off x="676275" y="1733550"/>
            <a:ext cx="5829300" cy="4286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الثاني (5-7):</a:t>
            </a:r>
            <a:r>
              <a:rPr sz="1125" b="0">
                <a:solidFill>
                  <a:srgbClr val="335693"/>
                </a:solidFill>
                <a:latin typeface="Cairo"/>
                <a:cs typeface="Cairo"/>
              </a:rPr>
              <a:t> سهرُه وأرقُه في المنفى ومراقبتُه النجومَ في لوحة فنية بديعة</a:t>
            </a:r>
          </a:p>
        </p:txBody>
      </p:sp>
      <p:sp>
        <p:nvSpPr>
          <p:cNvPr id="8" name="TextBox 7"/>
          <p:cNvSpPr txBox="1"/>
          <p:nvPr/>
        </p:nvSpPr>
        <p:spPr>
          <a:xfrm>
            <a:off x="676275" y="2276475"/>
            <a:ext cx="5829300" cy="4286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الرابع (13-16):</a:t>
            </a:r>
            <a:r>
              <a:rPr sz="1125" b="0">
                <a:solidFill>
                  <a:srgbClr val="335693"/>
                </a:solidFill>
                <a:latin typeface="Cairo"/>
                <a:cs typeface="Cairo"/>
              </a:rPr>
              <a:t> ثباتُه وصلابتُه وإيمانُه بالمبدأ وأملُه بالفرج والعودة</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الفهم والتحليل (2) — ص84: فكرة كل بيت من الأبيات المحددة</a:t>
            </a:r>
          </a:p>
        </p:txBody>
      </p:sp>
      <p:pic>
        <p:nvPicPr>
          <p:cNvPr id="5" name="Picture 4" descr="fahm2.png"/>
          <p:cNvPicPr>
            <a:picLocks noChangeAspect="1"/>
          </p:cNvPicPr>
          <p:nvPr/>
        </p:nvPicPr>
        <p:blipFill>
          <a:blip r:embed="rId4"/>
          <a:stretch>
            <a:fillRect/>
          </a:stretch>
        </p:blipFill>
        <p:spPr>
          <a:xfrm>
            <a:off x="659057" y="552450"/>
            <a:ext cx="7825887" cy="3143250"/>
          </a:xfrm>
          <a:prstGeom prst="rect">
            <a:avLst/>
          </a:prstGeom>
        </p:spPr>
      </p:pic>
      <p:sp>
        <p:nvSpPr>
          <p:cNvPr id="6" name="TextBox 5"/>
          <p:cNvSpPr txBox="1"/>
          <p:nvPr/>
        </p:nvSpPr>
        <p:spPr>
          <a:xfrm>
            <a:off x="847725" y="1600200"/>
            <a:ext cx="5562600" cy="3524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البيت 4:</a:t>
            </a:r>
            <a:r>
              <a:rPr sz="1125" b="0">
                <a:solidFill>
                  <a:srgbClr val="335693"/>
                </a:solidFill>
                <a:latin typeface="Cairo"/>
                <a:cs typeface="Cairo"/>
              </a:rPr>
              <a:t> تكلُّفُه الصبرَ على فراق الحبيب رغم جزع نفسه</a:t>
            </a:r>
          </a:p>
        </p:txBody>
      </p:sp>
      <p:sp>
        <p:nvSpPr>
          <p:cNvPr id="7" name="TextBox 6"/>
          <p:cNvSpPr txBox="1"/>
          <p:nvPr/>
        </p:nvSpPr>
        <p:spPr>
          <a:xfrm>
            <a:off x="847725" y="2124075"/>
            <a:ext cx="5562600" cy="3524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البيت 9:</a:t>
            </a:r>
            <a:r>
              <a:rPr sz="1125" b="0">
                <a:solidFill>
                  <a:srgbClr val="335693"/>
                </a:solidFill>
                <a:latin typeface="Cairo"/>
                <a:cs typeface="Cairo"/>
              </a:rPr>
              <a:t> حنينُه إلى أماكن صباه: مرعى جياده ومأوى جيرته ومجامع قومه</a:t>
            </a:r>
          </a:p>
        </p:txBody>
      </p:sp>
      <p:sp>
        <p:nvSpPr>
          <p:cNvPr id="8" name="TextBox 7"/>
          <p:cNvSpPr txBox="1"/>
          <p:nvPr/>
        </p:nvSpPr>
        <p:spPr>
          <a:xfrm>
            <a:off x="847725" y="2647950"/>
            <a:ext cx="5562600" cy="3524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البيت 11:</a:t>
            </a:r>
            <a:r>
              <a:rPr sz="1125" b="0">
                <a:solidFill>
                  <a:srgbClr val="335693"/>
                </a:solidFill>
                <a:latin typeface="Cairo"/>
                <a:cs typeface="Cairo"/>
              </a:rPr>
              <a:t> انهمارُ دموعه كلما تذكّر الأيامَ الخوالي مع الأهل</a:t>
            </a:r>
          </a:p>
        </p:txBody>
      </p:sp>
      <p:sp>
        <p:nvSpPr>
          <p:cNvPr id="9" name="TextBox 8"/>
          <p:cNvSpPr txBox="1"/>
          <p:nvPr/>
        </p:nvSpPr>
        <p:spPr>
          <a:xfrm>
            <a:off x="847725" y="3171825"/>
            <a:ext cx="5562600" cy="3524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البيت 16:</a:t>
            </a:r>
            <a:r>
              <a:rPr sz="1125" b="0">
                <a:solidFill>
                  <a:srgbClr val="335693"/>
                </a:solidFill>
                <a:latin typeface="Cairo"/>
                <a:cs typeface="Cairo"/>
              </a:rPr>
              <a:t> يقينُه بأن الفرج آتٍ بعد الضيق كما يعقب الظلامَ الإشراق</a:t>
            </a:r>
          </a:p>
        </p:txBody>
      </p:sp>
      <p:sp>
        <p:nvSpPr>
          <p:cNvPr id="10" name="TextBox 9"/>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الفهم والتحليل (3) — ص84: هل يبرأ الإنسان من حب الوطن؟</a:t>
            </a:r>
          </a:p>
        </p:txBody>
      </p:sp>
      <p:pic>
        <p:nvPicPr>
          <p:cNvPr id="5" name="Picture 4" descr="fahm3.png"/>
          <p:cNvPicPr>
            <a:picLocks noChangeAspect="1"/>
          </p:cNvPicPr>
          <p:nvPr/>
        </p:nvPicPr>
        <p:blipFill>
          <a:blip r:embed="rId4"/>
          <a:stretch>
            <a:fillRect/>
          </a:stretch>
        </p:blipFill>
        <p:spPr>
          <a:xfrm>
            <a:off x="476250" y="747280"/>
            <a:ext cx="8191500" cy="1191491"/>
          </a:xfrm>
          <a:prstGeom prst="rect">
            <a:avLst/>
          </a:prstGeom>
        </p:spPr>
      </p:pic>
      <p:sp>
        <p:nvSpPr>
          <p:cNvPr id="6" name="TextBox 5"/>
          <p:cNvSpPr txBox="1"/>
          <p:nvPr/>
        </p:nvSpPr>
        <p:spPr>
          <a:xfrm>
            <a:off x="590550" y="2105025"/>
            <a:ext cx="7962900" cy="1076325"/>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لا يبرأ الإنسانُ من حب الوطن؛ فهو </a:t>
            </a:r>
            <a:r>
              <a:rPr sz="1218" b="1">
                <a:solidFill>
                  <a:srgbClr val="335693"/>
                </a:solidFill>
                <a:latin typeface="Cairo"/>
                <a:cs typeface="Cairo"/>
              </a:rPr>
              <a:t>فطرةٌ وغريزة</a:t>
            </a:r>
            <a:r>
              <a:rPr sz="1218" b="0">
                <a:solidFill>
                  <a:srgbClr val="335693"/>
                </a:solidFill>
                <a:latin typeface="Cairo"/>
                <a:cs typeface="Cairo"/>
              </a:rPr>
              <a:t> — </a:t>
            </a:r>
            <a:r>
              <a:rPr sz="1218" b="1">
                <a:solidFill>
                  <a:srgbClr val="335693"/>
                </a:solidFill>
                <a:latin typeface="Cairo"/>
                <a:cs typeface="Cairo"/>
              </a:rPr>
              <a:t>الدليل من النص:</a:t>
            </a:r>
            <a:r>
              <a:rPr sz="1218" b="0">
                <a:solidFill>
                  <a:srgbClr val="335693"/>
                </a:solidFill>
                <a:latin typeface="Cairo"/>
                <a:cs typeface="Cairo"/>
              </a:rPr>
              <a:t> الشاعر في منفاه أكثرَ من سبعة عشر عامًا وما زال حنينُه يشتدّ: يشتاق إلى مرعى جياده ومأوى جيرته وديار أهله، ويوصي ريحَ الصَّبَا أن تبلّغهم وفاءَه، ويظل يرجو العودة حتى آخر القصيدة</a:t>
            </a:r>
          </a:p>
        </p:txBody>
      </p:sp>
      <p:sp>
        <p:nvSpPr>
          <p:cNvPr id="7" name="TextBox 6"/>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الفهم والتحليل (4) — ص84: العاطفة في المقطع (ج) ودوافعها</a:t>
            </a:r>
          </a:p>
        </p:txBody>
      </p:sp>
      <p:pic>
        <p:nvPicPr>
          <p:cNvPr id="5" name="Picture 4" descr="fahm4.png"/>
          <p:cNvPicPr>
            <a:picLocks noChangeAspect="1"/>
          </p:cNvPicPr>
          <p:nvPr/>
        </p:nvPicPr>
        <p:blipFill>
          <a:blip r:embed="rId4"/>
          <a:stretch>
            <a:fillRect/>
          </a:stretch>
        </p:blipFill>
        <p:spPr>
          <a:xfrm>
            <a:off x="476250" y="727364"/>
            <a:ext cx="8191500" cy="2345748"/>
          </a:xfrm>
          <a:prstGeom prst="rect">
            <a:avLst/>
          </a:prstGeom>
        </p:spPr>
      </p:pic>
      <p:sp>
        <p:nvSpPr>
          <p:cNvPr id="6" name="TextBox 5"/>
          <p:cNvSpPr txBox="1"/>
          <p:nvPr/>
        </p:nvSpPr>
        <p:spPr>
          <a:xfrm>
            <a:off x="885825" y="1971675"/>
            <a:ext cx="5876925" cy="285750"/>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العاطفة:</a:t>
            </a:r>
            <a:r>
              <a:rPr sz="1125" b="0">
                <a:solidFill>
                  <a:srgbClr val="335693"/>
                </a:solidFill>
                <a:latin typeface="Cairo"/>
                <a:cs typeface="Cairo"/>
              </a:rPr>
              <a:t> الحنينُ والوجدُ — عاطفةُ الشوق إلى الوطن والأهل</a:t>
            </a:r>
          </a:p>
        </p:txBody>
      </p:sp>
      <p:sp>
        <p:nvSpPr>
          <p:cNvPr id="7" name="TextBox 6"/>
          <p:cNvSpPr txBox="1"/>
          <p:nvPr/>
        </p:nvSpPr>
        <p:spPr>
          <a:xfrm>
            <a:off x="885825" y="2400300"/>
            <a:ext cx="5876925" cy="285750"/>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دوافعها:</a:t>
            </a:r>
            <a:r>
              <a:rPr sz="1125" b="0">
                <a:solidFill>
                  <a:srgbClr val="335693"/>
                </a:solidFill>
                <a:latin typeface="Cairo"/>
                <a:cs typeface="Cairo"/>
              </a:rPr>
              <a:t> الغربةُ القسرية وطولُ البعد وذكرى الأيام الخوالي</a:t>
            </a:r>
          </a:p>
        </p:txBody>
      </p:sp>
      <p:sp>
        <p:nvSpPr>
          <p:cNvPr id="8" name="TextBox 7"/>
          <p:cNvSpPr txBox="1"/>
          <p:nvPr/>
        </p:nvSpPr>
        <p:spPr>
          <a:xfrm>
            <a:off x="885825" y="2828925"/>
            <a:ext cx="5876925" cy="285750"/>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رأيي:</a:t>
            </a:r>
            <a:r>
              <a:rPr sz="1125" b="0">
                <a:solidFill>
                  <a:srgbClr val="335693"/>
                </a:solidFill>
                <a:latin typeface="Cairo"/>
                <a:cs typeface="Cairo"/>
              </a:rPr>
              <a:t> عاطفة صادقة قوية نابعة من تجربة حقيقية؛ دليلُ صدقها السهرُ والبكاءُ وثباتُ الوفاء</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25" b="1">
                <a:solidFill>
                  <a:srgbClr val="FFFFFF"/>
                </a:solidFill>
                <a:latin typeface="Cairo"/>
                <a:cs typeface="Cairo"/>
              </a:rPr>
              <a:t>الفهم والتحليل (5) — ص84: المبدأ الذي يؤمن به البارودي</a:t>
            </a:r>
          </a:p>
        </p:txBody>
      </p:sp>
      <p:pic>
        <p:nvPicPr>
          <p:cNvPr id="5" name="Picture 4" descr="fahm5.png"/>
          <p:cNvPicPr>
            <a:picLocks noChangeAspect="1"/>
          </p:cNvPicPr>
          <p:nvPr/>
        </p:nvPicPr>
        <p:blipFill>
          <a:blip r:embed="rId4"/>
          <a:stretch>
            <a:fillRect/>
          </a:stretch>
        </p:blipFill>
        <p:spPr>
          <a:xfrm>
            <a:off x="476250" y="745115"/>
            <a:ext cx="8191500" cy="1005320"/>
          </a:xfrm>
          <a:prstGeom prst="rect">
            <a:avLst/>
          </a:prstGeom>
        </p:spPr>
      </p:pic>
      <p:sp>
        <p:nvSpPr>
          <p:cNvPr id="6" name="TextBox 5"/>
          <p:cNvSpPr txBox="1"/>
          <p:nvPr/>
        </p:nvSpPr>
        <p:spPr>
          <a:xfrm>
            <a:off x="590550" y="1990725"/>
            <a:ext cx="7962900" cy="1000125"/>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المبدأ:</a:t>
            </a:r>
            <a:r>
              <a:rPr sz="1218" b="0">
                <a:solidFill>
                  <a:srgbClr val="335693"/>
                </a:solidFill>
                <a:latin typeface="Cairo"/>
                <a:cs typeface="Cairo"/>
              </a:rPr>
              <a:t> أن الرجولة والثبات يوهِنان الخطب — فالإنسان الرجل يصبر على ما يلاقيه من الدهر كما يلاقي كلُّ امرئ، فلا يضعف ولا يستسلم — </a:t>
            </a:r>
            <a:r>
              <a:rPr sz="1218" b="1">
                <a:solidFill>
                  <a:srgbClr val="335693"/>
                </a:solidFill>
                <a:latin typeface="Cairo"/>
                <a:cs typeface="Cairo"/>
              </a:rPr>
              <a:t>رأيي:</a:t>
            </a:r>
            <a:r>
              <a:rPr sz="1218" b="0">
                <a:solidFill>
                  <a:srgbClr val="335693"/>
                </a:solidFill>
                <a:latin typeface="Cairo"/>
                <a:cs typeface="Cairo"/>
              </a:rPr>
              <a:t> مبدأ حكيم يبعث في النفس القوةَ والأملَ والثباتَ عند الشدائد</a:t>
            </a:r>
          </a:p>
        </p:txBody>
      </p:sp>
      <p:sp>
        <p:nvSpPr>
          <p:cNvPr id="7" name="TextBox 6"/>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(6) — ص85: موقف الشاعر في بيت «بريد الصَّبَا»</a:t>
            </a:r>
          </a:p>
        </p:txBody>
      </p:sp>
      <p:pic>
        <p:nvPicPr>
          <p:cNvPr id="5" name="Picture 4" descr="tad6.png"/>
          <p:cNvPicPr>
            <a:picLocks noChangeAspect="1"/>
          </p:cNvPicPr>
          <p:nvPr/>
        </p:nvPicPr>
        <p:blipFill>
          <a:blip r:embed="rId4"/>
          <a:stretch>
            <a:fillRect/>
          </a:stretch>
        </p:blipFill>
        <p:spPr>
          <a:xfrm>
            <a:off x="476250" y="739053"/>
            <a:ext cx="8191500" cy="2122343"/>
          </a:xfrm>
          <a:prstGeom prst="rect">
            <a:avLst/>
          </a:prstGeom>
        </p:spPr>
      </p:pic>
      <p:sp>
        <p:nvSpPr>
          <p:cNvPr id="6" name="TextBox 5"/>
          <p:cNvSpPr txBox="1"/>
          <p:nvPr/>
        </p:nvSpPr>
        <p:spPr>
          <a:xfrm>
            <a:off x="885825" y="2114550"/>
            <a:ext cx="5505450" cy="285750"/>
          </a:xfrm>
          <a:prstGeom prst="rect">
            <a:avLst/>
          </a:prstGeom>
          <a:noFill/>
        </p:spPr>
        <p:txBody>
          <a:bodyPr wrap="square" lIns="0" rIns="0" tIns="0" bIns="0" anchor="ctr">
            <a:spAutoFit/>
          </a:bodyPr>
          <a:lstStyle/>
          <a:p>
            <a:pPr algn="r" rtl="1">
              <a:lnSpc>
                <a:spcPct val="125000"/>
              </a:lnSpc>
            </a:pPr>
            <a:r>
              <a:rPr sz="925" b="1">
                <a:solidFill>
                  <a:srgbClr val="335693"/>
                </a:solidFill>
                <a:latin typeface="Cairo"/>
                <a:cs typeface="Cairo"/>
              </a:rPr>
              <a:t>الموقف:</a:t>
            </a:r>
            <a:r>
              <a:rPr sz="925" b="0">
                <a:solidFill>
                  <a:srgbClr val="335693"/>
                </a:solidFill>
                <a:latin typeface="Cairo"/>
                <a:cs typeface="Cairo"/>
              </a:rPr>
              <a:t> الوفاءُ والثباتُ على العهد — يوصي ريحَ الصَّبَا أن تبلّغ ذوي رحمه أنه مقيم على عهده وميثاقه رغم طول الغربة</a:t>
            </a:r>
          </a:p>
        </p:txBody>
      </p:sp>
      <p:sp>
        <p:nvSpPr>
          <p:cNvPr id="7" name="TextBox 6"/>
          <p:cNvSpPr txBox="1"/>
          <p:nvPr/>
        </p:nvSpPr>
        <p:spPr>
          <a:xfrm>
            <a:off x="885825" y="2562225"/>
            <a:ext cx="5505450" cy="285750"/>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رأيي:</a:t>
            </a:r>
            <a:r>
              <a:rPr sz="1125" b="0">
                <a:solidFill>
                  <a:srgbClr val="335693"/>
                </a:solidFill>
                <a:latin typeface="Cairo"/>
                <a:cs typeface="Cairo"/>
              </a:rPr>
              <a:t> موقف نبيل يدل على صدق العاطفة وقوة الوفاء؛ فالغربة لم تنلْ من ولائه لأهله ووطنه</a:t>
            </a:r>
          </a:p>
        </p:txBody>
      </p:sp>
      <p:sp>
        <p:nvSpPr>
          <p:cNvPr id="8" name="TextBox 7"/>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(7) — ص85: الصورة الفنية في «كأنَّ نجمَ الثريّا...»</a:t>
            </a:r>
          </a:p>
        </p:txBody>
      </p:sp>
      <p:pic>
        <p:nvPicPr>
          <p:cNvPr id="5" name="Picture 4" descr="tad7.png"/>
          <p:cNvPicPr>
            <a:picLocks noChangeAspect="1"/>
          </p:cNvPicPr>
          <p:nvPr/>
        </p:nvPicPr>
        <p:blipFill>
          <a:blip r:embed="rId4"/>
          <a:stretch>
            <a:fillRect/>
          </a:stretch>
        </p:blipFill>
        <p:spPr>
          <a:xfrm>
            <a:off x="476250" y="733858"/>
            <a:ext cx="8191500" cy="2085109"/>
          </a:xfrm>
          <a:prstGeom prst="rect">
            <a:avLst/>
          </a:prstGeom>
        </p:spPr>
      </p:pic>
      <p:sp>
        <p:nvSpPr>
          <p:cNvPr id="6" name="TextBox 5"/>
          <p:cNvSpPr txBox="1"/>
          <p:nvPr/>
        </p:nvSpPr>
        <p:spPr>
          <a:xfrm>
            <a:off x="885825" y="1724025"/>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شرح الصورة:</a:t>
            </a:r>
            <a:r>
              <a:rPr sz="1125" b="0">
                <a:solidFill>
                  <a:srgbClr val="335693"/>
                </a:solidFill>
                <a:latin typeface="Cairo"/>
                <a:cs typeface="Cairo"/>
              </a:rPr>
              <a:t> شبّه نجمَ الثريّا وهو مضطرب دون الهلال بسراج يتلألأ لامعًا في الظلام</a:t>
            </a:r>
          </a:p>
        </p:txBody>
      </p:sp>
      <p:sp>
        <p:nvSpPr>
          <p:cNvPr id="7" name="TextBox 6"/>
          <p:cNvSpPr txBox="1"/>
          <p:nvPr/>
        </p:nvSpPr>
        <p:spPr>
          <a:xfrm>
            <a:off x="885825" y="2171700"/>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نوعها:</a:t>
            </a:r>
            <a:r>
              <a:rPr sz="1125" b="0">
                <a:solidFill>
                  <a:srgbClr val="335693"/>
                </a:solidFill>
                <a:latin typeface="Cairo"/>
                <a:cs typeface="Cairo"/>
              </a:rPr>
              <a:t> صورة تشبيهية حسية مضيئة (تشبيه)</a:t>
            </a:r>
          </a:p>
        </p:txBody>
      </p:sp>
      <p:sp>
        <p:nvSpPr>
          <p:cNvPr id="8" name="TextBox 7"/>
          <p:cNvSpPr txBox="1"/>
          <p:nvPr/>
        </p:nvSpPr>
        <p:spPr>
          <a:xfrm>
            <a:off x="885825" y="2590800"/>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أثرها:</a:t>
            </a:r>
            <a:r>
              <a:rPr sz="1125" b="0">
                <a:solidFill>
                  <a:srgbClr val="335693"/>
                </a:solidFill>
                <a:latin typeface="Cairo"/>
                <a:cs typeface="Cairo"/>
              </a:rPr>
              <a:t> صوّرت سهرَه في ليل المنفى، وبعثت بصيصَ أمل وسط الداجية — جمالٌ وتفاؤلٌ وسط الحزن</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(8) — ص85: سمات المدرسة الإحيائية في القصيدة</a:t>
            </a:r>
          </a:p>
        </p:txBody>
      </p:sp>
      <p:pic>
        <p:nvPicPr>
          <p:cNvPr id="5" name="Picture 4" descr="tad8.png"/>
          <p:cNvPicPr>
            <a:picLocks noChangeAspect="1"/>
          </p:cNvPicPr>
          <p:nvPr/>
        </p:nvPicPr>
        <p:blipFill>
          <a:blip r:embed="rId4"/>
          <a:stretch>
            <a:fillRect/>
          </a:stretch>
        </p:blipFill>
        <p:spPr>
          <a:xfrm>
            <a:off x="476250" y="724333"/>
            <a:ext cx="8191500" cy="1675534"/>
          </a:xfrm>
          <a:prstGeom prst="rect">
            <a:avLst/>
          </a:prstGeom>
        </p:spPr>
      </p:pic>
      <p:sp>
        <p:nvSpPr>
          <p:cNvPr id="6" name="TextBox 5"/>
          <p:cNvSpPr txBox="1"/>
          <p:nvPr/>
        </p:nvSpPr>
        <p:spPr>
          <a:xfrm>
            <a:off x="885825" y="1228725"/>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مقدمة القصيدة:</a:t>
            </a:r>
            <a:r>
              <a:rPr sz="1125" b="0">
                <a:solidFill>
                  <a:srgbClr val="335693"/>
                </a:solidFill>
                <a:latin typeface="Cairo"/>
                <a:cs typeface="Cairo"/>
              </a:rPr>
              <a:t> استهلالٌ بالشكوى من الحب والبين على نهج القدماء (الوقوف على الأطلال)</a:t>
            </a:r>
          </a:p>
        </p:txBody>
      </p:sp>
      <p:sp>
        <p:nvSpPr>
          <p:cNvPr id="7" name="TextBox 6"/>
          <p:cNvSpPr txBox="1"/>
          <p:nvPr/>
        </p:nvSpPr>
        <p:spPr>
          <a:xfrm>
            <a:off x="885825" y="1685925"/>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المعجم القديم:</a:t>
            </a:r>
            <a:r>
              <a:rPr sz="1125" b="0">
                <a:solidFill>
                  <a:srgbClr val="335693"/>
                </a:solidFill>
                <a:latin typeface="Cairo"/>
                <a:cs typeface="Cairo"/>
              </a:rPr>
              <a:t> ألفاظ جزلة من معجم الأقدمين: راقٍ، إيراق، قِثَّة، أعفاق، غروب، أماق، داجية</a:t>
            </a:r>
          </a:p>
        </p:txBody>
      </p:sp>
      <p:sp>
        <p:nvSpPr>
          <p:cNvPr id="8" name="TextBox 7"/>
          <p:cNvSpPr txBox="1"/>
          <p:nvPr/>
        </p:nvSpPr>
        <p:spPr>
          <a:xfrm>
            <a:off x="885825" y="2162175"/>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الخيال:</a:t>
            </a:r>
            <a:r>
              <a:rPr sz="1125" b="0">
                <a:solidFill>
                  <a:srgbClr val="335693"/>
                </a:solidFill>
                <a:latin typeface="Cairo"/>
                <a:cs typeface="Cairo"/>
              </a:rPr>
              <a:t> صور وتشبيهات (الثريّا سراجٌ لاح في طلاق) وكنايات (أرعى نجوم الليل = الأرق)</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(9) — ص85: مصادر الإيقاع الموسيقي وأثرها</a:t>
            </a:r>
          </a:p>
        </p:txBody>
      </p:sp>
      <p:pic>
        <p:nvPicPr>
          <p:cNvPr id="5" name="Picture 4" descr="tad9.png"/>
          <p:cNvPicPr>
            <a:picLocks noChangeAspect="1"/>
          </p:cNvPicPr>
          <p:nvPr/>
        </p:nvPicPr>
        <p:blipFill>
          <a:blip r:embed="rId4"/>
          <a:stretch>
            <a:fillRect/>
          </a:stretch>
        </p:blipFill>
        <p:spPr>
          <a:xfrm>
            <a:off x="476250" y="724333"/>
            <a:ext cx="8191500" cy="1675534"/>
          </a:xfrm>
          <a:prstGeom prst="rect">
            <a:avLst/>
          </a:prstGeom>
        </p:spPr>
      </p:pic>
      <p:sp>
        <p:nvSpPr>
          <p:cNvPr id="6" name="TextBox 5"/>
          <p:cNvSpPr txBox="1"/>
          <p:nvPr/>
        </p:nvSpPr>
        <p:spPr>
          <a:xfrm>
            <a:off x="885825" y="1238250"/>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الخارجية:</a:t>
            </a:r>
            <a:r>
              <a:rPr sz="1125" b="0">
                <a:solidFill>
                  <a:srgbClr val="335693"/>
                </a:solidFill>
                <a:latin typeface="Cairo"/>
                <a:cs typeface="Cairo"/>
              </a:rPr>
              <a:t> وحدةُ الوزن في الأبيات كلها، والقافيةُ الموحدة (رَوِيّ القاف: راقٍ، الباقِ، أشواقِ... إشراقِ)</a:t>
            </a:r>
          </a:p>
        </p:txBody>
      </p:sp>
      <p:sp>
        <p:nvSpPr>
          <p:cNvPr id="7" name="TextBox 6"/>
          <p:cNvSpPr txBox="1"/>
          <p:nvPr/>
        </p:nvSpPr>
        <p:spPr>
          <a:xfrm>
            <a:off x="885825" y="1714500"/>
            <a:ext cx="5505450" cy="276225"/>
          </a:xfrm>
          <a:prstGeom prst="rect">
            <a:avLst/>
          </a:prstGeom>
          <a:noFill/>
        </p:spPr>
        <p:txBody>
          <a:bodyPr wrap="square" lIns="0" rIns="0" tIns="0" bIns="0" anchor="ctr">
            <a:spAutoFit/>
          </a:bodyPr>
          <a:lstStyle/>
          <a:p>
            <a:pPr algn="r" rtl="1">
              <a:lnSpc>
                <a:spcPct val="125000"/>
              </a:lnSpc>
            </a:pPr>
            <a:r>
              <a:rPr sz="1125" b="1">
                <a:solidFill>
                  <a:srgbClr val="335693"/>
                </a:solidFill>
                <a:latin typeface="Cairo"/>
                <a:cs typeface="Cairo"/>
              </a:rPr>
              <a:t>الداخلية:</a:t>
            </a:r>
            <a:r>
              <a:rPr sz="1125" b="0">
                <a:solidFill>
                  <a:srgbClr val="335693"/>
                </a:solidFill>
                <a:latin typeface="Cairo"/>
                <a:cs typeface="Cairo"/>
              </a:rPr>
              <a:t> التكرار وتناسقُ الأصوات والمحسناتُ البديعية والصيغُ (تفعّل) والتراكيبُ المتوازنة</a:t>
            </a:r>
          </a:p>
        </p:txBody>
      </p:sp>
      <p:sp>
        <p:nvSpPr>
          <p:cNvPr id="8" name="TextBox 7"/>
          <p:cNvSpPr txBox="1"/>
          <p:nvPr/>
        </p:nvSpPr>
        <p:spPr>
          <a:xfrm>
            <a:off x="885825" y="2190750"/>
            <a:ext cx="5505450" cy="276225"/>
          </a:xfrm>
          <a:prstGeom prst="rect">
            <a:avLst/>
          </a:prstGeom>
          <a:noFill/>
        </p:spPr>
        <p:txBody>
          <a:bodyPr wrap="square" lIns="0" rIns="0" tIns="0" bIns="0" anchor="ctr">
            <a:spAutoFit/>
          </a:bodyPr>
          <a:lstStyle/>
          <a:p>
            <a:pPr algn="r" rtl="1">
              <a:lnSpc>
                <a:spcPct val="125000"/>
              </a:lnSpc>
            </a:pPr>
            <a:r>
              <a:rPr sz="1075" b="1">
                <a:solidFill>
                  <a:srgbClr val="335693"/>
                </a:solidFill>
                <a:latin typeface="Cairo"/>
                <a:cs typeface="Cairo"/>
              </a:rPr>
              <a:t>أثرها في المتلقي:</a:t>
            </a:r>
            <a:r>
              <a:rPr sz="1075" b="0">
                <a:solidFill>
                  <a:srgbClr val="335693"/>
                </a:solidFill>
                <a:latin typeface="Cairo"/>
                <a:cs typeface="Cairo"/>
              </a:rPr>
              <a:t> موسيقى حزينة رقراقة توافق موضوعَ الغربة والحنين فتؤثر في الوجدان وتُمتِع السمع</a:t>
            </a:r>
          </a:p>
        </p:txBody>
      </p:sp>
      <p:sp>
        <p:nvSpPr>
          <p:cNvPr id="9" name="TextBox 8"/>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إضاءة — ص85</a:t>
            </a:r>
          </a:p>
        </p:txBody>
      </p:sp>
      <p:sp>
        <p:nvSpPr>
          <p:cNvPr id="5" name="TextBox 4"/>
          <p:cNvSpPr txBox="1"/>
          <p:nvPr/>
        </p:nvSpPr>
        <p:spPr>
          <a:xfrm>
            <a:off x="571500" y="590550"/>
            <a:ext cx="8001000" cy="419100"/>
          </a:xfrm>
          <a:prstGeom prst="rect">
            <a:avLst/>
          </a:prstGeom>
          <a:noFill/>
        </p:spPr>
        <p:txBody>
          <a:bodyPr wrap="square" lIns="0" rIns="0" tIns="0" bIns="0" anchor="ctr">
            <a:spAutoFit/>
          </a:bodyPr>
          <a:lstStyle/>
          <a:p>
            <a:pPr algn="ctr" rtl="1">
              <a:lnSpc>
                <a:spcPct val="135000"/>
              </a:lnSpc>
            </a:pPr>
            <a:r>
              <a:rPr sz="1787" b="1">
                <a:solidFill>
                  <a:srgbClr val="335693"/>
                </a:solidFill>
                <a:latin typeface="Cairo"/>
                <a:cs typeface="Cairo"/>
              </a:rPr>
              <a:t>الموسيقى سرُّ خلود الشعر</a:t>
            </a:r>
          </a:p>
        </p:txBody>
      </p:sp>
      <p:sp>
        <p:nvSpPr>
          <p:cNvPr id="6" name="Rounded Rectangle 5"/>
          <p:cNvSpPr/>
          <p:nvPr/>
        </p:nvSpPr>
        <p:spPr>
          <a:xfrm>
            <a:off x="857250" y="1162050"/>
            <a:ext cx="7429500" cy="9144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5375" y="1219200"/>
            <a:ext cx="6953250" cy="800100"/>
          </a:xfrm>
          <a:prstGeom prst="rect">
            <a:avLst/>
          </a:prstGeom>
          <a:noFill/>
        </p:spPr>
        <p:txBody>
          <a:bodyPr wrap="square" lIns="0" rIns="0" tIns="0" bIns="0" anchor="ctr">
            <a:spAutoFit/>
          </a:bodyPr>
          <a:lstStyle/>
          <a:p>
            <a:pPr algn="r" rtl="1">
              <a:lnSpc>
                <a:spcPct val="135000"/>
              </a:lnSpc>
            </a:pPr>
            <a:r>
              <a:rPr sz="1675" b="0">
                <a:solidFill>
                  <a:srgbClr val="333333"/>
                </a:solidFill>
                <a:latin typeface="Cairo"/>
                <a:cs typeface="Cairo"/>
              </a:rPr>
              <a:t>الموسيقى هي </a:t>
            </a:r>
            <a:r>
              <a:rPr sz="1675" b="1">
                <a:solidFill>
                  <a:srgbClr val="333333"/>
                </a:solidFill>
                <a:latin typeface="Cairo"/>
                <a:cs typeface="Cairo"/>
              </a:rPr>
              <a:t>سرُّ خلود الشعر</a:t>
            </a:r>
            <a:r>
              <a:rPr sz="1675" b="0">
                <a:solidFill>
                  <a:srgbClr val="333333"/>
                </a:solidFill>
                <a:latin typeface="Cairo"/>
                <a:cs typeface="Cairo"/>
              </a:rPr>
              <a:t>، وبها يمتاز الشعرُ عن النثر، وتنقسم موسيقى الشعر إلى قسمين:</a:t>
            </a:r>
          </a:p>
        </p:txBody>
      </p:sp>
      <p:sp>
        <p:nvSpPr>
          <p:cNvPr id="8" name="Rounded Rectangle 7"/>
          <p:cNvSpPr/>
          <p:nvPr/>
        </p:nvSpPr>
        <p:spPr>
          <a:xfrm>
            <a:off x="857250" y="2190750"/>
            <a:ext cx="7429500" cy="9144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 y="2247900"/>
            <a:ext cx="6953250" cy="800100"/>
          </a:xfrm>
          <a:prstGeom prst="rect">
            <a:avLst/>
          </a:prstGeom>
          <a:noFill/>
        </p:spPr>
        <p:txBody>
          <a:bodyPr wrap="square" lIns="0" rIns="0" tIns="0" bIns="0" anchor="ctr">
            <a:spAutoFit/>
          </a:bodyPr>
          <a:lstStyle/>
          <a:p>
            <a:pPr algn="r" rtl="1">
              <a:lnSpc>
                <a:spcPct val="135000"/>
              </a:lnSpc>
            </a:pPr>
            <a:r>
              <a:rPr sz="1125" b="1">
                <a:solidFill>
                  <a:srgbClr val="333333"/>
                </a:solidFill>
                <a:latin typeface="Cairo"/>
                <a:cs typeface="Cairo"/>
              </a:rPr>
              <a:t>أ- الموسيقى الخارجية:</a:t>
            </a:r>
            <a:r>
              <a:rPr sz="1125" b="0">
                <a:solidFill>
                  <a:srgbClr val="333333"/>
                </a:solidFill>
                <a:latin typeface="Cairo"/>
                <a:cs typeface="Cairo"/>
              </a:rPr>
              <a:t> وتتمثل في </a:t>
            </a:r>
            <a:r>
              <a:rPr sz="1125" b="1">
                <a:solidFill>
                  <a:srgbClr val="333333"/>
                </a:solidFill>
                <a:latin typeface="Cairo"/>
                <a:cs typeface="Cairo"/>
              </a:rPr>
              <a:t>الوزن والقافية</a:t>
            </a:r>
            <a:r>
              <a:rPr sz="1125" b="0">
                <a:solidFill>
                  <a:srgbClr val="333333"/>
                </a:solidFill>
                <a:latin typeface="Cairo"/>
                <a:cs typeface="Cairo"/>
              </a:rPr>
              <a:t>؛ فالشعر العربي يخضع لبحور الشعر المعروفة وعددُها ستة عشر بحرًا، أما القافية فهي مجموعُ الأصوات للحرف المتحرك الذي يسبق آخرَ ساكنين وما بينهما، وأما حرفُ الرَّوِيّ فهو الحرفُ الذي تُبنى عليه القصيدةُ الشعرية وإليه تُنسب القصيدة</a:t>
            </a:r>
          </a:p>
        </p:txBody>
      </p:sp>
      <p:sp>
        <p:nvSpPr>
          <p:cNvPr id="10" name="Rounded Rectangle 9"/>
          <p:cNvSpPr/>
          <p:nvPr/>
        </p:nvSpPr>
        <p:spPr>
          <a:xfrm>
            <a:off x="857250" y="3219450"/>
            <a:ext cx="7429500" cy="9144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375" y="3276600"/>
            <a:ext cx="6953250" cy="800100"/>
          </a:xfrm>
          <a:prstGeom prst="rect">
            <a:avLst/>
          </a:prstGeom>
          <a:noFill/>
        </p:spPr>
        <p:txBody>
          <a:bodyPr wrap="square" lIns="0" rIns="0" tIns="0" bIns="0" anchor="ctr">
            <a:spAutoFit/>
          </a:bodyPr>
          <a:lstStyle/>
          <a:p>
            <a:pPr algn="r" rtl="1">
              <a:lnSpc>
                <a:spcPct val="135000"/>
              </a:lnSpc>
            </a:pPr>
            <a:r>
              <a:rPr sz="1675" b="1">
                <a:solidFill>
                  <a:srgbClr val="333333"/>
                </a:solidFill>
                <a:latin typeface="Cairo"/>
                <a:cs typeface="Cairo"/>
              </a:rPr>
              <a:t>ب- الموسيقى الداخلية:</a:t>
            </a:r>
            <a:r>
              <a:rPr sz="1675" b="0">
                <a:solidFill>
                  <a:srgbClr val="333333"/>
                </a:solidFill>
                <a:latin typeface="Cairo"/>
                <a:cs typeface="Cairo"/>
              </a:rPr>
              <a:t> وهي التي تفسّر سرَّ إعجابنا بالنص دون إدراك سرِّها على وجه مُحَسَّن، وتتمثل في </a:t>
            </a:r>
            <a:r>
              <a:rPr sz="1675" b="1">
                <a:solidFill>
                  <a:srgbClr val="333333"/>
                </a:solidFill>
                <a:latin typeface="Cairo"/>
                <a:cs typeface="Cairo"/>
              </a:rPr>
              <a:t>المحسنات البديعية، والأصوات والصيغ وأنماط التراكيب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(10) — ص86: القصيدة من «الأدب الإنساني الخالد»</a:t>
            </a:r>
          </a:p>
        </p:txBody>
      </p:sp>
      <p:pic>
        <p:nvPicPr>
          <p:cNvPr id="5" name="Picture 4" descr="tad10.png"/>
          <p:cNvPicPr>
            <a:picLocks noChangeAspect="1"/>
          </p:cNvPicPr>
          <p:nvPr/>
        </p:nvPicPr>
        <p:blipFill>
          <a:blip r:embed="rId4"/>
          <a:stretch>
            <a:fillRect/>
          </a:stretch>
        </p:blipFill>
        <p:spPr>
          <a:xfrm>
            <a:off x="476250" y="734724"/>
            <a:ext cx="8191500" cy="1750002"/>
          </a:xfrm>
          <a:prstGeom prst="rect">
            <a:avLst/>
          </a:prstGeom>
        </p:spPr>
      </p:pic>
      <p:sp>
        <p:nvSpPr>
          <p:cNvPr id="6" name="TextBox 5"/>
          <p:cNvSpPr txBox="1"/>
          <p:nvPr/>
        </p:nvSpPr>
        <p:spPr>
          <a:xfrm>
            <a:off x="590550" y="2724150"/>
            <a:ext cx="7962900" cy="1000125"/>
          </a:xfrm>
          <a:prstGeom prst="rect">
            <a:avLst/>
          </a:prstGeom>
          <a:noFill/>
        </p:spPr>
        <p:txBody>
          <a:bodyPr wrap="square" lIns="0" rIns="0" tIns="0" bIns="0" anchor="ctr">
            <a:spAutoFit/>
          </a:bodyPr>
          <a:lstStyle/>
          <a:p>
            <a:pPr algn="r" rtl="1">
              <a:lnSpc>
                <a:spcPct val="125000"/>
              </a:lnSpc>
            </a:pPr>
            <a:r>
              <a:rPr sz="1218" b="0">
                <a:solidFill>
                  <a:srgbClr val="335693"/>
                </a:solidFill>
                <a:latin typeface="Cairo"/>
                <a:cs typeface="Cairo"/>
              </a:rPr>
              <a:t>القصيدة تعبّر عن </a:t>
            </a:r>
            <a:r>
              <a:rPr sz="1218" b="1">
                <a:solidFill>
                  <a:srgbClr val="335693"/>
                </a:solidFill>
                <a:latin typeface="Cairo"/>
                <a:cs typeface="Cairo"/>
              </a:rPr>
              <a:t>مشاعر إنسانية عامة مشتركة</a:t>
            </a:r>
            <a:r>
              <a:rPr sz="1218" b="0">
                <a:solidFill>
                  <a:srgbClr val="335693"/>
                </a:solidFill>
                <a:latin typeface="Cairo"/>
                <a:cs typeface="Cairo"/>
              </a:rPr>
              <a:t> — حبِّ الوطن وآلامِ الفراق والحنينِ والأملِ — وهي مشاعرُ يعيشها كلُّ مغترب في كل زمان ومكان؛ لذلك تجاوزتْ شخصَ الشاعر وعصرَه، وتشابهتْ مع حال كل إنسان ذاق الغربةَ، فاستحقت وصفَ النقاد: «الأدبُ الإنساني الخالد»</a:t>
            </a:r>
          </a:p>
        </p:txBody>
      </p:sp>
      <p:sp>
        <p:nvSpPr>
          <p:cNvPr id="7" name="TextBox 6"/>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800" b="1">
                <a:solidFill>
                  <a:srgbClr val="FFFFFF"/>
                </a:solidFill>
                <a:latin typeface="Cairo"/>
                <a:cs typeface="Cairo"/>
              </a:rPr>
              <a:t>الدراسة والتذوق (11) — ص86: الأساليب في المقطع (د) ودورها</a:t>
            </a:r>
          </a:p>
        </p:txBody>
      </p:sp>
      <p:pic>
        <p:nvPicPr>
          <p:cNvPr id="5" name="Picture 4" descr="tad11.png"/>
          <p:cNvPicPr>
            <a:picLocks noChangeAspect="1"/>
          </p:cNvPicPr>
          <p:nvPr/>
        </p:nvPicPr>
        <p:blipFill>
          <a:blip r:embed="rId4"/>
          <a:stretch>
            <a:fillRect/>
          </a:stretch>
        </p:blipFill>
        <p:spPr>
          <a:xfrm>
            <a:off x="476250" y="593884"/>
            <a:ext cx="8191500" cy="2907982"/>
          </a:xfrm>
          <a:prstGeom prst="rect">
            <a:avLst/>
          </a:prstGeom>
        </p:spPr>
      </p:pic>
      <p:sp>
        <p:nvSpPr>
          <p:cNvPr id="6" name="TextBox 5"/>
          <p:cNvSpPr txBox="1"/>
          <p:nvPr/>
        </p:nvSpPr>
        <p:spPr>
          <a:xfrm>
            <a:off x="4067175" y="130492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«لَا يَخِيبُ لَهُ رَاجٍ»، «لَا بُدَّ لِلضِّيقِ... مِنْ فَرَجٍ»</a:t>
            </a:r>
          </a:p>
        </p:txBody>
      </p:sp>
      <p:sp>
        <p:nvSpPr>
          <p:cNvPr id="7" name="TextBox 6"/>
          <p:cNvSpPr txBox="1"/>
          <p:nvPr/>
        </p:nvSpPr>
        <p:spPr>
          <a:xfrm>
            <a:off x="628650" y="130492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تقريرُ الثقة بالمولى، وتأكيدُ اليقين بالفرج (نفيُ استحالته)</a:t>
            </a:r>
          </a:p>
        </p:txBody>
      </p:sp>
      <p:sp>
        <p:nvSpPr>
          <p:cNvPr id="8" name="TextBox 7"/>
          <p:cNvSpPr txBox="1"/>
          <p:nvPr/>
        </p:nvSpPr>
        <p:spPr>
          <a:xfrm>
            <a:off x="4067175" y="185737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«يَا قَلْبُ»</a:t>
            </a:r>
          </a:p>
        </p:txBody>
      </p:sp>
      <p:sp>
        <p:nvSpPr>
          <p:cNvPr id="9" name="TextBox 8"/>
          <p:cNvSpPr txBox="1"/>
          <p:nvPr/>
        </p:nvSpPr>
        <p:spPr>
          <a:xfrm>
            <a:off x="628650" y="185737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مناجاةُ النفس وحثُّها على الصبر — يصوّر شدة الوجد</a:t>
            </a:r>
          </a:p>
        </p:txBody>
      </p:sp>
      <p:sp>
        <p:nvSpPr>
          <p:cNvPr id="10" name="TextBox 9"/>
          <p:cNvSpPr txBox="1"/>
          <p:nvPr/>
        </p:nvSpPr>
        <p:spPr>
          <a:xfrm>
            <a:off x="4067175" y="239077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«صَبْرًا جَمِيلًا» (أي: اصبرْ صبرًا جميلًا)</a:t>
            </a:r>
          </a:p>
        </p:txBody>
      </p:sp>
      <p:sp>
        <p:nvSpPr>
          <p:cNvPr id="11" name="TextBox 10"/>
          <p:cNvSpPr txBox="1"/>
          <p:nvPr/>
        </p:nvSpPr>
        <p:spPr>
          <a:xfrm>
            <a:off x="628650" y="2390775"/>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حثُّ النفس على التجلُّد والصبر عند الشدائد</a:t>
            </a:r>
          </a:p>
        </p:txBody>
      </p:sp>
      <p:sp>
        <p:nvSpPr>
          <p:cNvPr id="12" name="TextBox 11"/>
          <p:cNvSpPr txBox="1"/>
          <p:nvPr/>
        </p:nvSpPr>
        <p:spPr>
          <a:xfrm>
            <a:off x="4067175" y="2933700"/>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«إِنَّهُ قَدَرٌ»، «لَا بُدَّ»</a:t>
            </a:r>
          </a:p>
        </p:txBody>
      </p:sp>
      <p:sp>
        <p:nvSpPr>
          <p:cNvPr id="13" name="TextBox 12"/>
          <p:cNvSpPr txBox="1"/>
          <p:nvPr/>
        </p:nvSpPr>
        <p:spPr>
          <a:xfrm>
            <a:off x="628650" y="2933700"/>
            <a:ext cx="3038475" cy="409575"/>
          </a:xfrm>
          <a:prstGeom prst="rect">
            <a:avLst/>
          </a:prstGeom>
          <a:noFill/>
        </p:spPr>
        <p:txBody>
          <a:bodyPr wrap="square" lIns="0" rIns="0" tIns="0" bIns="0" anchor="ctr">
            <a:spAutoFit/>
          </a:bodyPr>
          <a:lstStyle/>
          <a:p>
            <a:pPr algn="r" rtl="1">
              <a:lnSpc>
                <a:spcPct val="125000"/>
              </a:lnSpc>
            </a:pPr>
            <a:r>
              <a:rPr sz="1031" b="0">
                <a:solidFill>
                  <a:srgbClr val="335693"/>
                </a:solidFill>
                <a:latin typeface="Cairo"/>
                <a:cs typeface="Cairo"/>
              </a:rPr>
              <a:t>تأكيدُ الإيمان بالقضاء والفرج وترسيخُ اليقين بهما</a:t>
            </a:r>
          </a:p>
        </p:txBody>
      </p:sp>
      <p:sp>
        <p:nvSpPr>
          <p:cNvPr id="14" name="TextBox 13"/>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025" b="1">
                <a:solidFill>
                  <a:srgbClr val="FFFFFF"/>
                </a:solidFill>
                <a:latin typeface="Cairo"/>
                <a:cs typeface="Cairo"/>
              </a:rPr>
              <a:t>الدراسة والتذوق (12) — ص86: من المقطع (أ)</a:t>
            </a:r>
          </a:p>
        </p:txBody>
      </p:sp>
      <p:pic>
        <p:nvPicPr>
          <p:cNvPr id="5" name="Picture 4" descr="tad12.png"/>
          <p:cNvPicPr>
            <a:picLocks noChangeAspect="1"/>
          </p:cNvPicPr>
          <p:nvPr/>
        </p:nvPicPr>
        <p:blipFill>
          <a:blip r:embed="rId4"/>
          <a:stretch>
            <a:fillRect/>
          </a:stretch>
        </p:blipFill>
        <p:spPr>
          <a:xfrm>
            <a:off x="476250" y="747280"/>
            <a:ext cx="8191500" cy="1191491"/>
          </a:xfrm>
          <a:prstGeom prst="rect">
            <a:avLst/>
          </a:prstGeom>
        </p:spPr>
      </p:pic>
      <p:sp>
        <p:nvSpPr>
          <p:cNvPr id="6" name="TextBox 5"/>
          <p:cNvSpPr txBox="1"/>
          <p:nvPr/>
        </p:nvSpPr>
        <p:spPr>
          <a:xfrm>
            <a:off x="885825" y="1190625"/>
            <a:ext cx="5876925"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حالًا جملة اسمية:</a:t>
            </a:r>
            <a:r>
              <a:rPr sz="1218" b="0">
                <a:solidFill>
                  <a:srgbClr val="335693"/>
                </a:solidFill>
                <a:latin typeface="Cairo"/>
                <a:cs typeface="Cairo"/>
              </a:rPr>
              <a:t> «وَهِيَ جَازِعَةٌ» — في قوله: «وَأُكَلِّفُ النَّفْسَ صَبْرًا وَهِيَ جَازِعَةٌ»</a:t>
            </a:r>
          </a:p>
        </p:txBody>
      </p:sp>
      <p:sp>
        <p:nvSpPr>
          <p:cNvPr id="7" name="TextBox 6"/>
          <p:cNvSpPr txBox="1"/>
          <p:nvPr/>
        </p:nvSpPr>
        <p:spPr>
          <a:xfrm>
            <a:off x="885825" y="1619250"/>
            <a:ext cx="5876925" cy="285750"/>
          </a:xfrm>
          <a:prstGeom prst="rect">
            <a:avLst/>
          </a:prstGeom>
          <a:noFill/>
        </p:spPr>
        <p:txBody>
          <a:bodyPr wrap="square" lIns="0" rIns="0" tIns="0" bIns="0" anchor="ctr">
            <a:spAutoFit/>
          </a:bodyPr>
          <a:lstStyle/>
          <a:p>
            <a:pPr algn="r" rtl="1">
              <a:lnSpc>
                <a:spcPct val="125000"/>
              </a:lnSpc>
            </a:pPr>
            <a:r>
              <a:rPr sz="1218" b="1">
                <a:solidFill>
                  <a:srgbClr val="335693"/>
                </a:solidFill>
                <a:latin typeface="Cairo"/>
                <a:cs typeface="Cairo"/>
              </a:rPr>
              <a:t>اسم فاعل:</a:t>
            </a:r>
            <a:r>
              <a:rPr sz="1218" b="0">
                <a:solidFill>
                  <a:srgbClr val="335693"/>
                </a:solidFill>
                <a:latin typeface="Cairo"/>
                <a:cs typeface="Cairo"/>
              </a:rPr>
              <a:t> «رَاقٍ» — </a:t>
            </a:r>
            <a:r>
              <a:rPr sz="1218" b="1">
                <a:solidFill>
                  <a:srgbClr val="335693"/>
                </a:solidFill>
                <a:latin typeface="Cairo"/>
                <a:cs typeface="Cairo"/>
              </a:rPr>
              <a:t>فعله:</a:t>
            </a:r>
            <a:r>
              <a:rPr sz="1218" b="0">
                <a:solidFill>
                  <a:srgbClr val="335693"/>
                </a:solidFill>
                <a:latin typeface="Cairo"/>
                <a:cs typeface="Cairo"/>
              </a:rPr>
              <a:t> رَقَّ</a:t>
            </a:r>
          </a:p>
        </p:txBody>
      </p:sp>
      <p:sp>
        <p:nvSpPr>
          <p:cNvPr id="8" name="TextBox 7"/>
          <p:cNvSpPr txBox="1"/>
          <p:nvPr/>
        </p:nvSpPr>
        <p:spPr>
          <a:xfrm>
            <a:off x="571500" y="4667250"/>
            <a:ext cx="8001000" cy="285750"/>
          </a:xfrm>
          <a:prstGeom prst="rect">
            <a:avLst/>
          </a:prstGeom>
          <a:noFill/>
        </p:spPr>
        <p:txBody>
          <a:bodyPr wrap="square" lIns="0" rIns="0" tIns="0" bIns="0" anchor="ctr">
            <a:spAutoFit/>
          </a:bodyPr>
          <a:lstStyle/>
          <a:p>
            <a:pPr algn="ctr" rtl="1">
              <a:lnSpc>
                <a:spcPct val="135000"/>
              </a:lnSpc>
            </a:pPr>
            <a:r>
              <a:rPr sz="1187" b="1">
                <a:solidFill>
                  <a:srgbClr val="C00000"/>
                </a:solidFill>
                <a:latin typeface="Cairo"/>
                <a:cs typeface="Cairo"/>
              </a:rPr>
              <a:t>اضغط لإظهار الإجابة النموذجية</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40000"/>
              </a:lnSpc>
            </a:pPr>
            <a:r>
              <a:rPr sz="1875" b="1">
                <a:solidFill>
                  <a:srgbClr val="FFFFFF"/>
                </a:solidFill>
                <a:latin typeface="Cairo"/>
                <a:cs typeface="Cairo"/>
              </a:rPr>
              <a:t>غلق الهدف</a:t>
            </a:r>
          </a:p>
        </p:txBody>
      </p:sp>
      <p:sp>
        <p:nvSpPr>
          <p:cNvPr id="5" name="Rounded Rectangle 4"/>
          <p:cNvSpPr/>
          <p:nvPr/>
        </p:nvSpPr>
        <p:spPr>
          <a:xfrm>
            <a:off x="857250" y="666750"/>
            <a:ext cx="7429500" cy="838200"/>
          </a:xfrm>
          <a:prstGeom prst="roundRect">
            <a:avLst>
              <a:gd name="adj" fmla="val 10000"/>
            </a:avLst>
          </a:prstGeom>
          <a:solidFill>
            <a:srgbClr val="EEF3FA"/>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5375" y="723900"/>
            <a:ext cx="6953250" cy="723900"/>
          </a:xfrm>
          <a:prstGeom prst="rect">
            <a:avLst/>
          </a:prstGeom>
          <a:noFill/>
        </p:spPr>
        <p:txBody>
          <a:bodyPr wrap="square" lIns="0" rIns="0" tIns="0" bIns="0" anchor="ctr">
            <a:spAutoFit/>
          </a:bodyPr>
          <a:lstStyle/>
          <a:p>
            <a:pPr algn="r" rtl="1">
              <a:lnSpc>
                <a:spcPct val="135000"/>
              </a:lnSpc>
            </a:pPr>
            <a:r>
              <a:rPr sz="1875" b="1">
                <a:solidFill>
                  <a:srgbClr val="333333"/>
                </a:solidFill>
                <a:latin typeface="Cairo"/>
                <a:cs typeface="Cairo"/>
              </a:rPr>
              <a:t>الهدف:</a:t>
            </a:r>
            <a:r>
              <a:rPr sz="1875" b="0">
                <a:solidFill>
                  <a:srgbClr val="333333"/>
                </a:solidFill>
                <a:latin typeface="Cairo"/>
                <a:cs typeface="Cairo"/>
              </a:rPr>
              <a:t> أن يتذوّق القصيدة ويحلّلها ويدلّل على سمات المدرسة الإحيائية فيها</a:t>
            </a:r>
          </a:p>
        </p:txBody>
      </p:sp>
      <p:sp>
        <p:nvSpPr>
          <p:cNvPr id="7" name="Rounded Rectangle 6"/>
          <p:cNvSpPr/>
          <p:nvPr/>
        </p:nvSpPr>
        <p:spPr>
          <a:xfrm>
            <a:off x="857250" y="1676400"/>
            <a:ext cx="7429500" cy="2552700"/>
          </a:xfrm>
          <a:prstGeom prst="roundRect">
            <a:avLst>
              <a:gd name="adj" fmla="val 10000"/>
            </a:avLst>
          </a:prstGeom>
          <a:solidFill>
            <a:srgbClr val="FFF7E8"/>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5375" y="1790700"/>
            <a:ext cx="6953250" cy="2324100"/>
          </a:xfrm>
          <a:prstGeom prst="rect">
            <a:avLst/>
          </a:prstGeom>
          <a:noFill/>
        </p:spPr>
        <p:txBody>
          <a:bodyPr wrap="square" lIns="0" rIns="0" tIns="0" bIns="0" anchor="t">
            <a:spAutoFit/>
          </a:bodyPr>
          <a:lstStyle/>
          <a:p>
            <a:pPr algn="r" rtl="1">
              <a:lnSpc>
                <a:spcPct val="145000"/>
              </a:lnSpc>
            </a:pPr>
            <a:r>
              <a:rPr sz="1818" b="1">
                <a:solidFill>
                  <a:srgbClr val="333333"/>
                </a:solidFill>
                <a:latin typeface="Cairo"/>
                <a:cs typeface="Cairo"/>
              </a:rPr>
              <a:t>تحقّق من تحقّق الهدف:</a:t>
            </a:r>
          </a:p>
          <a:p>
            <a:pPr algn="r" rtl="1">
              <a:lnSpc>
                <a:spcPct val="145000"/>
              </a:lnSpc>
            </a:pPr>
            <a:r>
              <a:rPr sz="1818" b="1">
                <a:solidFill>
                  <a:srgbClr val="333333"/>
                </a:solidFill>
                <a:latin typeface="Cairo"/>
                <a:cs typeface="Cairo"/>
              </a:rPr>
              <a:t>يختار الطالب بيتًا واحدًا من القصيدة أعجبه، يكتبه في دفتره، ويشرح سرَّ إعجابه به في جملتين، ثم يشارك به زملاءه</a:t>
            </a:r>
          </a:p>
          <a:p>
            <a:pPr algn="r" rtl="1">
              <a:lnSpc>
                <a:spcPct val="145000"/>
              </a:lnSpc>
            </a:pPr>
            <a:r>
              <a:rPr sz="1818" b="1">
                <a:solidFill>
                  <a:srgbClr val="C00000"/>
                </a:solidFill>
                <a:latin typeface="Cairo"/>
                <a:cs typeface="Cairo"/>
              </a:rPr>
              <a:t>الواجب المنزلي:</a:t>
            </a:r>
            <a:r>
              <a:rPr sz="1818" b="0">
                <a:solidFill>
                  <a:srgbClr val="C00000"/>
                </a:solidFill>
                <a:latin typeface="Cairo"/>
                <a:cs typeface="Cairo"/>
              </a:rPr>
              <a:t> أتمِّ حلَّ أسئلة التذوق 6-12 في دفترك، وراجِع القصيدةَ استعدادًا لتقويم قصير فيها</a:t>
            </a:r>
          </a:p>
        </p:txBody>
      </p:sp>
      <p:sp>
        <p:nvSpPr>
          <p:cNvPr id="9" name="TextBox 8"/>
          <p:cNvSpPr txBox="1"/>
          <p:nvPr/>
        </p:nvSpPr>
        <p:spPr>
          <a:xfrm>
            <a:off x="571500" y="4362450"/>
            <a:ext cx="8001000" cy="342900"/>
          </a:xfrm>
          <a:prstGeom prst="rect">
            <a:avLst/>
          </a:prstGeom>
          <a:noFill/>
        </p:spPr>
        <p:txBody>
          <a:bodyPr wrap="square" lIns="0" rIns="0" tIns="0" bIns="0" anchor="ctr">
            <a:spAutoFit/>
          </a:bodyPr>
          <a:lstStyle/>
          <a:p>
            <a:pPr algn="ctr" rtl="1">
              <a:lnSpc>
                <a:spcPct val="135000"/>
              </a:lnSpc>
            </a:pPr>
            <a:r>
              <a:rPr sz="1437" b="1">
                <a:solidFill>
                  <a:srgbClr val="C00000"/>
                </a:solidFill>
                <a:latin typeface="Cairo"/>
                <a:cs typeface="Cairo"/>
              </a:rPr>
              <a:t>ينفّذ الطلاب النشاط فرديًّا أو ثنائيًّا، ثم يُناقش جماعيًّا</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body.jpg"/>
          <p:cNvPicPr>
            <a:picLocks noChangeAspect="1"/>
          </p:cNvPicPr>
          <p:nvPr/>
        </p:nvPicPr>
        <p:blipFill>
          <a:blip r:embed="rId2"/>
          <a:stretch>
            <a:fillRect/>
          </a:stretch>
        </p:blipFill>
        <p:spPr>
          <a:xfrm>
            <a:off x="0" y="0"/>
            <a:ext cx="9144000" cy="5143500"/>
          </a:xfrm>
          <a:prstGeom prst="rect">
            <a:avLst/>
          </a:prstGeom>
        </p:spPr>
      </p:pic>
      <p:pic>
        <p:nvPicPr>
          <p:cNvPr id="3" name="Picture 2" descr="banner.png"/>
          <p:cNvPicPr>
            <a:picLocks noChangeAspect="1"/>
          </p:cNvPicPr>
          <p:nvPr/>
        </p:nvPicPr>
        <p:blipFill>
          <a:blip r:embed="rId3"/>
          <a:stretch>
            <a:fillRect/>
          </a:stretch>
        </p:blipFill>
        <p:spPr>
          <a:xfrm>
            <a:off x="0" y="76200"/>
            <a:ext cx="2857500" cy="438150"/>
          </a:xfrm>
          <a:prstGeom prst="rect">
            <a:avLst/>
          </a:prstGeom>
        </p:spPr>
      </p:pic>
      <p:sp>
        <p:nvSpPr>
          <p:cNvPr id="4" name="TextBox 3"/>
          <p:cNvSpPr txBox="1"/>
          <p:nvPr/>
        </p:nvSpPr>
        <p:spPr>
          <a:xfrm>
            <a:off x="285750" y="123825"/>
            <a:ext cx="2476500" cy="342900"/>
          </a:xfrm>
          <a:prstGeom prst="rect">
            <a:avLst/>
          </a:prstGeom>
          <a:noFill/>
        </p:spPr>
        <p:txBody>
          <a:bodyPr wrap="none" lIns="0" rIns="0" tIns="0" bIns="0" anchor="ctr">
            <a:spAutoFit/>
          </a:bodyPr>
          <a:lstStyle/>
          <a:p>
            <a:pPr algn="ctr" rtl="1">
              <a:lnSpc>
                <a:spcPct val="130000"/>
              </a:lnSpc>
            </a:pPr>
            <a:r>
              <a:rPr sz="1425" b="1">
                <a:solidFill>
                  <a:srgbClr val="FFFFFF"/>
                </a:solidFill>
                <a:latin typeface="Cairo"/>
                <a:cs typeface="Cairo"/>
              </a:rPr>
              <a:t>الختام: لعبة الدرس على منصة كنوز</a:t>
            </a:r>
          </a:p>
        </p:txBody>
      </p:sp>
      <p:sp>
        <p:nvSpPr>
          <p:cNvPr id="5" name="TextBox 4"/>
          <p:cNvSpPr txBox="1"/>
          <p:nvPr/>
        </p:nvSpPr>
        <p:spPr>
          <a:xfrm>
            <a:off x="571500" y="666750"/>
            <a:ext cx="8001000" cy="476250"/>
          </a:xfrm>
          <a:prstGeom prst="rect">
            <a:avLst/>
          </a:prstGeom>
          <a:noFill/>
        </p:spPr>
        <p:txBody>
          <a:bodyPr wrap="none" lIns="0" rIns="0" tIns="0" bIns="0" anchor="ctr">
            <a:spAutoFit/>
          </a:bodyPr>
          <a:lstStyle/>
          <a:p>
            <a:pPr algn="ctr" rtl="1">
              <a:lnSpc>
                <a:spcPct val="120000"/>
              </a:lnSpc>
            </a:pPr>
            <a:r>
              <a:rPr sz="2812" b="1">
                <a:solidFill>
                  <a:srgbClr val="335693"/>
                </a:solidFill>
                <a:latin typeface="Cairo"/>
                <a:cs typeface="Cairo"/>
              </a:rPr>
              <a:t>🎮 العب لعبة هذا الدرس الآن</a:t>
            </a:r>
          </a:p>
        </p:txBody>
      </p:sp>
      <p:sp>
        <p:nvSpPr>
          <p:cNvPr id="6" name="TextBox 5"/>
          <p:cNvSpPr txBox="1"/>
          <p:nvPr/>
        </p:nvSpPr>
        <p:spPr>
          <a:xfrm>
            <a:off x="571500" y="1181100"/>
            <a:ext cx="8001000" cy="323850"/>
          </a:xfrm>
          <a:prstGeom prst="rect">
            <a:avLst/>
          </a:prstGeom>
          <a:noFill/>
        </p:spPr>
        <p:txBody>
          <a:bodyPr wrap="none" lIns="0" rIns="0" tIns="0" bIns="0" anchor="ctr">
            <a:spAutoFit/>
          </a:bodyPr>
          <a:lstStyle/>
          <a:p>
            <a:pPr algn="ctr" rtl="1">
              <a:lnSpc>
                <a:spcPct val="120000"/>
              </a:lnSpc>
            </a:pPr>
            <a:r>
              <a:rPr sz="1687" b="0">
                <a:solidFill>
                  <a:srgbClr val="333333"/>
                </a:solidFill>
                <a:latin typeface="Cairo"/>
                <a:cs typeface="Cairo"/>
              </a:rPr>
              <a:t>امسح الرابط أو افتحه من منصة الصف — أسئلة خُصّت لهذا الدرس</a:t>
            </a:r>
          </a:p>
        </p:txBody>
      </p:sp>
      <p:sp>
        <p:nvSpPr>
          <p:cNvPr id="7" name="Rounded Rectangle 6"/>
          <p:cNvSpPr/>
          <p:nvPr/>
        </p:nvSpPr>
        <p:spPr>
          <a:xfrm>
            <a:off x="1428750" y="1666875"/>
            <a:ext cx="6286500" cy="74295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19250" y="1790700"/>
            <a:ext cx="5905500" cy="514350"/>
          </a:xfrm>
          <a:prstGeom prst="rect">
            <a:avLst/>
          </a:prstGeom>
          <a:noFill/>
        </p:spPr>
        <p:txBody>
          <a:bodyPr wrap="none" lIns="0" rIns="0" tIns="0" bIns="0" anchor="ctr">
            <a:spAutoFit/>
          </a:bodyPr>
          <a:lstStyle/>
          <a:p>
            <a:pPr algn="ctr" rtl="1"/>
            <a:r>
              <a:rPr sz="2200" b="1" u="sng">
                <a:solidFill>
                  <a:srgbClr val="C00000"/>
                </a:solidFill>
                <a:latin typeface="Cairo"/>
                <a:hlinkClick r:id="rId4"/>
              </a:rPr>
              <a:t>https://uw3vlhc2of5wm.kimi.pro/banks/g12-ghurba-3</a:t>
            </a:r>
          </a:p>
        </p:txBody>
      </p:sp>
      <p:sp>
        <p:nvSpPr>
          <p:cNvPr id="9" name="TextBox 8"/>
          <p:cNvSpPr txBox="1"/>
          <p:nvPr/>
        </p:nvSpPr>
        <p:spPr>
          <a:xfrm>
            <a:off x="1428750" y="2457450"/>
            <a:ext cx="6286500" cy="247650"/>
          </a:xfrm>
          <a:prstGeom prst="rect">
            <a:avLst/>
          </a:prstGeom>
          <a:noFill/>
        </p:spPr>
        <p:txBody>
          <a:bodyPr wrap="none" lIns="0" rIns="0" tIns="0" bIns="0" anchor="ctr">
            <a:spAutoFit/>
          </a:bodyPr>
          <a:lstStyle/>
          <a:p>
            <a:pPr algn="ctr" rtl="1">
              <a:lnSpc>
                <a:spcPct val="110000"/>
              </a:lnSpc>
            </a:pPr>
            <a:r>
              <a:rPr sz="1406" b="0">
                <a:solidFill>
                  <a:srgbClr val="333333"/>
                </a:solidFill>
                <a:latin typeface="Cairo"/>
                <a:cs typeface="Cairo"/>
              </a:rPr>
              <a:t>انسخ الرابط في متصفح جهازك اللوحي مباشرة</a:t>
            </a:r>
          </a:p>
        </p:txBody>
      </p:sp>
      <p:sp>
        <p:nvSpPr>
          <p:cNvPr id="10" name="Rounded Rectangle 9"/>
          <p:cNvSpPr/>
          <p:nvPr/>
        </p:nvSpPr>
        <p:spPr>
          <a:xfrm>
            <a:off x="1428750" y="2857500"/>
            <a:ext cx="6286500" cy="1028700"/>
          </a:xfrm>
          <a:prstGeom prst="roundRect">
            <a:avLst>
              <a:gd name="adj" fmla="val 12000"/>
            </a:avLst>
          </a:prstGeom>
          <a:solidFill>
            <a:srgbClr val="FFFFFF"/>
          </a:solidFill>
          <a:ln w="19050">
            <a:solidFill>
              <a:srgbClr val="BF9E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9250" y="2971800"/>
            <a:ext cx="5905500" cy="304800"/>
          </a:xfrm>
          <a:prstGeom prst="rect">
            <a:avLst/>
          </a:prstGeom>
          <a:noFill/>
        </p:spPr>
        <p:txBody>
          <a:bodyPr wrap="none" lIns="0" rIns="0" tIns="0" bIns="0" anchor="ctr">
            <a:spAutoFit/>
          </a:bodyPr>
          <a:lstStyle/>
          <a:p>
            <a:pPr algn="ctr" rtl="1">
              <a:lnSpc>
                <a:spcPct val="120000"/>
              </a:lnSpc>
            </a:pPr>
            <a:r>
              <a:rPr sz="1875" b="1">
                <a:solidFill>
                  <a:srgbClr val="335693"/>
                </a:solidFill>
                <a:latin typeface="Cairo"/>
                <a:cs typeface="Cairo"/>
              </a:rPr>
              <a:t>🎓 للمراجعة في المنزل: تدرّب فرديًا</a:t>
            </a:r>
          </a:p>
        </p:txBody>
      </p:sp>
      <p:sp>
        <p:nvSpPr>
          <p:cNvPr id="12" name="TextBox 11"/>
          <p:cNvSpPr txBox="1"/>
          <p:nvPr/>
        </p:nvSpPr>
        <p:spPr>
          <a:xfrm>
            <a:off x="1619250" y="3314700"/>
            <a:ext cx="5905500" cy="495300"/>
          </a:xfrm>
          <a:prstGeom prst="rect">
            <a:avLst/>
          </a:prstGeom>
          <a:noFill/>
        </p:spPr>
        <p:txBody>
          <a:bodyPr wrap="square" lIns="0" rIns="0" tIns="0" bIns="0" anchor="ctr">
            <a:spAutoFit/>
          </a:bodyPr>
          <a:lstStyle/>
          <a:p>
            <a:pPr algn="ctr" rtl="1">
              <a:lnSpc>
                <a:spcPct val="130000"/>
              </a:lnSpc>
            </a:pPr>
            <a:r>
              <a:rPr sz="1243" b="0">
                <a:solidFill>
                  <a:srgbClr val="333333"/>
                </a:solidFill>
                <a:latin typeface="Cairo"/>
                <a:cs typeface="Cairo"/>
              </a:rPr>
              <a:t>من صفحة اللعبة اضغط «تدرّب فرديًا» — العب وحدك بلا معلم، وتعرّف مستواك بعد كل تدريب</a:t>
            </a:r>
          </a:p>
        </p:txBody>
      </p:sp>
      <p:sp>
        <p:nvSpPr>
          <p:cNvPr id="13" name="TextBox 12"/>
          <p:cNvSpPr txBox="1"/>
          <p:nvPr/>
        </p:nvSpPr>
        <p:spPr>
          <a:xfrm>
            <a:off x="1143000" y="4048125"/>
            <a:ext cx="6858000" cy="381000"/>
          </a:xfrm>
          <a:prstGeom prst="rect">
            <a:avLst/>
          </a:prstGeom>
          <a:noFill/>
        </p:spPr>
        <p:txBody>
          <a:bodyPr wrap="none" lIns="0" rIns="0" tIns="0" bIns="0" anchor="ctr">
            <a:spAutoFit/>
          </a:bodyPr>
          <a:lstStyle/>
          <a:p>
            <a:pPr algn="ctr" rtl="1">
              <a:lnSpc>
                <a:spcPct val="120000"/>
              </a:lnSpc>
            </a:pPr>
            <a:r>
              <a:rPr sz="1781" b="1">
                <a:solidFill>
                  <a:srgbClr val="C00000"/>
                </a:solidFill>
                <a:latin typeface="Cairo"/>
                <a:cs typeface="Cairo"/>
              </a:rPr>
              <a:t>🏆 أنهِ اللعبة وستعرف المستوى الذي وصلت إليه في هذا الدرس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