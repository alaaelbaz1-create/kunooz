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uw3vlhc2of5wm.kimi.pro/banks/g12-ihya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1428750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Year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857375"/>
            <a:ext cx="3429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600" b="1">
                <a:solidFill>
                  <a:srgbClr val="335693"/>
                </a:solidFill>
                <a:latin typeface="Cairo"/>
                <a:cs typeface="Cairo"/>
              </a:rPr>
              <a:t>Subject: Arabic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2286000"/>
            <a:ext cx="3429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62" b="1">
                <a:solidFill>
                  <a:srgbClr val="335693"/>
                </a:solidFill>
                <a:latin typeface="Cairo"/>
                <a:cs typeface="Cairo"/>
              </a:rPr>
              <a:t>Lesson: Qadiya: Ihya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0480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3562" b="1">
                <a:solidFill>
                  <a:srgbClr val="C00000"/>
                </a:solidFill>
                <a:latin typeface="Cairo"/>
                <a:cs typeface="Cairo"/>
              </a:rPr>
              <a:t>القضية الأدبية: مدرسة الإحياء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952875"/>
            <a:ext cx="762000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737" b="1">
                <a:solidFill>
                  <a:srgbClr val="335693"/>
                </a:solidFill>
                <a:latin typeface="Cairo"/>
                <a:cs typeface="Cairo"/>
              </a:rPr>
              <a:t>الوحدة الثانية — ص 75-79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429125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62" b="0">
                <a:solidFill>
                  <a:srgbClr val="555555"/>
                </a:solidFill>
                <a:latin typeface="Cairo"/>
                <a:cs typeface="Cairo"/>
              </a:rPr>
              <a:t>للدكتور أحمد كمال أبو المجد (بتصرف) — الوحدة الثانية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أهداف الحصة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في نهاية هذه الحصة سيكون الطالب قادرًا على أن: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2001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573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1-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يوضّحَ مفهومَ مدرسة الإحياء وسببَ تسميتها وأسبابَ ظهورها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2-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يعدّدَ أعلامَها في الشعر والنثر ويستخرجَ سماتِها الفنية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181350"/>
            <a:ext cx="7429500" cy="8763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38500"/>
            <a:ext cx="69532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3-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يجيبَ عن تدريبات الكتاب (ص78) في دفتره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علاجي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800" b="1">
                <a:solidFill>
                  <a:srgbClr val="335693"/>
                </a:solidFill>
                <a:latin typeface="Cairo"/>
                <a:cs typeface="Cairo"/>
              </a:rPr>
              <a:t>أسئلة تُنعش ذاكرتك… أجب في دفترك خلال 3 دقائق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239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1500" y="11239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0550" y="12001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2625" y="12001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ما تعريف الجنس الأدبي؟ (من قضية الوحدة الأولى)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23431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CE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1500" y="23431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" y="24193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نقطتان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2625" y="24193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اذكر جنسين أدبيين من أجناس العصر الحديث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3562350"/>
            <a:ext cx="8001000" cy="1085850"/>
          </a:xfrm>
          <a:prstGeom prst="roundRect">
            <a:avLst>
              <a:gd name="adj" fmla="val 12000"/>
            </a:avLst>
          </a:prstGeom>
          <a:solidFill>
            <a:srgbClr val="F4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1500" y="3562350"/>
            <a:ext cx="1238250" cy="1085850"/>
          </a:xfrm>
          <a:prstGeom prst="roundRect">
            <a:avLst>
              <a:gd name="adj" fmla="val 12000"/>
            </a:avLst>
          </a:prstGeom>
          <a:solidFill>
            <a:srgbClr val="BF9E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550" y="3638550"/>
            <a:ext cx="1200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1" b="1">
                <a:solidFill>
                  <a:srgbClr val="FFFFFF"/>
                </a:solidFill>
                <a:latin typeface="Cairo"/>
                <a:cs typeface="Cairo"/>
              </a:rPr>
              <a:t>ثلاث نقاط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2625" y="3638550"/>
            <a:ext cx="647700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968" b="1">
                <a:solidFill>
                  <a:srgbClr val="333333"/>
                </a:solidFill>
                <a:latin typeface="Cairo"/>
                <a:cs typeface="Cairo"/>
              </a:rPr>
              <a:t>توقّع: ما الذي تعنيه كلمة «الإحياء» في سياق أدبي؟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تمهيد — ص75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حال الأدب العربي قبل مدرسة الإحياء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25" b="0">
                <a:solidFill>
                  <a:srgbClr val="333333"/>
                </a:solidFill>
                <a:latin typeface="Cairo"/>
                <a:cs typeface="Cairo"/>
              </a:rPr>
              <a:t>عانى الأدبُ العربي عقودًا طويلة من </a:t>
            </a:r>
            <a:r>
              <a:rPr sz="1525" b="1">
                <a:solidFill>
                  <a:srgbClr val="333333"/>
                </a:solidFill>
                <a:latin typeface="Cairo"/>
                <a:cs typeface="Cairo"/>
              </a:rPr>
              <a:t>الضعف والركود</a:t>
            </a:r>
            <a:r>
              <a:rPr sz="1525" b="0">
                <a:solidFill>
                  <a:srgbClr val="333333"/>
                </a:solidFill>
                <a:latin typeface="Cairo"/>
                <a:cs typeface="Cairo"/>
              </a:rPr>
              <a:t> بعد سقوط الخلافة العباسية في بغداد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9050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9621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25" b="0">
                <a:solidFill>
                  <a:srgbClr val="333333"/>
                </a:solidFill>
                <a:latin typeface="Cairo"/>
                <a:cs typeface="Cairo"/>
              </a:rPr>
              <a:t>انتقل من الاتجاه الغنائي الذاتي المتصل بالحكام إلى </a:t>
            </a:r>
            <a:r>
              <a:rPr sz="1325" b="1">
                <a:solidFill>
                  <a:srgbClr val="333333"/>
                </a:solidFill>
                <a:latin typeface="Cairo"/>
                <a:cs typeface="Cairo"/>
              </a:rPr>
              <a:t>الاتجاه الموضوعي العام</a:t>
            </a:r>
            <a:r>
              <a:rPr sz="1325" b="0">
                <a:solidFill>
                  <a:srgbClr val="333333"/>
                </a:solidFill>
                <a:latin typeface="Cairo"/>
                <a:cs typeface="Cairo"/>
              </a:rPr>
              <a:t> الذي يعبّر عن هموم العامة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479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7051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ازدهر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التيار الشعبي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: أدب الرحلات — الشعر التعليمي — الألغاز الشعرية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3909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4480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قِيل عن أدب ذلك العصر: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أدب الضعف والانحطاط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41338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41910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075" b="1">
                <a:solidFill>
                  <a:srgbClr val="C00000"/>
                </a:solidFill>
                <a:latin typeface="Cairo"/>
                <a:cs typeface="Cairo"/>
              </a:rPr>
              <a:t>بدايات العصر الحديث:</a:t>
            </a:r>
            <a:r>
              <a:rPr sz="1075" b="0">
                <a:solidFill>
                  <a:srgbClr val="C00000"/>
                </a:solidFill>
                <a:latin typeface="Cairo"/>
                <a:cs typeface="Cairo"/>
              </a:rPr>
              <a:t> شهد الأدب العربي نهضةً على يد مجموعة من الأدباء رفعوا لواء الأدب، فاستفاق بهم بعد سبات، ونهض بجهدهم بعد كَبْوة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سبب التسمية — ص75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لماذا سُمّيت «مدرسة الإحياء»؟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تُطلَق «المدرسة الإحيائية» على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الحركة الأدبية التي ظهرت أوائل العصر الحديث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في النصف الثاني من القرن التاسع عشر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التزم فيها الأدباء — خاصة الشعراء —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نهجَ أدباء عصور الازدهار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: الجاهلي، الإسلامي، الأموي، العباسي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لم يتخلّص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شعراؤها تمامًا من كل مظاهر الضعف التي ثارت عليها المدرسة — جرت بعض آثاره على ألسنة نفرٍ منهم سرعان ما تلاشى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أسماؤها الأخرى: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مدرسة البعث — مدرسة البعث والإحياء — المدرسة التقليدية — الكلاسيكية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أسباب الظهور — ص75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خمسة أسباب لظهور مدرسة الإحياء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نموّ الشعور الوطني والقومي لدى الشعوب العربية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19050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19621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الرغبة في إحياء المجد الأدبي للعرب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479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27051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انفصال الأدب والأدباء في مرحلة ضعف الأدب عن واقع الأمة وتاريخها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39090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344805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2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725" b="0">
                <a:solidFill>
                  <a:srgbClr val="333333"/>
                </a:solidFill>
                <a:latin typeface="Cairo"/>
                <a:cs typeface="Cairo"/>
              </a:rPr>
              <a:t> إكثار الشعراء من الأغراض الشعرية التي لا ترقى بالشعر، ولا تعبّر عن قضايا الأمة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4133850"/>
            <a:ext cx="7429500" cy="6286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5375" y="4191000"/>
            <a:ext cx="69532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الاتصال بالثقافة الغربية التي واكبت الاستعمار الفرنسي والإنجليزي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475" b="1">
                <a:solidFill>
                  <a:srgbClr val="FFFFFF"/>
                </a:solidFill>
                <a:latin typeface="Cairo"/>
                <a:cs typeface="Cairo"/>
              </a:rPr>
              <a:t>أشهر أعلامها (1): الشعر — ص76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البارودي رائد المدرسة في الشعر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محمود سامي البارودي: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رائد المدرسة الإحيائية في الشعر العربي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أبرز شعرائها: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أحمد شوقي، حافظ إبراهيم، ناصيف اليازجي، أحمد محرم، علي الجارم، معروف الرصافي، جميل صدقي الزهاوي، وغيرهم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يظهر في أسلوب شعرائها </a:t>
            </a: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محاكاةُ القديم والحنينُ إليه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أحمد شوقي: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عرف الأدبُ العربي على يده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المسرحَ الشعري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: «مجنون ليلى»، «مصرع كليوباترا» وغيرهما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325" b="1">
                <a:solidFill>
                  <a:srgbClr val="FFFFFF"/>
                </a:solidFill>
                <a:latin typeface="Cairo"/>
                <a:cs typeface="Cairo"/>
              </a:rPr>
              <a:t>تأمّل قول البارودي في لاميّته (ص76)</a:t>
            </a:r>
          </a:p>
        </p:txBody>
      </p:sp>
      <p:pic>
        <p:nvPicPr>
          <p:cNvPr id="5" name="Picture 4" descr="baroud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94046"/>
            <a:ext cx="8001000" cy="11744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فالبارودي هنا يكتب على غرار الأقدمين، شكلًا ومضمونًا، لغةً وتعبيرًا، تصويرًا وتخييلًا وإيقاعًا — فكأنك تقرأ لشاعر قديم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375" b="1">
                <a:solidFill>
                  <a:srgbClr val="FFFFFF"/>
                </a:solidFill>
                <a:latin typeface="Cairo"/>
                <a:cs typeface="Cairo"/>
              </a:rPr>
              <a:t>إضاءة: المعارضة الشعرية — ص76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قصيدة شوقي «نهج البُرْدة» معارضةً «البُرْدة» للبوصيري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25" b="1">
                <a:solidFill>
                  <a:srgbClr val="333333"/>
                </a:solidFill>
                <a:latin typeface="Cairo"/>
                <a:cs typeface="Cairo"/>
              </a:rPr>
              <a:t>المعارضة الشعرية:</a:t>
            </a:r>
            <a:r>
              <a:rPr sz="1625" b="0">
                <a:solidFill>
                  <a:srgbClr val="333333"/>
                </a:solidFill>
                <a:latin typeface="Cairo"/>
                <a:cs typeface="Cairo"/>
              </a:rPr>
              <a:t> أن يُنشد شاعرٌ قصيدةً في موضوع، فيقوم شاعرٌ آخر بنظْم قصيدة أخرى على غرار الأولى، محاكيًا لها وزنًا وقافيةً وموضوعًا، غير أنه يحرص على الجِدّة والابتكار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75" b="1">
                <a:solidFill>
                  <a:srgbClr val="333333"/>
                </a:solidFill>
                <a:latin typeface="Cairo"/>
                <a:cs typeface="Cairo"/>
              </a:rPr>
              <a:t>يقول شوقي:</a:t>
            </a:r>
            <a:r>
              <a:rPr sz="1775" b="0">
                <a:solidFill>
                  <a:srgbClr val="333333"/>
                </a:solidFill>
                <a:latin typeface="Cairo"/>
                <a:cs typeface="Cairo"/>
              </a:rPr>
              <a:t> ريمٌ على القَاعِ بينَ البَانِ والعَلَمِ / أحَلَّ سَفْكَ دَمي في الأشْهُرِ الحُرُمِ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ويقول البوصيري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(من شعراء العصر المملوكي ت696هـ): أَمِنْ تَذَكُّرِ جيرانٍ بِذي سَلَمِ / مَزَجْتَ دَمْعًا جَرى مِنْ مُقْلَةٍ بِدَمِ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75" b="1">
                <a:solidFill>
                  <a:srgbClr val="FFFFFF"/>
                </a:solidFill>
                <a:latin typeface="Cairo"/>
                <a:cs typeface="Cairo"/>
              </a:rPr>
              <a:t>أشهر أعلامها (2): النثر — ص76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استلهام روح الأدب القديم أصالةً وجزالة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في النثر استلهم الأدباء روحَ الأدب العربي القديم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أصالةً وجزالةً ونسجًا وسبكًا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، فجاءت كتاباتهم على منوال الرواد من السابقين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أحمد فارس الشِّدْيَاق (1804-1887م):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أثرى العربية تأليفًا وإبداعًا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325" b="1">
                <a:solidFill>
                  <a:srgbClr val="333333"/>
                </a:solidFill>
                <a:latin typeface="Cairo"/>
                <a:cs typeface="Cairo"/>
              </a:rPr>
              <a:t>من نتاجه:</a:t>
            </a:r>
            <a:r>
              <a:rPr sz="1325" b="0">
                <a:solidFill>
                  <a:srgbClr val="333333"/>
                </a:solidFill>
                <a:latin typeface="Cairo"/>
                <a:cs typeface="Cairo"/>
              </a:rPr>
              <a:t> «الجاسوس على القاموس» (انتقد فيه معجم القاموس المحيط للفيروزآبادي) — «الساق على الساق فيما هو الفارياق» (أودع فيه خلاصة آرائه في موضوعات شتى، وهو </a:t>
            </a:r>
            <a:r>
              <a:rPr sz="1325" b="1">
                <a:solidFill>
                  <a:srgbClr val="333333"/>
                </a:solidFill>
                <a:latin typeface="Cairo"/>
                <a:cs typeface="Cairo"/>
              </a:rPr>
              <a:t>جسر بين الثقافتين العربية والغربية</a:t>
            </a:r>
            <a:r>
              <a:rPr sz="1325" b="0">
                <a:solidFill>
                  <a:srgbClr val="333333"/>
                </a:solidFill>
                <a:latin typeface="Cairo"/>
                <a:cs typeface="Cairo"/>
              </a:rPr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675" b="1">
                <a:solidFill>
                  <a:srgbClr val="FFFFFF"/>
                </a:solidFill>
                <a:latin typeface="Cairo"/>
                <a:cs typeface="Cairo"/>
              </a:rPr>
              <a:t>منهم «أديب إسحاق» (ص77)</a:t>
            </a:r>
          </a:p>
        </p:txBody>
      </p:sp>
      <p:pic>
        <p:nvPicPr>
          <p:cNvPr id="5" name="Picture 4" descr="ishaq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929692"/>
            <a:ext cx="8001000" cy="33031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087" b="1">
                <a:solidFill>
                  <a:srgbClr val="C00000"/>
                </a:solidFill>
                <a:latin typeface="Cairo"/>
                <a:cs typeface="Cairo"/>
              </a:rPr>
              <a:t>نادى بأن يكون العرب نارًا مُسلَّطة على الاستعمار والذل والعبودية، ونادى بوجوب اتحاد الشعوب العربية — اقرأ المقتطف قراءة صامتة (دقيقتان)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المسرح — ص77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«أبو الفنون» يعود إلى عصر الإغريق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المسرح: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أحد الأدوات الفنية المعروفة منذ عصر الإغريق — يعبّر الناس من خلاله عن أفكارهم ومشاعرهم في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صيغة تفاعلية مع الجمهور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0955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1526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أنواعه: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المسرح الجاد — الكوميدي — التراجيدي — التجريبي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02895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08610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المسرح الذهني (إضاءة):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حدث ذهني مقروء يُسهَّل تصوُّرُه وتأمُّلُه ويصعب تمثيله على خشبة المسرح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250" y="3962400"/>
            <a:ext cx="7429500" cy="81915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5375" y="4019550"/>
            <a:ext cx="695325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من رواده: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أحمد أبو خليل القباني، مارون النقاش — </a:t>
            </a:r>
            <a:r>
              <a:rPr sz="1475" b="1">
                <a:solidFill>
                  <a:srgbClr val="333333"/>
                </a:solidFill>
                <a:latin typeface="Cairo"/>
                <a:cs typeface="Cairo"/>
              </a:rPr>
              <a:t>وتوفيق الحكيم رائد «المسرح الذهني»</a:t>
            </a:r>
            <a:r>
              <a:rPr sz="1475" b="0">
                <a:solidFill>
                  <a:srgbClr val="333333"/>
                </a:solidFill>
                <a:latin typeface="Cairo"/>
                <a:cs typeface="Cairo"/>
              </a:rPr>
              <a:t> وأغزر أدباء المسرح إنتاجًا وأكثرهم إبداعًا: «أهل الكهف»، «سليمان الحكيم»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السمات الفنية لمدرسة الإحياء (1) — ص77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السمة 1-3: الالتزام بشكل القديم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١-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المحافظة على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شكل القصيدة العربية القديمة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، من حيث الالتزام بوحدة الوزن والقافية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٢-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المحافظة على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الأغراض التقليدية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للشعر القديم، كالمديح والرثاء والغزل والوصف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٣-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بدء القصائد الشعرية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بالمقدمات التقليدية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للقصيدة العربية، كافتتاح القصيدة بالغزل، أو الوقوف على الأطلال، ووصف الديار والآثار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125" b="1">
                <a:solidFill>
                  <a:srgbClr val="FFFFFF"/>
                </a:solidFill>
                <a:latin typeface="Cairo"/>
                <a:cs typeface="Cairo"/>
              </a:rPr>
              <a:t>السمات الفنية لمدرسة الإحياء (2) — ص77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90550"/>
            <a:ext cx="8001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787" b="1">
                <a:solidFill>
                  <a:srgbClr val="335693"/>
                </a:solidFill>
                <a:latin typeface="Cairo"/>
                <a:cs typeface="Cairo"/>
              </a:rPr>
              <a:t>السمة 4-6: روح القديم وهجر أغراض الضعف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1620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5375" y="12192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٤-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الالتزام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بالقاموس الأدبي القديم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من حيث المفردات اللغوية، والتعبيرات، والصور والأخيلة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50" y="21907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5375" y="22479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٥-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تعدّد الأغراض الشعرية في القصيدة الواحدة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: ينتقل الشاعر من الغزل إلى الفخر إلى الوصف... إلخ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3219450"/>
            <a:ext cx="7429500" cy="9144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5375" y="3276600"/>
            <a:ext cx="695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٦-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</a:t>
            </a:r>
            <a:r>
              <a:rPr sz="1675" b="1">
                <a:solidFill>
                  <a:srgbClr val="333333"/>
                </a:solidFill>
                <a:latin typeface="Cairo"/>
                <a:cs typeface="Cairo"/>
              </a:rPr>
              <a:t>هَجْرُ أكثر الأغراض الشعرية</a:t>
            </a:r>
            <a:r>
              <a:rPr sz="1675" b="0">
                <a:solidFill>
                  <a:srgbClr val="333333"/>
                </a:solidFill>
                <a:latin typeface="Cairo"/>
                <a:cs typeface="Cairo"/>
              </a:rPr>
              <a:t> التي كانت دائرة على ألسنة الشعراء في عصور الضعف، كأغراض الألغاز الشعرية، وشعر التصوف، وغيرها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(1) — ص78</a:t>
            </a:r>
          </a:p>
        </p:txBody>
      </p:sp>
      <p:pic>
        <p:nvPicPr>
          <p:cNvPr id="5" name="Picture 4" descr="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520035"/>
            <a:ext cx="8191500" cy="884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2562225"/>
            <a:ext cx="7772400" cy="885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43" b="0">
                <a:solidFill>
                  <a:srgbClr val="335693"/>
                </a:solidFill>
                <a:latin typeface="Cairo"/>
                <a:cs typeface="Cairo"/>
              </a:rPr>
              <a:t>«مدرسة الإحياء»: الحركة الأدبية التي ظهرت أوائل العصر الحديث (النصف الثاني من القرن التاسع عشر)، والتزم فيها الأدباء — خاصة الشعراء — نهجَ أدباء عصور الازدهار: الجاهلي، الإسلامي، الأموي، العباسي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(2) — ص78</a:t>
            </a:r>
          </a:p>
        </p:txBody>
      </p:sp>
      <p:pic>
        <p:nvPicPr>
          <p:cNvPr id="5" name="Picture 4" descr="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72410"/>
            <a:ext cx="8191500" cy="8842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2514600"/>
            <a:ext cx="7772400" cy="10191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335693"/>
                </a:solidFill>
                <a:latin typeface="Cairo"/>
                <a:cs typeface="Cairo"/>
              </a:rPr>
              <a:t>(أيّ ثلاثة من:) نموّ الشعور الوطني والقومي لدى الشعوب العربية — الرغبة في إحياء المجد الأدبي للعرب — انفصال الأدب والأدباء عن واقع الأمة وتاريخها — إكثار الشعراء من الأغراض التي لا ترقى بالشعر — الاتصال بالثقافة الغربية المواكبة للاستعمار الفرنسي والإنجليزي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(3) — ص78</a:t>
            </a:r>
          </a:p>
        </p:txBody>
      </p:sp>
      <p:pic>
        <p:nvPicPr>
          <p:cNvPr id="5" name="Picture 4" descr="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578518"/>
            <a:ext cx="8191500" cy="6720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2409825"/>
            <a:ext cx="7772400" cy="3905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687" b="0">
                <a:solidFill>
                  <a:srgbClr val="335693"/>
                </a:solidFill>
                <a:latin typeface="Cairo"/>
                <a:cs typeface="Cairo"/>
              </a:rPr>
              <a:t>مدرسة البعث — مدرسة البعث والإحياء — المدرسة التقليدية — الكلاسيكية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(4) — ص78</a:t>
            </a:r>
          </a:p>
        </p:txBody>
      </p:sp>
      <p:pic>
        <p:nvPicPr>
          <p:cNvPr id="5" name="Picture 4" descr="t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608458"/>
            <a:ext cx="8191500" cy="7073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2476500"/>
            <a:ext cx="7772400" cy="885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335693"/>
                </a:solidFill>
                <a:latin typeface="Cairo"/>
                <a:cs typeface="Cairo"/>
              </a:rPr>
              <a:t>عانى الأدبُ ضعفًا وركودًا بعد سقوط الخلافة العباسية؛ وانتقل إلى الاتجاه الموضوعي العام وازدهر التيار الشعبي وأدب الرحلات والشعر التعليمي والألغاز الشعرية — حتى قِيل عنه: أدب الضعف والانحطاط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تدريب (5) — ص78</a:t>
            </a:r>
          </a:p>
        </p:txBody>
      </p:sp>
      <p:pic>
        <p:nvPicPr>
          <p:cNvPr id="5" name="Picture 4" descr="t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449297"/>
            <a:ext cx="8191500" cy="1025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7225" y="2638425"/>
            <a:ext cx="7772400" cy="10953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406" b="1">
                <a:solidFill>
                  <a:srgbClr val="335693"/>
                </a:solidFill>
                <a:latin typeface="Cairo"/>
                <a:cs typeface="Cairo"/>
              </a:rPr>
              <a:t>خصائص النثر:</a:t>
            </a:r>
            <a:r>
              <a:rPr sz="1406" b="0">
                <a:solidFill>
                  <a:srgbClr val="335693"/>
                </a:solidFill>
                <a:latin typeface="Cairo"/>
                <a:cs typeface="Cairo"/>
              </a:rPr>
              <a:t> استلهم الأدباء روحَ الأدب القديم أصالةً وجزالةً ونسجًا وسبكًا، فجاءت كتاباتهم على منوال الرواد من السابقين. </a:t>
            </a:r>
            <a:r>
              <a:rPr sz="1406" b="1">
                <a:solidFill>
                  <a:srgbClr val="335693"/>
                </a:solidFill>
                <a:latin typeface="Cairo"/>
                <a:cs typeface="Cairo"/>
              </a:rPr>
              <a:t>الأعلام:</a:t>
            </a:r>
            <a:r>
              <a:rPr sz="1406" b="0">
                <a:solidFill>
                  <a:srgbClr val="335693"/>
                </a:solidFill>
                <a:latin typeface="Cairo"/>
                <a:cs typeface="Cairo"/>
              </a:rPr>
              <a:t> أحمد فارس الشدياق: «الجاسوس على القاموس»، «الساق على الساق» — أديب إسحاق: مقالاته الداعية إلى اتحاد الشعوب العربية — توفيق الحكيم: «أهل الكهف»، «سليمان الحكيم» (مسرح ذهني)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575" b="1">
                <a:solidFill>
                  <a:srgbClr val="FFFFFF"/>
                </a:solidFill>
                <a:latin typeface="Cairo"/>
                <a:cs typeface="Cairo"/>
              </a:rPr>
              <a:t>تدريب (6): صح أم خطأ — ص78</a:t>
            </a:r>
          </a:p>
        </p:txBody>
      </p:sp>
      <p:pic>
        <p:nvPicPr>
          <p:cNvPr id="5" name="Picture 4" descr="t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1369198"/>
            <a:ext cx="8191500" cy="2405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9125" y="1866900"/>
            <a:ext cx="5619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62" b="1">
                <a:solidFill>
                  <a:srgbClr val="1E7B34"/>
                </a:solidFill>
                <a:latin typeface="Cairo"/>
                <a:cs typeface="Cairo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125" y="2333625"/>
            <a:ext cx="5619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62" b="1">
                <a:solidFill>
                  <a:srgbClr val="C00000"/>
                </a:solidFill>
                <a:latin typeface="Cairo"/>
                <a:cs typeface="Cairo"/>
              </a:rP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" y="2809875"/>
            <a:ext cx="5619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62" b="1">
                <a:solidFill>
                  <a:srgbClr val="C00000"/>
                </a:solidFill>
                <a:latin typeface="Cairo"/>
                <a:cs typeface="Cairo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" y="3286125"/>
            <a:ext cx="561975" cy="2762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62" b="1">
                <a:solidFill>
                  <a:srgbClr val="C00000"/>
                </a:solidFill>
                <a:latin typeface="Cairo"/>
                <a:cs typeface="Cairo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937" b="1">
                <a:solidFill>
                  <a:srgbClr val="C00000"/>
                </a:solidFill>
                <a:latin typeface="Cairo"/>
                <a:cs typeface="Cairo"/>
              </a:rPr>
              <a:t>صحّح في دفترك أولًا، ثم اضغط لإظهار العلامات — وتذكّر: المدرسة لم تتخلص من كل مظاهر الضعف، وتوفيق الحكيم هو رائد المسرح الذهني، والمعارضة فنّ شعري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800" b="1">
                <a:solidFill>
                  <a:srgbClr val="FFFFFF"/>
                </a:solidFill>
                <a:latin typeface="Cairo"/>
                <a:cs typeface="Cairo"/>
              </a:rPr>
              <a:t>تدريب (7) — ص79: استخلص خصائص المدرسة من أبيات علي الجارم</a:t>
            </a:r>
          </a:p>
        </p:txBody>
      </p:sp>
      <p:pic>
        <p:nvPicPr>
          <p:cNvPr id="5" name="Picture 4" descr="t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0254" y="628650"/>
            <a:ext cx="5923492" cy="2762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2600" y="3514725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112" b="1">
                <a:solidFill>
                  <a:srgbClr val="335693"/>
                </a:solidFill>
                <a:latin typeface="Cairo"/>
                <a:cs typeface="Cairo"/>
              </a:rPr>
              <a:t>في الغرض الشعري:</a:t>
            </a:r>
            <a:r>
              <a:rPr sz="1112" b="0">
                <a:solidFill>
                  <a:srgbClr val="335693"/>
                </a:solidFill>
                <a:latin typeface="Cairo"/>
                <a:cs typeface="Cairo"/>
              </a:rPr>
              <a:t> الغزل والحنين إلى المحبوبة — من الأغراض التقليدية التي حافظت عليها المدرسة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2600" y="3895725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2" b="1">
                <a:solidFill>
                  <a:srgbClr val="335693"/>
                </a:solidFill>
                <a:latin typeface="Cairo"/>
                <a:cs typeface="Cairo"/>
              </a:rPr>
              <a:t>في الشكل:</a:t>
            </a:r>
            <a:r>
              <a:rPr sz="1212" b="0">
                <a:solidFill>
                  <a:srgbClr val="335693"/>
                </a:solidFill>
                <a:latin typeface="Cairo"/>
                <a:cs typeface="Cairo"/>
              </a:rPr>
              <a:t> الالتزام بوحدة الوزن والقافية — شكل القصيدة العربية القديمة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2600" y="4276725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212" b="1">
                <a:solidFill>
                  <a:srgbClr val="335693"/>
                </a:solidFill>
                <a:latin typeface="Cairo"/>
                <a:cs typeface="Cairo"/>
              </a:rPr>
              <a:t>في المضمون:</a:t>
            </a:r>
            <a:r>
              <a:rPr sz="1212" b="0">
                <a:solidFill>
                  <a:srgbClr val="335693"/>
                </a:solidFill>
                <a:latin typeface="Cairo"/>
                <a:cs typeface="Cairo"/>
              </a:rPr>
              <a:t> القاموس اللغوي القديم الجزْل والحنين إلى القديم (الفَتَاك، بَلَحْظِك، جُحود...)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667250"/>
            <a:ext cx="8001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187" b="1">
                <a:solidFill>
                  <a:srgbClr val="C00000"/>
                </a:solidFill>
                <a:latin typeface="Cairo"/>
                <a:cs typeface="Cairo"/>
              </a:rPr>
              <a:t>اضغط لإظهار الإجابة النموذجية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875" b="1">
                <a:solidFill>
                  <a:srgbClr val="FFFFFF"/>
                </a:solidFill>
                <a:latin typeface="Cairo"/>
                <a:cs typeface="Cairo"/>
              </a:rPr>
              <a:t>غلق الهدف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666750"/>
            <a:ext cx="7429500" cy="838200"/>
          </a:xfrm>
          <a:prstGeom prst="roundRect">
            <a:avLst>
              <a:gd name="adj" fmla="val 10000"/>
            </a:avLst>
          </a:prstGeom>
          <a:solidFill>
            <a:srgbClr val="EEF3FA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5375" y="723900"/>
            <a:ext cx="69532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875" b="1">
                <a:solidFill>
                  <a:srgbClr val="333333"/>
                </a:solidFill>
                <a:latin typeface="Cairo"/>
                <a:cs typeface="Cairo"/>
              </a:rPr>
              <a:t>الهدف:</a:t>
            </a:r>
            <a:r>
              <a:rPr sz="1875" b="0">
                <a:solidFill>
                  <a:srgbClr val="333333"/>
                </a:solidFill>
                <a:latin typeface="Cairo"/>
                <a:cs typeface="Cairo"/>
              </a:rPr>
              <a:t> أن يوضّح مفهوم مدرسة الإحياء وأسبابها وأعلامها وسماتها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7250" y="1676400"/>
            <a:ext cx="7429500" cy="2552700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5375" y="1790700"/>
            <a:ext cx="6953250" cy="2324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18" b="1">
                <a:solidFill>
                  <a:srgbClr val="333333"/>
                </a:solidFill>
                <a:latin typeface="Cairo"/>
                <a:cs typeface="Cairo"/>
              </a:rPr>
              <a:t>تحقّق من تحقّق الهدف:</a:t>
            </a:r>
          </a:p>
          <a:p>
            <a:pPr algn="r" rtl="1">
              <a:lnSpc>
                <a:spcPct val="145000"/>
              </a:lnSpc>
            </a:pPr>
            <a:r>
              <a:rPr sz="1518" b="1">
                <a:solidFill>
                  <a:srgbClr val="333333"/>
                </a:solidFill>
                <a:latin typeface="Cairo"/>
                <a:cs typeface="Cairo"/>
              </a:rPr>
              <a:t>ارسم في دفترك خريطة ذهنية للمدرسة تتضمّن: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١- تعريفها وسبب تسميتها وأسماءها الأخرى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٢- أسباب ظهورها الخمسة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٣- أعلامها في الشعر والنثر</a:t>
            </a:r>
          </a:p>
          <a:p>
            <a:pPr algn="r" rtl="1">
              <a:lnSpc>
                <a:spcPct val="145000"/>
              </a:lnSpc>
            </a:pPr>
            <a:r>
              <a:rPr sz="1518" b="0">
                <a:solidFill>
                  <a:srgbClr val="333333"/>
                </a:solidFill>
                <a:latin typeface="Cairo"/>
                <a:cs typeface="Cairo"/>
              </a:rPr>
              <a:t>٤- سماتها الفنية الست — </a:t>
            </a:r>
            <a:r>
              <a:rPr sz="1518" b="0">
                <a:solidFill>
                  <a:srgbClr val="C00000"/>
                </a:solidFill>
                <a:latin typeface="Cairo"/>
                <a:cs typeface="Cairo"/>
              </a:rPr>
              <a:t>ثم قارن خريطتك بزميلك (5 دقائق)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362450"/>
            <a:ext cx="80010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437" b="1">
                <a:solidFill>
                  <a:srgbClr val="C00000"/>
                </a:solidFill>
                <a:latin typeface="Cairo"/>
                <a:cs typeface="Cairo"/>
              </a:rPr>
              <a:t>ينفّذ الطلاب النشاط فرديًّا أو ثنائيًّا، ثم يُناقش جماعيًّا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"/>
            <a:ext cx="285750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750" y="123825"/>
            <a:ext cx="2476500" cy="342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425" b="1">
                <a:solidFill>
                  <a:srgbClr val="FFFFFF"/>
                </a:solidFill>
                <a:latin typeface="Cairo"/>
                <a:cs typeface="Cairo"/>
              </a:rPr>
              <a:t>الختام: لعبة الدرس على منصة كنوز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8001000" cy="476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2812" b="1">
                <a:solidFill>
                  <a:srgbClr val="335693"/>
                </a:solidFill>
                <a:latin typeface="Cairo"/>
                <a:cs typeface="Cairo"/>
              </a:rPr>
              <a:t>🎮 العب لعبة هذا الدرس الآن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181100"/>
            <a:ext cx="8001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687" b="0">
                <a:solidFill>
                  <a:srgbClr val="333333"/>
                </a:solidFill>
                <a:latin typeface="Cairo"/>
                <a:cs typeface="Cairo"/>
              </a:rPr>
              <a:t>امسح الرابط أو افتحه من منصة الصف — أسئلة خُصّت لهذا الدرس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8750" y="1666875"/>
            <a:ext cx="6286500" cy="7429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19250" y="1790700"/>
            <a:ext cx="5905500" cy="514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/>
            <a:r>
              <a:rPr sz="2200" b="1" u="sng">
                <a:solidFill>
                  <a:srgbClr val="C00000"/>
                </a:solidFill>
                <a:latin typeface="Cairo"/>
                <a:hlinkClick r:id="rId4"/>
              </a:rPr>
              <a:t>https://uw3vlhc2of5wm.kimi.pro/banks/g12-ihya-1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8750" y="2457450"/>
            <a:ext cx="6286500" cy="247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10000"/>
              </a:lnSpc>
            </a:pPr>
            <a:r>
              <a:rPr sz="1406" b="0">
                <a:solidFill>
                  <a:srgbClr val="333333"/>
                </a:solidFill>
                <a:latin typeface="Cairo"/>
                <a:cs typeface="Cairo"/>
              </a:rPr>
              <a:t>انسخ الرابط في متصفح جهازك اللوحي مباشرة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0" y="2857500"/>
            <a:ext cx="6286500" cy="10287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F9E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9250" y="2971800"/>
            <a:ext cx="59055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875" b="1">
                <a:solidFill>
                  <a:srgbClr val="335693"/>
                </a:solidFill>
                <a:latin typeface="Cairo"/>
                <a:cs typeface="Cairo"/>
              </a:rPr>
              <a:t>🎓 للمراجعة في المنزل: تدرّب فرديًا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3314700"/>
            <a:ext cx="5905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243" b="0">
                <a:solidFill>
                  <a:srgbClr val="333333"/>
                </a:solidFill>
                <a:latin typeface="Cairo"/>
                <a:cs typeface="Cairo"/>
              </a:rPr>
              <a:t>من صفحة اللعبة اضغط «تدرّب فرديًا» — العب وحدك بلا معلم، وتعرّف مستواك بعد كل تدريب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48125"/>
            <a:ext cx="6858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781" b="1">
                <a:solidFill>
                  <a:srgbClr val="C00000"/>
                </a:solidFill>
                <a:latin typeface="Cairo"/>
                <a:cs typeface="Cairo"/>
              </a:rPr>
              <a:t>🏆 أنهِ اللعبة وستعرف المستوى الذي وصلت إليه في هذا الدرس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