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nahw-ahwal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62" b="1">
                <a:solidFill>
                  <a:srgbClr val="335693"/>
                </a:solidFill>
                <a:latin typeface="Cairo"/>
                <a:cs typeface="Cairo"/>
              </a:rPr>
              <a:t>Lesson: Grammar: Mubtada' &amp; Khabar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الكلمة والجملة [النحو]: أحوال المبتدأ والخبر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 — التقديم والتأخير والحذف (ص95-97)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المبتدأ والخبر وصورَهما في الجمل الاسمية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يستنتجَ حالات تقدّم الخبر على المبتدأ وحكمَها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يستنتجَ حالات حذف المبتدأ والخبر وتقديرَهما من السياق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يطبّقَ القاعدة على أمثلة الكتاب (ص95-96)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ممَّ تتركب الجملة الاسمية؟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أنواع الخبر؟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هل الأصل في الجملة الاسمية تقديم المبتدأ أم الخبر؟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25" b="1">
                <a:solidFill>
                  <a:srgbClr val="FFFFFF"/>
                </a:solidFill>
                <a:latin typeface="Cairo"/>
                <a:cs typeface="Cairo"/>
              </a:rPr>
              <a:t>استنتاج (1) — المجموعة (أ): تأمل الأمثلة (ص95)</a:t>
            </a:r>
          </a:p>
        </p:txBody>
      </p:sp>
      <p:pic>
        <p:nvPicPr>
          <p:cNvPr id="5" name="Picture 4" descr="muj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62866"/>
            <a:ext cx="8001000" cy="3636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أسئلة التأمل — المجموعة (أ): أجبْ عما يأتي (ص95)</a:t>
            </a:r>
          </a:p>
        </p:txBody>
      </p:sp>
      <p:pic>
        <p:nvPicPr>
          <p:cNvPr id="5" name="Picture 4" descr="qa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40377"/>
            <a:ext cx="8191500" cy="22340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476375"/>
            <a:ext cx="21240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الأزرق: مبتدأ مرفوع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1943100"/>
            <a:ext cx="21240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الأحمر: خبر مرفوع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2400300"/>
            <a:ext cx="29813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اسم ظاهر — ضمير منفصل — مصدر مؤوَّل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867025"/>
            <a:ext cx="40576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ثلاثة أخبار متعددة (شاعرٌ كاتبٌ مُبدعٌ) — تعدُّد الخبر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استنتاج (2) — المجموعة (ب): تأمل الأمثلة (ص96)</a:t>
            </a:r>
          </a:p>
        </p:txBody>
      </p:sp>
      <p:pic>
        <p:nvPicPr>
          <p:cNvPr id="5" name="Picture 4" descr="muj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17518"/>
            <a:ext cx="8001000" cy="192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أسئلة التأمل — المجموعة (ب): أجبْ عما يأتي (ص96)</a:t>
            </a:r>
          </a:p>
        </p:txBody>
      </p:sp>
      <p:pic>
        <p:nvPicPr>
          <p:cNvPr id="5" name="Picture 4" descr="qa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42542"/>
            <a:ext cx="8191500" cy="2420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504950"/>
            <a:ext cx="4352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المبتدأ (مؤخَّر): آياتٌ / مهامُّ / أقفالُها / عليٌّ — الخبر: شبه جملة مقدَّم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1905000"/>
            <a:ext cx="43910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شبه جملة (جارٌّ ومجرور) في الأمثلة الأربعة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2305050"/>
            <a:ext cx="3943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تقديمُ الخبر على المبتدأ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714625"/>
            <a:ext cx="29051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لا — يبقى كلٌّ منهما في محلّه الإعرابي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3095625"/>
            <a:ext cx="36861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المبتدأ نكرة والخبر شبه جملة (1-3) — والحصر في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استنتاج (3) — المجموعة (ج): تأمل الأمثلة (ص96)</a:t>
            </a:r>
          </a:p>
        </p:txBody>
      </p:sp>
      <p:pic>
        <p:nvPicPr>
          <p:cNvPr id="5" name="Picture 4" descr="muj_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81175"/>
            <a:ext cx="80010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أسئلة التأمل — المجموعة (ج): أجبْ عما يأتي (ص96)</a:t>
            </a:r>
          </a:p>
        </p:txBody>
      </p:sp>
      <p:pic>
        <p:nvPicPr>
          <p:cNvPr id="5" name="Picture 4" descr="qa_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35182"/>
            <a:ext cx="8191500" cy="21968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590675"/>
            <a:ext cx="25336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الخبر فقط — المبتدأ محذوف فيهما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1990725"/>
            <a:ext cx="28670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المبتدأ فقط — الخبر محذوف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2409825"/>
            <a:ext cx="3009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السياق: جواب القسم (1) — المصدر النائب (2) — لولا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809875"/>
            <a:ext cx="29051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لا يؤثّر — لدلالة السياق على المحذوف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(1) — ص97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المبتدأ وصوره — الخبر وأنواعه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 المبتدأ: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اسم مرفوع يقع في أول الجملة الاسمية، ويُخبَر عنه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صور المبتدأ ثلاث: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اسم ظاهر (العلمُ يرفع أهلَه) — ضمير منفصل (إنما أنتَ نذيرٌ) — مصدر مؤوَّل (وأنْ تصوموا خيرٌ لكم)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 الخبر: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الاسم المسند إليه الذي يُتِمُّ معنى الجملة الاسمية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أنواع الخبر: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مفرد (محمدٌ رسولُ الله) — جملة (اسمية أو فعلية) — شبه جملة (جار ومجرور أو ظرف)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(2) — ص97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تعدُّد الخبر — الأصل في الجملة الاسمية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 تعدُّد الخبر: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قد يتعدد الخبر للمبتدأ الواحد: (صديقي شاعرٌ كاتبٌ مُبدعٌ)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 الأصل: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تقدُّم المبتدأ على الخبر، مع مطابقة الخبر للمبتدأ في النوع والعدد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(3) — ص97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٥- يجب تقديم الخبر على المبتدأ في ثلاث حالات: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أ- أن يكون المبتدأ نكرة والخبر شبه جملة: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(في المسجدِ رجالٌ)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ب- أن يشتمل المبتدأ على ضمير يعود على الخبر: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(في الدارِ أهلُها)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ج- أن يكون الخبر محصورًا في المبتدأ: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(ما بيننا إلا الاحترامُ)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(4) — ص97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حذف المبتدأ — حذف الخبر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1">
                <a:solidFill>
                  <a:srgbClr val="333333"/>
                </a:solidFill>
                <a:latin typeface="Cairo"/>
                <a:cs typeface="Cairo"/>
              </a:rPr>
              <a:t>٦- يجوز حذف المبتدأ في موضعين:</a:t>
            </a:r>
          </a:p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333333"/>
                </a:solidFill>
                <a:latin typeface="Cairo"/>
                <a:cs typeface="Cairo"/>
              </a:rPr>
              <a:t>أ- أن يدلَّ عليه </a:t>
            </a:r>
            <a:r>
              <a:rPr sz="1125" b="1">
                <a:solidFill>
                  <a:srgbClr val="333333"/>
                </a:solidFill>
                <a:latin typeface="Cairo"/>
                <a:cs typeface="Cairo"/>
              </a:rPr>
              <a:t>جواب القسم</a:t>
            </a:r>
            <a:r>
              <a:rPr sz="1125" b="0">
                <a:solidFill>
                  <a:srgbClr val="333333"/>
                </a:solidFill>
                <a:latin typeface="Cairo"/>
                <a:cs typeface="Cairo"/>
              </a:rPr>
              <a:t>: (في ذمّتي يمينٌ لأفعلنَّ كذا) — التقدير: في ذمّتي </a:t>
            </a:r>
            <a:r>
              <a:rPr sz="1125" b="1">
                <a:solidFill>
                  <a:srgbClr val="333333"/>
                </a:solidFill>
                <a:latin typeface="Cairo"/>
                <a:cs typeface="Cairo"/>
              </a:rPr>
              <a:t>يمينٌ</a:t>
            </a:r>
          </a:p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333333"/>
                </a:solidFill>
                <a:latin typeface="Cairo"/>
                <a:cs typeface="Cairo"/>
              </a:rPr>
              <a:t>ب- أن يكون خبرُه </a:t>
            </a:r>
            <a:r>
              <a:rPr sz="1125" b="1">
                <a:solidFill>
                  <a:srgbClr val="333333"/>
                </a:solidFill>
                <a:latin typeface="Cairo"/>
                <a:cs typeface="Cairo"/>
              </a:rPr>
              <a:t>مصدرًا نائبًا عن فعله</a:t>
            </a:r>
            <a:r>
              <a:rPr sz="1125" b="0">
                <a:solidFill>
                  <a:srgbClr val="333333"/>
                </a:solidFill>
                <a:latin typeface="Cairo"/>
                <a:cs typeface="Cairo"/>
              </a:rPr>
              <a:t>: (فصبرٌ جميلٌ) — التقدير: فـ</a:t>
            </a:r>
            <a:r>
              <a:rPr sz="1125" b="1">
                <a:solidFill>
                  <a:srgbClr val="333333"/>
                </a:solidFill>
                <a:latin typeface="Cairo"/>
                <a:cs typeface="Cairo"/>
              </a:rPr>
              <a:t>صبري</a:t>
            </a:r>
            <a:r>
              <a:rPr sz="1125" b="0">
                <a:solidFill>
                  <a:srgbClr val="333333"/>
                </a:solidFill>
                <a:latin typeface="Cairo"/>
                <a:cs typeface="Cairo"/>
              </a:rPr>
              <a:t> صبرٌ جميلٌ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٧- يجب حذف الخبر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إذا كان المبتدأ مسبوقًا بـ«لولا»: (لولا الدينُ لهلَك الناسُ) — التقدير: لولا الدينُ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موجودٌ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لا يُخلُّ الحذف بالمعنى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— لأن السياق يدلُّ على المحذوف ويُغنِي عن ذكره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أحدّد أحوال المبتدأ والخبر: تقديمًا وتأخيرًا وحذفًا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نشاط ختامي:</a:t>
            </a:r>
            <a:r>
              <a:rPr sz="1968" b="0">
                <a:solidFill>
                  <a:srgbClr val="333333"/>
                </a:solidFill>
                <a:latin typeface="Cairo"/>
                <a:cs typeface="Cairo"/>
              </a:rPr>
              <a:t> اكتب ثلاث جمل من إنشائك: جملةً وُجِب فيها تقديم الخبر، وجملةً حُذِف مبتدؤها، وجملةً حُذِف خبرُها — وبيّن السبب في كلٍّ منها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https://uw3vlhc2of5wm.kimi.pro/banks/g12-nahw-ahwal-1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