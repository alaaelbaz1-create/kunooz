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nahw-ahwal-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62" b="1">
                <a:solidFill>
                  <a:srgbClr val="335693"/>
                </a:solidFill>
                <a:latin typeface="Cairo"/>
                <a:cs typeface="Cairo"/>
              </a:rPr>
              <a:t>Lesson: Grammar: Mubtada' &amp; Khabar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الكلمة والجملة [النحو]: أحوال المبتدأ والخبر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الثانية — التدريبات (ص98-100)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يحدّدَ المبتدأ والخبر في جمل متنوعة ويكتبَهما في جدول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يميّزَ أحوال المبتدأ والخبر (تقديمًا وتأخيرًا وحذفًا) معلّلًا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يستخرجَ من فقرةٍ أحوالَ الخبر ويبيّنَ أسبابها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يعربَ الكلمات إعرابًا سليمًا مراعيًا التقديمَ والتأخير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متى يجب تقديم الخبر على المبتدأ؟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متى يجوز حذف المبتدأ؟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متى يجب حذف الخبر؟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تدريب1: حدِّد المبتدأ والخبر في الأمثلة الآتية (ص98)</a:t>
            </a:r>
          </a:p>
        </p:txBody>
      </p:sp>
      <p:pic>
        <p:nvPicPr>
          <p:cNvPr id="5" name="Picture 4" descr="t1_amthi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99284"/>
            <a:ext cx="8001000" cy="27639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تدريب1: اكتب المبتدأ والخبر في الجدول (ص98)</a:t>
            </a:r>
          </a:p>
        </p:txBody>
      </p:sp>
      <p:pic>
        <p:nvPicPr>
          <p:cNvPr id="5" name="Picture 4" descr="t1_jadw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38200"/>
            <a:ext cx="8191500" cy="3276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0100" y="1390650"/>
            <a:ext cx="20097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25" b="1">
                <a:solidFill>
                  <a:srgbClr val="C00000"/>
                </a:solidFill>
                <a:latin typeface="Cairo"/>
                <a:cs typeface="Cairo"/>
              </a:rPr>
              <a:t>اللهُ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1390650"/>
            <a:ext cx="28289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25" b="1">
                <a:solidFill>
                  <a:srgbClr val="C00000"/>
                </a:solidFill>
                <a:latin typeface="Cairo"/>
                <a:cs typeface="Cairo"/>
              </a:rPr>
              <a:t>يبسطُ الرزقَ (جملة فعلية)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4825" y="1857375"/>
            <a:ext cx="24574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25" b="1">
                <a:solidFill>
                  <a:srgbClr val="C00000"/>
                </a:solidFill>
                <a:latin typeface="Cairo"/>
                <a:cs typeface="Cairo"/>
              </a:rPr>
              <a:t>عبدٌ مؤمنٌ (مؤخَّر)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1857375"/>
            <a:ext cx="2305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25" b="1">
                <a:solidFill>
                  <a:srgbClr val="C00000"/>
                </a:solidFill>
                <a:latin typeface="Cairo"/>
                <a:cs typeface="Cairo"/>
              </a:rPr>
              <a:t>خيرٌ (مقدَّم)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5375" y="2314575"/>
            <a:ext cx="15621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25" b="1">
                <a:solidFill>
                  <a:srgbClr val="C00000"/>
                </a:solidFill>
                <a:latin typeface="Cairo"/>
                <a:cs typeface="Cairo"/>
              </a:rPr>
              <a:t>محمدٌ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2314575"/>
            <a:ext cx="24574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25" b="1">
                <a:solidFill>
                  <a:srgbClr val="C00000"/>
                </a:solidFill>
                <a:latin typeface="Cairo"/>
                <a:cs typeface="Cairo"/>
              </a:rPr>
              <a:t>رسولٌ (محصور بـإلا)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790825"/>
            <a:ext cx="20097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25" b="1">
                <a:solidFill>
                  <a:srgbClr val="C00000"/>
                </a:solidFill>
                <a:latin typeface="Cairo"/>
                <a:cs typeface="Cairo"/>
              </a:rPr>
              <a:t>المؤمنُ القويُّ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790825"/>
            <a:ext cx="26003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خيرٌ من المؤمن الضعيف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228975"/>
            <a:ext cx="28670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وأحبُّ إلى الله منه — خبرٌ ثانٍ (تعدُّد الخبر)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2425" y="3629025"/>
            <a:ext cx="26765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فرَجٌ — وكلُّ داجيةٍ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629025"/>
            <a:ext cx="28670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للضيقِ — لإشراقٍ (شبه جملة مقدَّمة)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تدريب2: ضع خطًّا تحت الإجابة الصحيحة (ص98)</a:t>
            </a:r>
          </a:p>
        </p:txBody>
      </p:sp>
      <p:pic>
        <p:nvPicPr>
          <p:cNvPr id="5" name="Picture 4" descr="t2_k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09625"/>
            <a:ext cx="8191500" cy="245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4000" y="1704975"/>
            <a:ext cx="2476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0" b="1">
                <a:solidFill>
                  <a:srgbClr val="C00000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1700" y="2209800"/>
            <a:ext cx="2476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0" b="1">
                <a:solidFill>
                  <a:srgbClr val="C00000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752725"/>
            <a:ext cx="2476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0" b="1">
                <a:solidFill>
                  <a:srgbClr val="C00000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75" b="1">
                <a:solidFill>
                  <a:srgbClr val="FFFFFF"/>
                </a:solidFill>
                <a:latin typeface="Cairo"/>
                <a:cs typeface="Cairo"/>
              </a:rPr>
              <a:t>تدريب3: استخرج من الفقرة ما يأتي (ص99)</a:t>
            </a:r>
          </a:p>
        </p:txBody>
      </p:sp>
      <p:pic>
        <p:nvPicPr>
          <p:cNvPr id="5" name="Picture 4" descr="t3_faq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58" y="571500"/>
            <a:ext cx="7567083" cy="3714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00250" y="2543175"/>
            <a:ext cx="58388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ففي الدينِ مخرجٌ وملجأ — الخبر (في الدينِ) شبه جملة مقدَّم، والمبتدأ (مخرجٌ) نكرة مؤخَّر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250" y="3257550"/>
            <a:ext cx="58388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الظلمُ عمَّ مساحاتٍ كبيرةٍ — الخبر جملة فعلية: (عمَّ مساحاتٍ)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250" y="3971925"/>
            <a:ext cx="583882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فلولا الدينِ ما انتصرت أمتنا — الخبر محذوف تقديره (موجودٌ) لسبق المبتدأ بـ(لولا)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تدريب4: اكتب أحوال المبتدأ والخبر في الجدول (ص99)</a:t>
            </a:r>
          </a:p>
        </p:txBody>
      </p:sp>
      <p:pic>
        <p:nvPicPr>
          <p:cNvPr id="5" name="Picture 4" descr="t4_ahw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53496"/>
            <a:ext cx="8191500" cy="27792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52875" y="2143125"/>
            <a:ext cx="8858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بدايةٌ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600" y="2143125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مؤخَّر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3125"/>
            <a:ext cx="8858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لكلِّ حكايةٍ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2143125"/>
            <a:ext cx="9334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مقدَّم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2875" y="2590800"/>
            <a:ext cx="8858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رحمةُ اللهِ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600" y="2590800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مذكور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225" y="2590800"/>
            <a:ext cx="9334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(موجودةٌ)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2590800"/>
            <a:ext cx="9334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محذوف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2875" y="3057525"/>
            <a:ext cx="8858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(يمينٌ)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3057525"/>
            <a:ext cx="8763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محذوف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57525"/>
            <a:ext cx="8858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في ذمّتي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3057525"/>
            <a:ext cx="9334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مقدَّم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تدريب5: أكمل الفراغات الآتية بالمطلوب بين القوسين (ص99)</a:t>
            </a:r>
          </a:p>
        </p:txBody>
      </p:sp>
      <p:pic>
        <p:nvPicPr>
          <p:cNvPr id="5" name="Picture 4" descr="t5_akm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91020"/>
            <a:ext cx="8191500" cy="1265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57975" y="981075"/>
            <a:ext cx="8953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C00000"/>
                </a:solidFill>
                <a:latin typeface="Cairo"/>
                <a:cs typeface="Cairo"/>
              </a:rPr>
              <a:t>هُمْ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390650"/>
            <a:ext cx="14859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في السيارةِ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325" y="1790700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C00000"/>
                </a:solidFill>
                <a:latin typeface="Cairo"/>
                <a:cs typeface="Cairo"/>
              </a:rPr>
              <a:t>الخبر المحذوف تقديره: (موجودةٌ)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تدريب6: اكتب مثالًا في جملة تامة مما يأتي (ص99) — نماذج</a:t>
            </a:r>
          </a:p>
        </p:txBody>
      </p:sp>
      <p:pic>
        <p:nvPicPr>
          <p:cNvPr id="5" name="Picture 4" descr="t6_mith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792307"/>
            <a:ext cx="8191500" cy="26063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1343025"/>
            <a:ext cx="700087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C00000"/>
                </a:solidFill>
                <a:latin typeface="Cairo"/>
                <a:cs typeface="Cairo"/>
              </a:rPr>
              <a:t>نموذج: في مدرستِنا مكتبةٌ عامرةٌ — الخبر (في مدرستِنا) شبه جملة مقدَّم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124075"/>
            <a:ext cx="700087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C00000"/>
                </a:solidFill>
                <a:latin typeface="Cairo"/>
                <a:cs typeface="Cairo"/>
              </a:rPr>
              <a:t>نموذج: فصبرٌ جميلٌ — المبتدأ محذوف تقديره (صبري)، والخبر مصدر نائب عن فعله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2895600"/>
            <a:ext cx="700087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25" b="1">
                <a:solidFill>
                  <a:srgbClr val="C00000"/>
                </a:solidFill>
                <a:latin typeface="Cairo"/>
                <a:cs typeface="Cairo"/>
              </a:rPr>
              <a:t>نموذج: لولا المعلمُ لضاع العلمُ — الخبر محذوف وجوبًا تقديره (موجودٌ)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تدريب7: أعرب ما تحته خط فيما يأتي (ص100)</a:t>
            </a:r>
          </a:p>
        </p:txBody>
      </p:sp>
      <p:pic>
        <p:nvPicPr>
          <p:cNvPr id="5" name="Picture 4" descr="t7_i3r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8" y="571500"/>
            <a:ext cx="7720263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190750"/>
            <a:ext cx="53244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اللام: حرف جرّ — لفظ الجلالة: اسم مجرور باللام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52700"/>
            <a:ext cx="53244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وشبه الجملة (لله) في محل رفع خبرٍ مقدَّم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981325"/>
            <a:ext cx="53244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إلى: حرف جرّ — الهاء: ضمير متصل في محل جرّ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352800"/>
            <a:ext cx="53244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وشبه الجملة (إليه) في محل رفع خبرٍ مقدَّم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781425"/>
            <a:ext cx="53244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31" b="1">
                <a:solidFill>
                  <a:srgbClr val="C00000"/>
                </a:solidFill>
                <a:latin typeface="Cairo"/>
                <a:cs typeface="Cairo"/>
              </a:rPr>
              <a:t>مرجعُ: مبتدأ مؤخَّر مرفوع وعلامة رفعه الضمة الظاهرة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أتقن أحوال المبتدأ والخبر تطبيقًا وإعرابًا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مسابقة الفريقين:</a:t>
            </a:r>
            <a:r>
              <a:rPr sz="1968" b="0">
                <a:solidFill>
                  <a:srgbClr val="333333"/>
                </a:solidFill>
                <a:latin typeface="Cairo"/>
                <a:cs typeface="Cairo"/>
              </a:rPr>
              <a:t> يكتب كلُّ فريق جملةً من إنشائه فيها خبرٌ مقدَّم وجوبًا أو ركن محذوف — وعلى الفريق الآخر اكتشاف الحالة وبيان سببها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https://uw3vlhc2of5wm.kimi.pro/banks/g12-nahw-ahwal-2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