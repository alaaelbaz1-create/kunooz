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tafsiri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12" b="1">
                <a:solidFill>
                  <a:srgbClr val="335693"/>
                </a:solidFill>
                <a:latin typeface="Cairo"/>
                <a:cs typeface="Cairo"/>
              </a:rPr>
              <a:t>Lesson: Writing: Explanatory Essay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2862" b="1">
                <a:solidFill>
                  <a:srgbClr val="C00000"/>
                </a:solidFill>
                <a:latin typeface="Cairo"/>
                <a:cs typeface="Cairo"/>
              </a:rPr>
              <a:t>الكتابة: المقال التفسيري — «لماذا تُحيي الأمم تراثها؟»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الأولى — الشرح والتخطيط (ص101-102)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يتعرّفَ مكانة المقدمة في المقال التفسيري وأنواعَها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336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907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يكتبَ مقدمةً مناسبةً لموضوعٍ من كتابه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67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124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يستعرضَ خطوات كتابة المقال التفسيري: قبل الكتابة وأثناءها وبعدها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4000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57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4-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يضعَ مخططًا لمقاله «لماذا تُحيي الأمم تراثها؟»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ممَّ يتكون المقال؟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وظيفة المقدمة في أي مقال؟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لماذا تهتم الأمم بتراثها برأيك؟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نشاط (1): اقرأ وتأمل — المقدمة في المقال التفسيري (ص101)</a:t>
            </a:r>
          </a:p>
        </p:txBody>
      </p:sp>
      <p:pic>
        <p:nvPicPr>
          <p:cNvPr id="5" name="Picture 4" descr="nash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72070"/>
            <a:ext cx="8001000" cy="18184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إضاءة — ص101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من أنواع المقدمات: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١- المقدمة الوصفية: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تركز على وصف الوقائع والأحداث، ويُزايَد استخدامُها في الظواهر والحوادث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٢- المقدمة الحوارية: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تعتمد على خلق نوع من الصراع والحوار بين أطراف الخبر، مثل: مواطن ومسؤول، أو حوار في وسيلة إعلام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٣- المقدمة الاقتباسية: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تعتمد على اقتباس معين: مثلٍ أو حكمة مأثورة، أو اقتباس جملة من تصريح مسؤول مصدر الخبر أو دراسة معينة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٤- مقدمة الغرابة: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تشتمل حدثًا نادرًا أو غريبًا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75" b="1">
                <a:solidFill>
                  <a:srgbClr val="FFFFFF"/>
                </a:solidFill>
                <a:latin typeface="Cairo"/>
                <a:cs typeface="Cairo"/>
              </a:rPr>
              <a:t>نشاط (1): اكتب مقدمة مناسبة للموضوع الآتي (ص101)</a:t>
            </a:r>
          </a:p>
        </p:txBody>
      </p:sp>
      <p:pic>
        <p:nvPicPr>
          <p:cNvPr id="5" name="Picture 4" descr="nasha1_ikt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32" y="628650"/>
            <a:ext cx="7432137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0">
                <a:solidFill>
                  <a:srgbClr val="333333"/>
                </a:solidFill>
                <a:latin typeface="Cairo"/>
                <a:cs typeface="Cairo"/>
              </a:rPr>
              <a:t>اكتب مقدمتك في دفترك مستعينًا بأحد الأنواع الأربعة — ثم شاركها مع زملائك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نشاط (2): مهمتنا الكبرى — مقال «لماذا تُحيي الأمم تراثها؟» (ص101)</a:t>
            </a:r>
          </a:p>
        </p:txBody>
      </p:sp>
      <p:pic>
        <p:nvPicPr>
          <p:cNvPr id="5" name="Picture 4" descr="nash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81125"/>
            <a:ext cx="80010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خطوات الكتابة — أولًا: قبل الكتابة (ص102)</a:t>
            </a:r>
          </a:p>
        </p:txBody>
      </p:sp>
      <p:pic>
        <p:nvPicPr>
          <p:cNvPr id="5" name="Picture 4" descr="kh_qa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53886"/>
            <a:ext cx="8001000" cy="18547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خطوات الكتابة — ثانيًا: أثناء الكتابة (1) (ص102)</a:t>
            </a:r>
          </a:p>
        </p:txBody>
      </p:sp>
      <p:pic>
        <p:nvPicPr>
          <p:cNvPr id="5" name="Picture 4" descr="kh_athn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871970"/>
            <a:ext cx="8001000" cy="34186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075" b="1">
                <a:solidFill>
                  <a:srgbClr val="FFFFFF"/>
                </a:solidFill>
                <a:latin typeface="Cairo"/>
                <a:cs typeface="Cairo"/>
              </a:rPr>
              <a:t>خطوات الكتابة — ثانيًا: أثناء الكتابة (2) (ص102)</a:t>
            </a:r>
          </a:p>
        </p:txBody>
      </p:sp>
      <p:pic>
        <p:nvPicPr>
          <p:cNvPr id="5" name="Picture 4" descr="kh_athn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10270"/>
            <a:ext cx="8001000" cy="15420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75" b="1">
                <a:solidFill>
                  <a:srgbClr val="FFFFFF"/>
                </a:solidFill>
                <a:latin typeface="Cairo"/>
                <a:cs typeface="Cairo"/>
              </a:rPr>
              <a:t>خطوات الكتابة — ثالثًا: بعد الكتابة (ص102)</a:t>
            </a:r>
          </a:p>
        </p:txBody>
      </p:sp>
      <p:pic>
        <p:nvPicPr>
          <p:cNvPr id="5" name="Picture 4" descr="kh_ba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17518"/>
            <a:ext cx="8001000" cy="19275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أخطط لمقالي الآن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خريطة مقالي — أملؤها في دفتري: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العنوان: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«لماذا تُحيي الأمم تراثها؟» — سؤال يستدعي تفسير الأسباب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المقدمة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(فقرة أو فقرتان): أعرّف بالموضوع وخطوطه العريضة — وأختار نوعها: وصفية / حوارية / اقتباسية / غرابة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العرض: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الأسباب التي تدفع الأمم إلى إحياء تراثها — سببًا فسببًا، مع أمثلة من الواقع الوطني والقومي، وتوظيف أدوات الربط والتوكيد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الخاتمة: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خلاصة تؤكد قيمة التراث، ودعوة إلى الحفاظ عليه والعمل على إحيائه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نشاط إثرائي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للمتميزين — في المنزل: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اقرأ مقالًا تفسيريًّا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في صحيفة أو مجلة، وحدِّد فيه: نوعَ المقدمة، وأدواتِ الربط التي وظّفها الكاتب، والأمثلةَ التي ضربها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أحضر المقال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معك إلى الحصة القادمة، وشارك زملاءك ما استنتجتَه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أضع مخططًا كاملًا لمقالي التفسيري مستعدًّا لكتابته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خرِّج بخطتك:</a:t>
            </a:r>
            <a:r>
              <a:rPr sz="1968" b="0">
                <a:solidFill>
                  <a:srgbClr val="333333"/>
                </a:solidFill>
                <a:latin typeface="Cairo"/>
                <a:cs typeface="Cairo"/>
              </a:rPr>
              <a:t> أكمل خريطة مقالك في دفترك، وراجع خطوات الكتابة ص102 — فالحصة القادمة نكتب المسودة 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https://uw3vlhc2of5wm.kimi.pro/banks/g12-tafsiri-1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