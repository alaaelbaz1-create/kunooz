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tafsiri-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12" b="1">
                <a:solidFill>
                  <a:srgbClr val="335693"/>
                </a:solidFill>
                <a:latin typeface="Cairo"/>
                <a:cs typeface="Cairo"/>
              </a:rPr>
              <a:t>Lesson: Writing: Explanatory Essay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862" b="1">
                <a:solidFill>
                  <a:srgbClr val="C00000"/>
                </a:solidFill>
                <a:latin typeface="Cairo"/>
                <a:cs typeface="Cairo"/>
              </a:rPr>
              <a:t>الكتابة: المقال التفسيري — «لماذا تُحيي الأمم تراثها؟»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الثانية — أكتب مقالي: المسودة (ص101-102)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الثانية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يكتبَ مسودة مقاله التفسيري وفق المخطط الذي أعدّه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336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907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يوظّفَ أدوات الربط والتوكيد والتشبيه والتصوير في مقاله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67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124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يستشهدَ بأمثلة من الواقع الوطني والقومي على إحياء التراث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4000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57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4-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يلتزمَ سلامة اللغة وعلامات الترقيم المناسبة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نوعين من أنواع المقدمات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أداتين تربطان السبب بالنتيجة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أول خطوتين قبل الشروع في الكتابة؟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أخرج خطتك — دقيقتان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راجع خريطة مقالك من الحصة السابقة: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العنوان: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«لماذا تُحيي الأمم تراثها؟»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المقدمة: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هل اخترتَ نوعها؟ (وصفية / حوارية / اقتباسية / غرابة)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العرض: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هل رتّبتَ أسبابك وأمثلتك من الواقع الوطني والقومي؟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الخاتمة: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هل حدّدتَ خلاصتك ودعوتك؟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مساعدة للبداية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بدايات جاهزة تستعين بها إن شئت: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مقدمة وصفية: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«تقف الأممُ الحيّةُ أمام تراثها وقفةَ اعتزازٍ وتقدير؛ فهو ذاكرتُها التي لا تنسى، وهويتُها التي لا تذوب...»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مقدمة اقتباسية: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«قيل قديمًا: مَن لا ماضيَ له لا حاضرَ له ولا مستقبلَ — وما التراثُ إلا ذلك الماضي الحيُّ في وجدان الأمم...»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مقدمة حوارية: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«قد يسأل سائلٌ: وما جدوى التراث في عصرٍ تتسابق فيه الأممُ نحو المستقبل؟ والجوابُ أنّ الأممَ التي أضاعت تراثَها أضاعت طريقَها...»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روابط لغوية — ص102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وظِّف أدوات الربط المناسبة: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تربط السبب بالنتيجة: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لأنّ — لذلك — لأسبابٍ عديدةٍ — بسببها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للتفسير: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أي — أعني ...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وللترتيب والتتابع: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أولًا — ثانيًا — بدايةً — وأخيرًا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للتفصيل في تقديم الفكر: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أمّا — أو — أم — لكن — إلا أنّ — غير أنّ — في حين أنّ — ومن ناحيةٍ أخرى — إذا — بالنتيجة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للتوكيد: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إنّ — أنّ — إنّما — قد ...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وأغنِ معناك: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بالتشبيه والتصوير والوصف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قائمة التحقق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تأكد أثناء كتابتك من: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☐ مقدمة من نوع محدد تتضمن الخطوط العريضة للموضوع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781175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1838325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☐ أسباب واضحة مرتبة تفسّر إحياء الأمم لتراثها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400300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2457450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☐ أمثلة من الواقع الوطني والقومي تدعم كل فكرة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019425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3076575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☐ أدوات ربط وتوكيد موظفة توظيفًا صحيحًا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638550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3695700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☐ خاتمة خلاصة تتضمن دعوة للحفاظ على التراث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50" y="4257675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5375" y="4314825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☐ سلامة اللغة من الأخطاء الإملائية والنحوية مع علامات الترقيم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المسار الأساسي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اكتب مقالك فقرةً فقرة — تجيب عن الأسئلة: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الفقرة ١ — المقدمة: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التراث؟ وما مكانته عند الأمم الحيّة؟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الفقرة ٢ — السبب الأول: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لماذا تُحيي الأمم تراثها؟ (الهوية والاعتزاز) — وما المثال من واقعنا؟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25" b="1">
                <a:solidFill>
                  <a:srgbClr val="333333"/>
                </a:solidFill>
                <a:latin typeface="Cairo"/>
                <a:cs typeface="Cairo"/>
              </a:rPr>
              <a:t>الفقرة ٣ — السبب الثاني:</a:t>
            </a:r>
            <a:r>
              <a:rPr sz="1525" b="0">
                <a:solidFill>
                  <a:srgbClr val="333333"/>
                </a:solidFill>
                <a:latin typeface="Cairo"/>
                <a:cs typeface="Cairo"/>
              </a:rPr>
              <a:t> وماذا أيضًا؟ (الاستفادة من علوم التراث ومعارفه) — وما المثال؟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الفقرة ٤ — الخاتمة: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خلاصة القول؟ وإلامَ تدعو؟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مسار المتميز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تحدٍّ إضافي لمن أراد التفوق: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استهلّ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بمقدمة غرابة أو حوارية تشدّ القارئ من أول سطر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وسّع العرض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إلى ثلاثة أسباب مرتبة بأدوات الترتيب (أولًا، ثانيًا، وأخيرًا)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25" b="1">
                <a:solidFill>
                  <a:srgbClr val="333333"/>
                </a:solidFill>
                <a:latin typeface="Cairo"/>
                <a:cs typeface="Cairo"/>
              </a:rPr>
              <a:t>ادعم</a:t>
            </a:r>
            <a:r>
              <a:rPr sz="1825" b="0">
                <a:solidFill>
                  <a:srgbClr val="333333"/>
                </a:solidFill>
                <a:latin typeface="Cairo"/>
                <a:cs typeface="Cairo"/>
              </a:rPr>
              <a:t> كلَّ سبب بمثالين: أحدهما من الواقع الوطني، والآخر من الواقع القومي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زيّن مقالك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بتشبيهٍ أو صورةٍ فنية، ووظِّف أدوات التوكيد (إنّ، إنّما، قد)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625" b="1">
                <a:solidFill>
                  <a:srgbClr val="FFFFFF"/>
                </a:solidFill>
                <a:latin typeface="Cairo"/>
                <a:cs typeface="Cairo"/>
              </a:rPr>
              <a:t>حان وقت الكتابة — ٢٥ دقيقة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اكتب مسودتك الآن في دفترك: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اكتب وفق خطتك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التي وضعتَها لعرض الأفكار والحقائق (ص102)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استعمل الألفاظ السهلة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المعبّرة عن الفكرة بجلاء ووضوح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لا تتوقف للتصحيح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— اكتب أولًا، فالتنقيح والتهذيب في الحصة القادمة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المعلم يتجول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ويساعد من يحتاج — ارفع يدك عند الحاجة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أنجز مسودة مقالي التفسيري كاملة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شارك:</a:t>
            </a:r>
            <a:r>
              <a:rPr sz="1968" b="0">
                <a:solidFill>
                  <a:srgbClr val="333333"/>
                </a:solidFill>
                <a:latin typeface="Cairo"/>
                <a:cs typeface="Cairo"/>
              </a:rPr>
              <a:t> اقرأ أجمل مقدمة أو جملة كتبتَها على زملائك — وأحضر مسودتك معك إلى الحصة القادمة للتغذية الراجعة والتحرير النهائي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https://uw3vlhc2of5wm.kimi.pro/banks/g12-tafsiri-2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