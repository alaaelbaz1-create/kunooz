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tafsiri-3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12" b="1">
                <a:solidFill>
                  <a:srgbClr val="335693"/>
                </a:solidFill>
                <a:latin typeface="Cairo"/>
                <a:cs typeface="Cairo"/>
              </a:rPr>
              <a:t>Lesson: Writing: Explanatory Essay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862" b="1">
                <a:solidFill>
                  <a:srgbClr val="C00000"/>
                </a:solidFill>
                <a:latin typeface="Cairo"/>
                <a:cs typeface="Cairo"/>
              </a:rPr>
              <a:t>الكتابة: المقال التفسيري — «لماذا تُحيي الأمم تراثها؟»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الثالثة — التغذية الراجعة والتحرير النهائي (ص102-103)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الوحدة الثانية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يعرضَ مسودته بصوت واضح وقراءة معبّرة عن الموضوع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336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907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يقوّمَ كتابته ذاتيًّا وفق صحيفة تقويم الكتابة (ص103)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67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124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يتبادلَ التغذية الراجعة مع زملائه ويدوّنَ ملاحظاتهم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4000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57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4-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يحرّرَ النسخة النهائية من مقاله منقّحًا مهذّبًا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أول خطوة بعد الانتهاء من الكتابة؟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على مَن نعرض ما كتبناه بعد مراجعته؟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لماذا ندوّن ملاحظات المعلم والزملاء؟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25" b="1">
                <a:solidFill>
                  <a:srgbClr val="FFFFFF"/>
                </a:solidFill>
                <a:latin typeface="Cairo"/>
                <a:cs typeface="Cairo"/>
              </a:rPr>
              <a:t>نعرض مقالاتنا — ١٠ دقائق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اعرض ما كتبتَه على معلمك وزملائك (ص102):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اقرأ مسودتك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بصوت واضح، وقراءة معبّرة عن الموضوع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أنصت لزملائك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عندما يعرضون — ففي الإنصات تعلّمٌ وتهذيب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دوّن الملاحظات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التي تسمعها من معلمك وزملائك في دفترك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25" b="1">
                <a:solidFill>
                  <a:srgbClr val="FFFFFF"/>
                </a:solidFill>
                <a:latin typeface="Cairo"/>
                <a:cs typeface="Cairo"/>
              </a:rPr>
              <a:t>صحيفة تقويم الكتابة — التقويم الذاتي (ص103)</a:t>
            </a:r>
          </a:p>
        </p:txBody>
      </p:sp>
      <p:pic>
        <p:nvPicPr>
          <p:cNvPr id="5" name="Picture 4" descr="sahii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818" y="628650"/>
            <a:ext cx="5680364" cy="3905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كيف تفعّل الصحيفة؟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خطوات التقويم الذاتي: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اقرأ كل عنصر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من عناصر التقويم السبعة، وقارنه بمقالك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ضع علامة (✓)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عند مستوى التحقق الذي تراه مناسبًا (1-5)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مستوى 4-5: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عنصر متقَن — واصل ...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ومستوى 3 فأقل: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أعد صياغته قبل التحرير النهائي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أخطاء شائعة وصوابها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انتبه وأنت تنقّح: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الخطأ: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مقدمة طويلة مسهبة ...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الصواب: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فقرة أو فقرتان تتضمنان الخطوط العريضة فقط (ص101)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25" b="1">
                <a:solidFill>
                  <a:srgbClr val="333333"/>
                </a:solidFill>
                <a:latin typeface="Cairo"/>
                <a:cs typeface="Cairo"/>
              </a:rPr>
              <a:t>الخطأ:</a:t>
            </a:r>
            <a:r>
              <a:rPr sz="1725" b="0">
                <a:solidFill>
                  <a:srgbClr val="333333"/>
                </a:solidFill>
                <a:latin typeface="Cairo"/>
                <a:cs typeface="Cairo"/>
              </a:rPr>
              <a:t> أسباب متراكمة بلا روابط ... </a:t>
            </a:r>
            <a:r>
              <a:rPr sz="1725" b="1">
                <a:solidFill>
                  <a:srgbClr val="333333"/>
                </a:solidFill>
                <a:latin typeface="Cairo"/>
                <a:cs typeface="Cairo"/>
              </a:rPr>
              <a:t>الصواب:</a:t>
            </a:r>
            <a:r>
              <a:rPr sz="1725" b="0">
                <a:solidFill>
                  <a:srgbClr val="333333"/>
                </a:solidFill>
                <a:latin typeface="Cairo"/>
                <a:cs typeface="Cairo"/>
              </a:rPr>
              <a:t> وظِّف أدوات الربط (لأنّ، لذلك، أولًا، ثانيًا...)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الخطأ: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أفكار بلا أمثلة ...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الصواب: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ادعم كل سبب بمثال من الواقع الوطني أو القومي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نتبادل وننصح — ٨ دقائق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بطاقة ملاحظات لزميلي: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تبادل المسودات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مع زميلك، واقرأ مسودته قراءة متأنية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اكتب في البطاقة: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أجمل ما في المقال (مقدمته؟ أمثلته؟ أسلوبه؟)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واكتب نصيحة واحدة: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ما الذي لو حسّنه لصار المقال أتمّ؟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أعِد المسودة والبطاقة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لصاحبها، ودوِّن ما ينفعك من الملاحظات (ص102)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25" b="1">
                <a:solidFill>
                  <a:srgbClr val="FFFFFF"/>
                </a:solidFill>
                <a:latin typeface="Cairo"/>
                <a:cs typeface="Cairo"/>
              </a:rPr>
              <a:t>النسخة النهائية — ١٥ دقيقة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حرّر مقالك بأجمل خطّك: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انقّح وهذّب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مستفيدًا من ملاحظات معلمك وزملائك (ص102)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أعد صياغة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ما كان دون المستوى في صحيفة التقويم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تأكد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من سلامة الإملاء والنحو وعلامات الترقيم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سلِّم نسختك النهائية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لمعلمك — فمقالك يستحق أن يُقرأ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أن أسلِّم مقالي التفسيري في نسخته النهائية المنقّحة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احتفال الكتّاب:</a:t>
            </a:r>
            <a:r>
              <a:rPr sz="1968" b="0">
                <a:solidFill>
                  <a:srgbClr val="333333"/>
                </a:solidFill>
                <a:latin typeface="Cairo"/>
                <a:cs typeface="Cairo"/>
              </a:rPr>
              <a:t> نختار أجمل المقالات لعرضها في لوحة الصف ومشاركتها مع أولياء الأمور — أحسنتم يا كتّاب المستقبل!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https://uw3vlhc2of5wm.kimi.pro/banks/g12-tafsiri-3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